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Cabinet Grotesk Bold" charset="1" panose="00000000000000000000"/>
      <p:regular r:id="rId24"/>
    </p:embeddedFont>
    <p:embeddedFont>
      <p:font typeface="Inter Bold" charset="1" panose="02000503000000020004"/>
      <p:regular r:id="rId25"/>
    </p:embeddedFont>
    <p:embeddedFont>
      <p:font typeface="Inter" charset="1" panose="02000503000000020004"/>
      <p:regular r:id="rId26"/>
    </p:embeddedFont>
    <p:embeddedFont>
      <p:font typeface="Cabinet Grotesk"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3742660" cy="973092"/>
          </a:xfrm>
          <a:custGeom>
            <a:avLst/>
            <a:gdLst/>
            <a:ahLst/>
            <a:cxnLst/>
            <a:rect r="r" b="b" t="t" l="l"/>
            <a:pathLst>
              <a:path h="973092" w="3742660">
                <a:moveTo>
                  <a:pt x="0" y="0"/>
                </a:moveTo>
                <a:lnTo>
                  <a:pt x="3742660" y="0"/>
                </a:lnTo>
                <a:lnTo>
                  <a:pt x="3742660" y="973092"/>
                </a:lnTo>
                <a:lnTo>
                  <a:pt x="0" y="973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955732"/>
            <a:ext cx="7702972" cy="1727835"/>
          </a:xfrm>
          <a:prstGeom prst="rect">
            <a:avLst/>
          </a:prstGeom>
        </p:spPr>
        <p:txBody>
          <a:bodyPr anchor="t" rtlCol="false" tIns="0" lIns="0" bIns="0" rIns="0">
            <a:spAutoFit/>
          </a:bodyPr>
          <a:lstStyle/>
          <a:p>
            <a:pPr algn="l">
              <a:lnSpc>
                <a:spcPts val="13439"/>
              </a:lnSpc>
            </a:pPr>
            <a:r>
              <a:rPr lang="en-US" sz="9600" b="true">
                <a:solidFill>
                  <a:srgbClr val="000000"/>
                </a:solidFill>
                <a:latin typeface="Cabinet Grotesk Bold"/>
                <a:ea typeface="Cabinet Grotesk Bold"/>
                <a:cs typeface="Cabinet Grotesk Bold"/>
                <a:sym typeface="Cabinet Grotesk Bold"/>
              </a:rPr>
              <a:t>Collider Liquid</a:t>
            </a:r>
          </a:p>
        </p:txBody>
      </p:sp>
      <p:sp>
        <p:nvSpPr>
          <p:cNvPr name="TextBox 4" id="4"/>
          <p:cNvSpPr txBox="true"/>
          <p:nvPr/>
        </p:nvSpPr>
        <p:spPr>
          <a:xfrm rot="0">
            <a:off x="1028700" y="5763056"/>
            <a:ext cx="9492928" cy="622935"/>
          </a:xfrm>
          <a:prstGeom prst="rect">
            <a:avLst/>
          </a:prstGeom>
        </p:spPr>
        <p:txBody>
          <a:bodyPr anchor="t" rtlCol="false" tIns="0" lIns="0" bIns="0" rIns="0">
            <a:spAutoFit/>
          </a:bodyPr>
          <a:lstStyle/>
          <a:p>
            <a:pPr algn="l">
              <a:lnSpc>
                <a:spcPts val="5040"/>
              </a:lnSpc>
            </a:pPr>
            <a:r>
              <a:rPr lang="en-US" sz="3600" b="true">
                <a:solidFill>
                  <a:srgbClr val="96958F"/>
                </a:solidFill>
                <a:latin typeface="Inter Bold"/>
                <a:ea typeface="Inter Bold"/>
                <a:cs typeface="Inter Bold"/>
                <a:sym typeface="Inter Bold"/>
              </a:rPr>
              <a:t>Venture returns meets hedge fund liquidity</a:t>
            </a:r>
          </a:p>
        </p:txBody>
      </p:sp>
      <p:grpSp>
        <p:nvGrpSpPr>
          <p:cNvPr name="Group 5" id="5"/>
          <p:cNvGrpSpPr/>
          <p:nvPr/>
        </p:nvGrpSpPr>
        <p:grpSpPr>
          <a:xfrm rot="-10800000">
            <a:off x="13559057" y="8893768"/>
            <a:ext cx="6516053" cy="6497003"/>
            <a:chOff x="0" y="0"/>
            <a:chExt cx="8688070" cy="8662670"/>
          </a:xfrm>
        </p:grpSpPr>
        <p:sp>
          <p:nvSpPr>
            <p:cNvPr name="AutoShape 6" id="6"/>
            <p:cNvSpPr/>
            <p:nvPr/>
          </p:nvSpPr>
          <p:spPr>
            <a:xfrm>
              <a:off x="0" y="8605520"/>
              <a:ext cx="8656320" cy="0"/>
            </a:xfrm>
            <a:prstGeom prst="line">
              <a:avLst/>
            </a:prstGeom>
            <a:ln cap="flat" w="114300">
              <a:solidFill>
                <a:srgbClr val="5885D8"/>
              </a:solidFill>
              <a:prstDash val="solid"/>
              <a:headEnd type="none" len="sm" w="sm"/>
              <a:tailEnd type="none" len="sm" w="sm"/>
            </a:ln>
          </p:spPr>
        </p:sp>
        <p:sp>
          <p:nvSpPr>
            <p:cNvPr name="AutoShape 7" id="7"/>
            <p:cNvSpPr/>
            <p:nvPr/>
          </p:nvSpPr>
          <p:spPr>
            <a:xfrm flipV="true">
              <a:off x="8630920" y="0"/>
              <a:ext cx="0" cy="8656320"/>
            </a:xfrm>
            <a:prstGeom prst="line">
              <a:avLst/>
            </a:prstGeom>
            <a:ln cap="flat" w="114300">
              <a:solidFill>
                <a:srgbClr val="5885D8"/>
              </a:solidFill>
              <a:prstDash val="solid"/>
              <a:headEnd type="none" len="sm" w="sm"/>
              <a:tailEnd type="none" len="sm" w="sm"/>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TextBox 2" id="2"/>
          <p:cNvSpPr txBox="true"/>
          <p:nvPr/>
        </p:nvSpPr>
        <p:spPr>
          <a:xfrm rot="0">
            <a:off x="1028700" y="2054225"/>
            <a:ext cx="16230600" cy="7204075"/>
          </a:xfrm>
          <a:prstGeom prst="rect">
            <a:avLst/>
          </a:prstGeom>
        </p:spPr>
        <p:txBody>
          <a:bodyPr anchor="t" rtlCol="false" tIns="0" lIns="0" bIns="0" rIns="0">
            <a:spAutoFit/>
          </a:bodyPr>
          <a:lstStyle/>
          <a:p>
            <a:pPr algn="just">
              <a:lnSpc>
                <a:spcPts val="1400"/>
              </a:lnSpc>
            </a:pPr>
            <a:r>
              <a:rPr lang="en-US" sz="1000">
                <a:solidFill>
                  <a:srgbClr val="000000"/>
                </a:solidFill>
                <a:latin typeface="Inter"/>
                <a:ea typeface="Inter"/>
                <a:cs typeface="Inter"/>
                <a:sym typeface="Inter"/>
              </a:rPr>
              <a:t>This introductory presentation has been prepared to provide prospective investors with the opportunity to determine their preliminary interest in receiving more information on Collider Ventures III, L.P. (the "Fund") and does not constitute an offer to sell, or a solicitation of an offer to buy, interest in the Fund, or any product or service, and is for informational purposes only and may not be used or relied upon in evaluating the merits of investing in the Fund. An offering of interests in the Fund will be made only by means of a limited partnership agreement and subscription documents (the "Fund Documents") and in such jurisdictions where permitted by (and in compliance with) law.</a:t>
            </a:r>
          </a:p>
          <a:p>
            <a:pPr algn="just">
              <a:lnSpc>
                <a:spcPts val="1400"/>
              </a:lnSpc>
            </a:pPr>
          </a:p>
          <a:p>
            <a:pPr algn="just">
              <a:lnSpc>
                <a:spcPts val="1400"/>
              </a:lnSpc>
            </a:pPr>
            <a:r>
              <a:rPr lang="en-US" sz="1000">
                <a:solidFill>
                  <a:srgbClr val="000000"/>
                </a:solidFill>
                <a:latin typeface="Inter"/>
                <a:ea typeface="Inter"/>
                <a:cs typeface="Inter"/>
                <a:sym typeface="Inter"/>
              </a:rPr>
              <a:t>The information contained herein is unverified and prospective investors should take appropriate measures to verify the same. The information herein is qualified in its entirety by the Fund Documents the no offering of interests in the Fund may be made by any literature, advertising, or document in whatever form other than the Fund Documents, which may qualify, and materially differ from, the information and opinions contained herein. Moreover this introductory presentation does not purport to contain all of the information that may be required to evaluate an investment in the Fund. The Fund Documents contain important information regarding the Fund's investment objectives, risks, fees, and other matters of interest and should be carefully read prior to any investment in the Fund. There are no assurances that the stated investment objectives or targeted returns of the Fund will be met. An investor could lose all or substantially all of his or her investment.</a:t>
            </a:r>
          </a:p>
          <a:p>
            <a:pPr algn="just">
              <a:lnSpc>
                <a:spcPts val="1400"/>
              </a:lnSpc>
            </a:pPr>
          </a:p>
          <a:p>
            <a:pPr algn="just">
              <a:lnSpc>
                <a:spcPts val="1400"/>
              </a:lnSpc>
            </a:pPr>
            <a:r>
              <a:rPr lang="en-US" sz="1000">
                <a:solidFill>
                  <a:srgbClr val="000000"/>
                </a:solidFill>
                <a:latin typeface="Inter"/>
                <a:ea typeface="Inter"/>
                <a:cs typeface="Inter"/>
                <a:sym typeface="Inter"/>
              </a:rPr>
              <a:t>The purchase of interests of the Fund is suitable only for sophisticated investors for whom an investment in the Fund does not constitute a complete investment program and who fully understand and are willing to assume the risks involved in the Fund's investment program. The interests described herein will not be registered under the laws of any jurisdiction including the Israeli Securities Law of 1968 and the United States Securities Act of 1933 or the United States Investment Company Act </a:t>
            </a:r>
            <a:r>
              <a:rPr lang="en-US" sz="1000">
                <a:solidFill>
                  <a:srgbClr val="000000"/>
                </a:solidFill>
                <a:latin typeface="Inter"/>
                <a:ea typeface="Inter"/>
                <a:cs typeface="Inter"/>
                <a:sym typeface="Inter"/>
              </a:rPr>
              <a:t>of 1940 (the “Acts”), the laws of any state of the United States or the laws of any other jurisdiction and may not be offered or sold without compliance to applicable securities laws. Investors in the Fund will not benefit from the rules and regulations made under the Acts for the protection of investors. This document is confidential and may not be reproduced or disclosed, distributed without the prior written consent of the general partner of the Fund. This presentation is intended for the person or entity to which it has been delivered.</a:t>
            </a:r>
          </a:p>
          <a:p>
            <a:pPr algn="just">
              <a:lnSpc>
                <a:spcPts val="1400"/>
              </a:lnSpc>
            </a:pPr>
          </a:p>
          <a:p>
            <a:pPr algn="just">
              <a:lnSpc>
                <a:spcPts val="1400"/>
              </a:lnSpc>
            </a:pPr>
            <a:r>
              <a:rPr lang="en-US" sz="1000">
                <a:solidFill>
                  <a:srgbClr val="000000"/>
                </a:solidFill>
                <a:latin typeface="Inter"/>
                <a:ea typeface="Inter"/>
                <a:cs typeface="Inter"/>
                <a:sym typeface="Inter"/>
              </a:rPr>
              <a:t>You should not construe the contents of this presentation or any prior or subsequent communications from the Fund, its principals and their respective affiliates or any of their respective officers, members, employees, representatives or agents as legal, tax, regulatory, accounting or investment advice. You should conduct your own analysis with respect to legal and tax issues related to the Fund, together with your professional advisors. In particular, you should inform yourself as to the legal requirements and tax consequences within the country of your citizenship, residence, domicile and place of business with respect to the acquisition, holding and disposal of an Interest, and any foreign exchange or other restrictions that may be relevant thereto.</a:t>
            </a:r>
          </a:p>
          <a:p>
            <a:pPr algn="just">
              <a:lnSpc>
                <a:spcPts val="1400"/>
              </a:lnSpc>
            </a:pPr>
          </a:p>
          <a:p>
            <a:pPr algn="just">
              <a:lnSpc>
                <a:spcPts val="1400"/>
              </a:lnSpc>
            </a:pPr>
            <a:r>
              <a:rPr lang="en-US" sz="1000">
                <a:solidFill>
                  <a:srgbClr val="000000"/>
                </a:solidFill>
                <a:latin typeface="Inter"/>
                <a:ea typeface="Inter"/>
                <a:cs typeface="Inter"/>
                <a:sym typeface="Inter"/>
              </a:rPr>
              <a:t>Insofar as any statements made in this presentation involve matters of opinion, assumptions, projections, anticipated events or estimates, whether or not expressly stated, they are set forth as such and not as representations of fact, no representation is made as to their accuracy or that all appropriate assumptions relating thereto have been considered or stated and actual results may differ substantially from those set forth, projected, forecast or estimated herein. No warranty or representation is given with respect to information contained in this presentation, or any income or expense of an asset, or the future projected financial performance.</a:t>
            </a:r>
          </a:p>
          <a:p>
            <a:pPr algn="just">
              <a:lnSpc>
                <a:spcPts val="1400"/>
              </a:lnSpc>
            </a:pPr>
          </a:p>
          <a:p>
            <a:pPr algn="just">
              <a:lnSpc>
                <a:spcPts val="1400"/>
              </a:lnSpc>
            </a:pPr>
            <a:r>
              <a:rPr lang="en-US" sz="1000">
                <a:solidFill>
                  <a:srgbClr val="000000"/>
                </a:solidFill>
                <a:latin typeface="Inter"/>
                <a:ea typeface="Inter"/>
                <a:cs typeface="Inter"/>
                <a:sym typeface="Inter"/>
              </a:rPr>
              <a:t>The information contained herein is current only as of the date hereof (unless otherwise specifically mentioned in the presentation) and you should not, under any circumstances, assume that there has not been any change in the matters discussed herein since the date hereof. The Fund does not intend to update the contents of this presentation.</a:t>
            </a:r>
          </a:p>
          <a:p>
            <a:pPr algn="just">
              <a:lnSpc>
                <a:spcPts val="1400"/>
              </a:lnSpc>
            </a:pPr>
          </a:p>
          <a:p>
            <a:pPr algn="just">
              <a:lnSpc>
                <a:spcPts val="1400"/>
              </a:lnSpc>
            </a:pPr>
            <a:r>
              <a:rPr lang="en-US" sz="1000">
                <a:solidFill>
                  <a:srgbClr val="000000"/>
                </a:solidFill>
                <a:latin typeface="Inter"/>
                <a:ea typeface="Inter"/>
                <a:cs typeface="Inter"/>
                <a:sym typeface="Inter"/>
              </a:rPr>
              <a:t>This presentation has not been filed, lodged, registered, reviewed or approved by any regulatory authority in any jurisdiction. The distribution of this presentation in certain jurisdictions may be restricted by law. Recipients of this presentation should inform themselves about, and observe any applicable legal or regulatory requirements in relation to, the distribution or possession of this presentation. Recipients of this presentation represent that they are qualified to receive this presentation in all relevant jurisdictions for them.</a:t>
            </a:r>
          </a:p>
          <a:p>
            <a:pPr algn="just">
              <a:lnSpc>
                <a:spcPts val="1400"/>
              </a:lnSpc>
            </a:pPr>
            <a:r>
              <a:rPr lang="en-US" sz="1000">
                <a:solidFill>
                  <a:srgbClr val="000000"/>
                </a:solidFill>
                <a:latin typeface="Inter"/>
                <a:ea typeface="Inter"/>
                <a:cs typeface="Inter"/>
                <a:sym typeface="Inter"/>
              </a:rPr>
              <a:t> </a:t>
            </a:r>
          </a:p>
          <a:p>
            <a:pPr algn="just">
              <a:lnSpc>
                <a:spcPts val="1400"/>
              </a:lnSpc>
            </a:pPr>
            <a:r>
              <a:rPr lang="en-US" sz="1000">
                <a:solidFill>
                  <a:srgbClr val="000000"/>
                </a:solidFill>
                <a:latin typeface="Inter"/>
                <a:ea typeface="Inter"/>
                <a:cs typeface="Inter"/>
                <a:sym typeface="Inter"/>
              </a:rPr>
              <a:t>This presentation has not been registered as a prospectus with the Monetary Authority of Singapore. Accordingly, this presentation and any other document or material in connection with the offer or sale, or invitation for subscription or purchase, of the shares or units in Collider (the “Units”) may not be circulated or distributed, nor may the Units be offered or sold, or be made the subject of an invitation for subscription or purchase, whether directly or indirectly, to persons in Singapore other than: to an institutional investor (as defined in the SFA) pursuant to Section 274 of the Securities and Futures Act, Chapter 289 of Singapore (the “SFA”) or, as the case may be, Section 276(2)(a) of the SFA; to an accredited investor (as defined in the SFA) pursuant to Section 275(1) of the SFA, or as the case may be, Section 276(2)(b) of the SFA, and in accordance with the conditions specified in Section 275 of the SFA, and in accordance with the conditions specified in Regulation 3 of the Securities and Futures (Classes of Investors) Regulations 2018;</a:t>
            </a:r>
          </a:p>
          <a:p>
            <a:pPr algn="just">
              <a:lnSpc>
                <a:spcPts val="1400"/>
              </a:lnSpc>
            </a:pPr>
          </a:p>
          <a:p>
            <a:pPr algn="just">
              <a:lnSpc>
                <a:spcPts val="1400"/>
              </a:lnSpc>
            </a:pPr>
            <a:r>
              <a:rPr lang="en-US" sz="1000">
                <a:solidFill>
                  <a:srgbClr val="000000"/>
                </a:solidFill>
                <a:latin typeface="Inter"/>
                <a:ea typeface="Inter"/>
                <a:cs typeface="Inter"/>
                <a:sym typeface="Inter"/>
              </a:rPr>
              <a:t>to a relevant person (as defined in Section 275(2) of the SFA) pursuant to Section 275(1) of the SFA, or any person pursuant to Section 275(1A) of the SFA, or, as the case may be, Section 276(2) of the SFA and in accordance with the conditions specified in Section 275, of the SFA, where each such person is an expert investor (as defined in the SFA) or not an individual.</a:t>
            </a:r>
          </a:p>
          <a:p>
            <a:pPr algn="just">
              <a:lnSpc>
                <a:spcPts val="1400"/>
              </a:lnSpc>
            </a:pPr>
          </a:p>
          <a:p>
            <a:pPr algn="just">
              <a:lnSpc>
                <a:spcPts val="1400"/>
              </a:lnSpc>
            </a:pPr>
            <a:r>
              <a:rPr lang="en-US" sz="1000">
                <a:solidFill>
                  <a:srgbClr val="000000"/>
                </a:solidFill>
                <a:latin typeface="Inter"/>
                <a:ea typeface="Inter"/>
                <a:cs typeface="Inter"/>
                <a:sym typeface="Inter"/>
              </a:rPr>
              <a:t>Any reference to the SFA is a reference to the Securities and Futures Act, Chapter 289 of Singapore and a reference to any term as defined in the SFA or any provision in the SFA is a reference to that term as modified or amended from time to time including by such of its subsidiary legislation as may be applicable at the relevant time.</a:t>
            </a:r>
          </a:p>
          <a:p>
            <a:pPr algn="just">
              <a:lnSpc>
                <a:spcPts val="1400"/>
              </a:lnSpc>
            </a:pPr>
            <a:r>
              <a:rPr lang="en-US" sz="1000">
                <a:solidFill>
                  <a:srgbClr val="000000"/>
                </a:solidFill>
                <a:latin typeface="Inter"/>
                <a:ea typeface="Inter"/>
                <a:cs typeface="Inter"/>
                <a:sym typeface="Inter"/>
              </a:rPr>
              <a:t> </a:t>
            </a:r>
          </a:p>
          <a:p>
            <a:pPr algn="just">
              <a:lnSpc>
                <a:spcPts val="1400"/>
              </a:lnSpc>
            </a:pPr>
            <a:r>
              <a:rPr lang="en-US" sz="1000">
                <a:solidFill>
                  <a:srgbClr val="000000"/>
                </a:solidFill>
                <a:latin typeface="Inter"/>
                <a:ea typeface="Inter"/>
                <a:cs typeface="Inter"/>
                <a:sym typeface="Inter"/>
              </a:rPr>
              <a:t>Acceptance of this presentation constitutes the recipient’s agreement to be bound by the terms of this Disclaimer.</a:t>
            </a:r>
          </a:p>
          <a:p>
            <a:pPr algn="just">
              <a:lnSpc>
                <a:spcPts val="1400"/>
              </a:lnSpc>
            </a:pPr>
          </a:p>
          <a:p>
            <a:pPr algn="just">
              <a:lnSpc>
                <a:spcPts val="1400"/>
              </a:lnSpc>
            </a:pPr>
          </a:p>
        </p:txBody>
      </p:sp>
      <p:sp>
        <p:nvSpPr>
          <p:cNvPr name="Freeform 3" id="3"/>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895350"/>
            <a:ext cx="4654302"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Legal Disclaimers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grpSp>
        <p:nvGrpSpPr>
          <p:cNvPr name="Group 2" id="2"/>
          <p:cNvGrpSpPr/>
          <p:nvPr/>
        </p:nvGrpSpPr>
        <p:grpSpPr>
          <a:xfrm rot="0">
            <a:off x="1019510" y="5400350"/>
            <a:ext cx="5169788" cy="3286450"/>
            <a:chOff x="0" y="0"/>
            <a:chExt cx="1361590" cy="865567"/>
          </a:xfrm>
        </p:grpSpPr>
        <p:sp>
          <p:nvSpPr>
            <p:cNvPr name="Freeform 3" id="3"/>
            <p:cNvSpPr/>
            <p:nvPr/>
          </p:nvSpPr>
          <p:spPr>
            <a:xfrm flipH="false" flipV="false" rot="0">
              <a:off x="0" y="0"/>
              <a:ext cx="1361590" cy="865567"/>
            </a:xfrm>
            <a:custGeom>
              <a:avLst/>
              <a:gdLst/>
              <a:ahLst/>
              <a:cxnLst/>
              <a:rect r="r" b="b" t="t" l="l"/>
              <a:pathLst>
                <a:path h="865567" w="1361590">
                  <a:moveTo>
                    <a:pt x="0" y="0"/>
                  </a:moveTo>
                  <a:lnTo>
                    <a:pt x="1361590" y="0"/>
                  </a:lnTo>
                  <a:lnTo>
                    <a:pt x="1361590" y="865567"/>
                  </a:lnTo>
                  <a:lnTo>
                    <a:pt x="0" y="865567"/>
                  </a:lnTo>
                  <a:close/>
                </a:path>
              </a:pathLst>
            </a:custGeom>
            <a:solidFill>
              <a:srgbClr val="FFFFFF"/>
            </a:solidFill>
          </p:spPr>
        </p:sp>
        <p:sp>
          <p:nvSpPr>
            <p:cNvPr name="TextBox 4" id="4"/>
            <p:cNvSpPr txBox="true"/>
            <p:nvPr/>
          </p:nvSpPr>
          <p:spPr>
            <a:xfrm>
              <a:off x="0" y="-38100"/>
              <a:ext cx="1361590" cy="9036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559106" y="5400350"/>
            <a:ext cx="5169788" cy="3286450"/>
            <a:chOff x="0" y="0"/>
            <a:chExt cx="1361590" cy="865567"/>
          </a:xfrm>
        </p:grpSpPr>
        <p:sp>
          <p:nvSpPr>
            <p:cNvPr name="Freeform 6" id="6"/>
            <p:cNvSpPr/>
            <p:nvPr/>
          </p:nvSpPr>
          <p:spPr>
            <a:xfrm flipH="false" flipV="false" rot="0">
              <a:off x="0" y="0"/>
              <a:ext cx="1361590" cy="865567"/>
            </a:xfrm>
            <a:custGeom>
              <a:avLst/>
              <a:gdLst/>
              <a:ahLst/>
              <a:cxnLst/>
              <a:rect r="r" b="b" t="t" l="l"/>
              <a:pathLst>
                <a:path h="865567" w="1361590">
                  <a:moveTo>
                    <a:pt x="0" y="0"/>
                  </a:moveTo>
                  <a:lnTo>
                    <a:pt x="1361590" y="0"/>
                  </a:lnTo>
                  <a:lnTo>
                    <a:pt x="1361590" y="865567"/>
                  </a:lnTo>
                  <a:lnTo>
                    <a:pt x="0" y="865567"/>
                  </a:lnTo>
                  <a:close/>
                </a:path>
              </a:pathLst>
            </a:custGeom>
            <a:solidFill>
              <a:srgbClr val="FFFFFF"/>
            </a:solidFill>
          </p:spPr>
        </p:sp>
        <p:sp>
          <p:nvSpPr>
            <p:cNvPr name="TextBox 7" id="7"/>
            <p:cNvSpPr txBox="true"/>
            <p:nvPr/>
          </p:nvSpPr>
          <p:spPr>
            <a:xfrm>
              <a:off x="0" y="-38100"/>
              <a:ext cx="1361590" cy="90366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89512" y="5400350"/>
            <a:ext cx="5169788" cy="3286450"/>
            <a:chOff x="0" y="0"/>
            <a:chExt cx="1361590" cy="865567"/>
          </a:xfrm>
        </p:grpSpPr>
        <p:sp>
          <p:nvSpPr>
            <p:cNvPr name="Freeform 9" id="9"/>
            <p:cNvSpPr/>
            <p:nvPr/>
          </p:nvSpPr>
          <p:spPr>
            <a:xfrm flipH="false" flipV="false" rot="0">
              <a:off x="0" y="0"/>
              <a:ext cx="1361590" cy="865567"/>
            </a:xfrm>
            <a:custGeom>
              <a:avLst/>
              <a:gdLst/>
              <a:ahLst/>
              <a:cxnLst/>
              <a:rect r="r" b="b" t="t" l="l"/>
              <a:pathLst>
                <a:path h="865567" w="1361590">
                  <a:moveTo>
                    <a:pt x="0" y="0"/>
                  </a:moveTo>
                  <a:lnTo>
                    <a:pt x="1361590" y="0"/>
                  </a:lnTo>
                  <a:lnTo>
                    <a:pt x="1361590" y="865567"/>
                  </a:lnTo>
                  <a:lnTo>
                    <a:pt x="0" y="865567"/>
                  </a:lnTo>
                  <a:close/>
                </a:path>
              </a:pathLst>
            </a:custGeom>
            <a:solidFill>
              <a:srgbClr val="FFFFFF"/>
            </a:solidFill>
          </p:spPr>
        </p:sp>
        <p:sp>
          <p:nvSpPr>
            <p:cNvPr name="TextBox 10" id="10"/>
            <p:cNvSpPr txBox="true"/>
            <p:nvPr/>
          </p:nvSpPr>
          <p:spPr>
            <a:xfrm>
              <a:off x="0" y="-38100"/>
              <a:ext cx="1361590" cy="90366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3046116" y="5927000"/>
            <a:ext cx="1116575" cy="1116575"/>
          </a:xfrm>
          <a:custGeom>
            <a:avLst/>
            <a:gdLst/>
            <a:ahLst/>
            <a:cxnLst/>
            <a:rect r="r" b="b" t="t" l="l"/>
            <a:pathLst>
              <a:path h="1116575" w="1116575">
                <a:moveTo>
                  <a:pt x="0" y="0"/>
                </a:moveTo>
                <a:lnTo>
                  <a:pt x="1116575" y="0"/>
                </a:lnTo>
                <a:lnTo>
                  <a:pt x="1116575" y="1116575"/>
                </a:lnTo>
                <a:lnTo>
                  <a:pt x="0" y="11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148036" y="5927000"/>
            <a:ext cx="1052741" cy="1052741"/>
          </a:xfrm>
          <a:custGeom>
            <a:avLst/>
            <a:gdLst/>
            <a:ahLst/>
            <a:cxnLst/>
            <a:rect r="r" b="b" t="t" l="l"/>
            <a:pathLst>
              <a:path h="1052741" w="1052741">
                <a:moveTo>
                  <a:pt x="0" y="0"/>
                </a:moveTo>
                <a:lnTo>
                  <a:pt x="1052740" y="0"/>
                </a:lnTo>
                <a:lnTo>
                  <a:pt x="1052740" y="1052740"/>
                </a:lnTo>
                <a:lnTo>
                  <a:pt x="0" y="10527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8593030" y="5927000"/>
            <a:ext cx="1116575" cy="1116575"/>
          </a:xfrm>
          <a:custGeom>
            <a:avLst/>
            <a:gdLst/>
            <a:ahLst/>
            <a:cxnLst/>
            <a:rect r="r" b="b" t="t" l="l"/>
            <a:pathLst>
              <a:path h="1116575" w="1116575">
                <a:moveTo>
                  <a:pt x="0" y="0"/>
                </a:moveTo>
                <a:lnTo>
                  <a:pt x="1116576" y="0"/>
                </a:lnTo>
                <a:lnTo>
                  <a:pt x="1116576" y="1116575"/>
                </a:lnTo>
                <a:lnTo>
                  <a:pt x="0" y="11165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1019510" y="2474912"/>
            <a:ext cx="11671905" cy="763270"/>
          </a:xfrm>
          <a:prstGeom prst="rect">
            <a:avLst/>
          </a:prstGeom>
        </p:spPr>
        <p:txBody>
          <a:bodyPr anchor="t" rtlCol="false" tIns="0" lIns="0" bIns="0" rIns="0">
            <a:spAutoFit/>
          </a:bodyPr>
          <a:lstStyle/>
          <a:p>
            <a:pPr algn="l">
              <a:lnSpc>
                <a:spcPts val="3080"/>
              </a:lnSpc>
            </a:pPr>
            <a:r>
              <a:rPr lang="en-US" b="true" sz="2200">
                <a:solidFill>
                  <a:srgbClr val="0B081D"/>
                </a:solidFill>
                <a:latin typeface="Inter Bold"/>
                <a:ea typeface="Inter Bold"/>
                <a:cs typeface="Inter Bold"/>
                <a:sym typeface="Inter Bold"/>
              </a:rPr>
              <a:t>Regulatory clarity, institutional participation, and US admin adoption are transforming the ecosystem </a:t>
            </a:r>
          </a:p>
        </p:txBody>
      </p:sp>
      <p:sp>
        <p:nvSpPr>
          <p:cNvPr name="TextBox 16" id="16"/>
          <p:cNvSpPr txBox="true"/>
          <p:nvPr/>
        </p:nvSpPr>
        <p:spPr>
          <a:xfrm rot="0">
            <a:off x="1019510" y="3479267"/>
            <a:ext cx="11172138" cy="701675"/>
          </a:xfrm>
          <a:prstGeom prst="rect">
            <a:avLst/>
          </a:prstGeom>
        </p:spPr>
        <p:txBody>
          <a:bodyPr anchor="t" rtlCol="false" tIns="0" lIns="0" bIns="0" rIns="0">
            <a:spAutoFit/>
          </a:bodyPr>
          <a:lstStyle/>
          <a:p>
            <a:pPr algn="l">
              <a:lnSpc>
                <a:spcPts val="2800"/>
              </a:lnSpc>
            </a:pPr>
            <a:r>
              <a:rPr lang="en-US" sz="2000">
                <a:solidFill>
                  <a:srgbClr val="0B081D"/>
                </a:solidFill>
                <a:latin typeface="Inter"/>
                <a:ea typeface="Inter"/>
                <a:cs typeface="Inter"/>
                <a:sym typeface="Inter"/>
              </a:rPr>
              <a:t>O</a:t>
            </a:r>
            <a:r>
              <a:rPr lang="en-US" sz="2000">
                <a:solidFill>
                  <a:srgbClr val="0B081D"/>
                </a:solidFill>
                <a:latin typeface="Inter"/>
                <a:ea typeface="Inter"/>
                <a:cs typeface="Inter"/>
                <a:sym typeface="Inter"/>
              </a:rPr>
              <a:t>ut of this maturity emerges a new class of revenue generating businesses with massive growth and value accrual creation potential.</a:t>
            </a:r>
          </a:p>
        </p:txBody>
      </p:sp>
      <p:sp>
        <p:nvSpPr>
          <p:cNvPr name="TextBox 17" id="17"/>
          <p:cNvSpPr txBox="true"/>
          <p:nvPr/>
        </p:nvSpPr>
        <p:spPr>
          <a:xfrm rot="0">
            <a:off x="1028700" y="4638142"/>
            <a:ext cx="11351386" cy="424815"/>
          </a:xfrm>
          <a:prstGeom prst="rect">
            <a:avLst/>
          </a:prstGeom>
        </p:spPr>
        <p:txBody>
          <a:bodyPr anchor="t" rtlCol="false" tIns="0" lIns="0" bIns="0" rIns="0">
            <a:spAutoFit/>
          </a:bodyPr>
          <a:lstStyle/>
          <a:p>
            <a:pPr algn="l">
              <a:lnSpc>
                <a:spcPts val="3360"/>
              </a:lnSpc>
            </a:pPr>
            <a:r>
              <a:rPr lang="en-US" b="true" sz="2400">
                <a:solidFill>
                  <a:srgbClr val="5885D8"/>
                </a:solidFill>
                <a:latin typeface="Cabinet Grotesk Bold"/>
                <a:ea typeface="Cabinet Grotesk Bold"/>
                <a:cs typeface="Cabinet Grotesk Bold"/>
                <a:sym typeface="Cabinet Grotesk Bold"/>
              </a:rPr>
              <a:t>Col</a:t>
            </a:r>
            <a:r>
              <a:rPr lang="en-US" b="true" sz="2400">
                <a:solidFill>
                  <a:srgbClr val="5885D8"/>
                </a:solidFill>
                <a:latin typeface="Cabinet Grotesk Bold"/>
                <a:ea typeface="Cabinet Grotesk Bold"/>
                <a:cs typeface="Cabinet Grotesk Bold"/>
                <a:sym typeface="Cabinet Grotesk Bold"/>
              </a:rPr>
              <a:t>lider Liquid Venture:</a:t>
            </a:r>
          </a:p>
        </p:txBody>
      </p:sp>
      <p:sp>
        <p:nvSpPr>
          <p:cNvPr name="TextBox 18" id="18"/>
          <p:cNvSpPr txBox="true"/>
          <p:nvPr/>
        </p:nvSpPr>
        <p:spPr>
          <a:xfrm rot="0">
            <a:off x="1548653" y="7506588"/>
            <a:ext cx="4111501" cy="711200"/>
          </a:xfrm>
          <a:prstGeom prst="rect">
            <a:avLst/>
          </a:prstGeom>
        </p:spPr>
        <p:txBody>
          <a:bodyPr anchor="t" rtlCol="false" tIns="0" lIns="0" bIns="0" rIns="0">
            <a:spAutoFit/>
          </a:bodyPr>
          <a:lstStyle/>
          <a:p>
            <a:pPr algn="ctr">
              <a:lnSpc>
                <a:spcPts val="2800"/>
              </a:lnSpc>
            </a:pPr>
            <a:r>
              <a:rPr lang="en-US" b="true" sz="2000">
                <a:solidFill>
                  <a:srgbClr val="0B081D"/>
                </a:solidFill>
                <a:latin typeface="Cabinet Grotesk Bold"/>
                <a:ea typeface="Cabinet Grotesk Bold"/>
                <a:cs typeface="Cabinet Grotesk Bold"/>
                <a:sym typeface="Cabinet Grotesk Bold"/>
              </a:rPr>
              <a:t>C</a:t>
            </a:r>
            <a:r>
              <a:rPr lang="en-US" b="true" sz="2000">
                <a:solidFill>
                  <a:srgbClr val="0B081D"/>
                </a:solidFill>
                <a:latin typeface="Cabinet Grotesk Bold"/>
                <a:ea typeface="Cabinet Grotesk Bold"/>
                <a:cs typeface="Cabinet Grotesk Bold"/>
                <a:sym typeface="Cabinet Grotesk Bold"/>
              </a:rPr>
              <a:t>aptures asymmetries in onchain markets and crypto protocols.</a:t>
            </a:r>
          </a:p>
        </p:txBody>
      </p:sp>
      <p:sp>
        <p:nvSpPr>
          <p:cNvPr name="TextBox 19" id="19"/>
          <p:cNvSpPr txBox="true"/>
          <p:nvPr/>
        </p:nvSpPr>
        <p:spPr>
          <a:xfrm rot="0">
            <a:off x="7567354" y="7506588"/>
            <a:ext cx="3144102" cy="711200"/>
          </a:xfrm>
          <a:prstGeom prst="rect">
            <a:avLst/>
          </a:prstGeom>
        </p:spPr>
        <p:txBody>
          <a:bodyPr anchor="t" rtlCol="false" tIns="0" lIns="0" bIns="0" rIns="0">
            <a:spAutoFit/>
          </a:bodyPr>
          <a:lstStyle/>
          <a:p>
            <a:pPr algn="ctr">
              <a:lnSpc>
                <a:spcPts val="2800"/>
              </a:lnSpc>
            </a:pPr>
            <a:r>
              <a:rPr lang="en-US" b="true" sz="2000">
                <a:solidFill>
                  <a:srgbClr val="0B081D"/>
                </a:solidFill>
                <a:latin typeface="Cabinet Grotesk Bold"/>
                <a:ea typeface="Cabinet Grotesk Bold"/>
                <a:cs typeface="Cabinet Grotesk Bold"/>
                <a:sym typeface="Cabinet Grotesk Bold"/>
              </a:rPr>
              <a:t>Runs two fully liquid symbiotic strategies</a:t>
            </a:r>
          </a:p>
        </p:txBody>
      </p:sp>
      <p:sp>
        <p:nvSpPr>
          <p:cNvPr name="TextBox 20" id="20"/>
          <p:cNvSpPr txBox="true"/>
          <p:nvPr/>
        </p:nvSpPr>
        <p:spPr>
          <a:xfrm rot="0">
            <a:off x="12960090" y="7506588"/>
            <a:ext cx="3428631" cy="711200"/>
          </a:xfrm>
          <a:prstGeom prst="rect">
            <a:avLst/>
          </a:prstGeom>
        </p:spPr>
        <p:txBody>
          <a:bodyPr anchor="t" rtlCol="false" tIns="0" lIns="0" bIns="0" rIns="0">
            <a:spAutoFit/>
          </a:bodyPr>
          <a:lstStyle/>
          <a:p>
            <a:pPr algn="ctr">
              <a:lnSpc>
                <a:spcPts val="2800"/>
              </a:lnSpc>
            </a:pPr>
            <a:r>
              <a:rPr lang="en-US" b="true" sz="2000">
                <a:solidFill>
                  <a:srgbClr val="0B081D"/>
                </a:solidFill>
                <a:latin typeface="Cabinet Grotesk Bold"/>
                <a:ea typeface="Cabinet Grotesk Bold"/>
                <a:cs typeface="Cabinet Grotesk Bold"/>
                <a:sym typeface="Cabinet Grotesk Bold"/>
              </a:rPr>
              <a:t>Ha</a:t>
            </a:r>
            <a:r>
              <a:rPr lang="en-US" b="true" sz="2000">
                <a:solidFill>
                  <a:srgbClr val="0B081D"/>
                </a:solidFill>
                <a:latin typeface="Cabinet Grotesk Bold"/>
                <a:ea typeface="Cabinet Grotesk Bold"/>
                <a:cs typeface="Cabinet Grotesk Bold"/>
                <a:sym typeface="Cabinet Grotesk Bold"/>
              </a:rPr>
              <a:t>s no multi year lockups or no trapped capital.</a:t>
            </a:r>
          </a:p>
        </p:txBody>
      </p:sp>
      <p:sp>
        <p:nvSpPr>
          <p:cNvPr name="TextBox 21" id="21"/>
          <p:cNvSpPr txBox="true"/>
          <p:nvPr/>
        </p:nvSpPr>
        <p:spPr>
          <a:xfrm rot="0">
            <a:off x="1028700" y="895350"/>
            <a:ext cx="7415808"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Digital Assets have matured</a:t>
            </a:r>
          </a:p>
        </p:txBody>
      </p:sp>
      <p:grpSp>
        <p:nvGrpSpPr>
          <p:cNvPr name="Group 22" id="22"/>
          <p:cNvGrpSpPr/>
          <p:nvPr/>
        </p:nvGrpSpPr>
        <p:grpSpPr>
          <a:xfrm rot="5400000">
            <a:off x="15210301" y="-2974873"/>
            <a:ext cx="6492240" cy="6511290"/>
            <a:chOff x="0" y="0"/>
            <a:chExt cx="8656320" cy="8681720"/>
          </a:xfrm>
        </p:grpSpPr>
        <p:sp>
          <p:nvSpPr>
            <p:cNvPr name="AutoShape 23" id="23"/>
            <p:cNvSpPr/>
            <p:nvPr/>
          </p:nvSpPr>
          <p:spPr>
            <a:xfrm>
              <a:off x="0" y="8656320"/>
              <a:ext cx="8656320" cy="0"/>
            </a:xfrm>
            <a:prstGeom prst="line">
              <a:avLst/>
            </a:prstGeom>
            <a:ln cap="flat" w="50800">
              <a:solidFill>
                <a:srgbClr val="6FC2D1"/>
              </a:solidFill>
              <a:prstDash val="solid"/>
              <a:headEnd type="none" len="sm" w="sm"/>
              <a:tailEnd type="none" len="sm" w="sm"/>
            </a:ln>
          </p:spPr>
        </p:sp>
        <p:sp>
          <p:nvSpPr>
            <p:cNvPr name="AutoShape 24" id="24"/>
            <p:cNvSpPr/>
            <p:nvPr/>
          </p:nvSpPr>
          <p:spPr>
            <a:xfrm flipV="true">
              <a:off x="8630920" y="0"/>
              <a:ext cx="0" cy="8656320"/>
            </a:xfrm>
            <a:prstGeom prst="line">
              <a:avLst/>
            </a:prstGeom>
            <a:ln cap="flat" w="50800">
              <a:solidFill>
                <a:srgbClr val="6FC2D1"/>
              </a:solidFill>
              <a:prstDash val="solid"/>
              <a:headEnd type="none" len="sm" w="sm"/>
              <a:tailEnd type="none" len="sm" w="sm"/>
            </a:ln>
          </p:spPr>
        </p:sp>
      </p:grpSp>
      <p:grpSp>
        <p:nvGrpSpPr>
          <p:cNvPr name="Group 25" id="25"/>
          <p:cNvGrpSpPr/>
          <p:nvPr/>
        </p:nvGrpSpPr>
        <p:grpSpPr>
          <a:xfrm rot="-10800000">
            <a:off x="12089512" y="9601215"/>
            <a:ext cx="6492240" cy="6511290"/>
            <a:chOff x="0" y="0"/>
            <a:chExt cx="8656320" cy="8681720"/>
          </a:xfrm>
        </p:grpSpPr>
        <p:sp>
          <p:nvSpPr>
            <p:cNvPr name="AutoShape 26" id="26"/>
            <p:cNvSpPr/>
            <p:nvPr/>
          </p:nvSpPr>
          <p:spPr>
            <a:xfrm>
              <a:off x="0" y="8656320"/>
              <a:ext cx="8656320" cy="0"/>
            </a:xfrm>
            <a:prstGeom prst="line">
              <a:avLst/>
            </a:prstGeom>
            <a:ln cap="flat" w="50800">
              <a:solidFill>
                <a:srgbClr val="CBACC7"/>
              </a:solidFill>
              <a:prstDash val="solid"/>
              <a:headEnd type="none" len="sm" w="sm"/>
              <a:tailEnd type="none" len="sm" w="sm"/>
            </a:ln>
          </p:spPr>
        </p:sp>
        <p:sp>
          <p:nvSpPr>
            <p:cNvPr name="AutoShape 27" id="27"/>
            <p:cNvSpPr/>
            <p:nvPr/>
          </p:nvSpPr>
          <p:spPr>
            <a:xfrm flipV="true">
              <a:off x="8630920" y="0"/>
              <a:ext cx="0" cy="8656320"/>
            </a:xfrm>
            <a:prstGeom prst="line">
              <a:avLst/>
            </a:prstGeom>
            <a:ln cap="flat" w="50800">
              <a:solidFill>
                <a:srgbClr val="CBACC7"/>
              </a:solidFill>
              <a:prstDash val="solid"/>
              <a:headEnd type="none" len="sm" w="sm"/>
              <a:tailEnd type="none" len="sm" w="sm"/>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142371" y="4877394"/>
            <a:ext cx="5116929" cy="3992995"/>
            <a:chOff x="0" y="0"/>
            <a:chExt cx="1361590" cy="1062517"/>
          </a:xfrm>
        </p:grpSpPr>
        <p:sp>
          <p:nvSpPr>
            <p:cNvPr name="Freeform 4" id="4"/>
            <p:cNvSpPr/>
            <p:nvPr/>
          </p:nvSpPr>
          <p:spPr>
            <a:xfrm flipH="false" flipV="false" rot="0">
              <a:off x="0" y="0"/>
              <a:ext cx="1361590" cy="1062517"/>
            </a:xfrm>
            <a:custGeom>
              <a:avLst/>
              <a:gdLst/>
              <a:ahLst/>
              <a:cxnLst/>
              <a:rect r="r" b="b" t="t" l="l"/>
              <a:pathLst>
                <a:path h="1062517" w="1361590">
                  <a:moveTo>
                    <a:pt x="0" y="0"/>
                  </a:moveTo>
                  <a:lnTo>
                    <a:pt x="1361590" y="0"/>
                  </a:lnTo>
                  <a:lnTo>
                    <a:pt x="1361590" y="1062517"/>
                  </a:lnTo>
                  <a:lnTo>
                    <a:pt x="0" y="1062517"/>
                  </a:lnTo>
                  <a:close/>
                </a:path>
              </a:pathLst>
            </a:custGeom>
            <a:solidFill>
              <a:srgbClr val="FFFFFF"/>
            </a:solidFill>
          </p:spPr>
        </p:sp>
        <p:sp>
          <p:nvSpPr>
            <p:cNvPr name="TextBox 5" id="5"/>
            <p:cNvSpPr txBox="true"/>
            <p:nvPr/>
          </p:nvSpPr>
          <p:spPr>
            <a:xfrm>
              <a:off x="0" y="-38100"/>
              <a:ext cx="1361590" cy="11006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142371" y="1028700"/>
            <a:ext cx="5116929" cy="3507078"/>
          </a:xfrm>
          <a:custGeom>
            <a:avLst/>
            <a:gdLst/>
            <a:ahLst/>
            <a:cxnLst/>
            <a:rect r="r" b="b" t="t" l="l"/>
            <a:pathLst>
              <a:path h="3507078" w="5116929">
                <a:moveTo>
                  <a:pt x="0" y="0"/>
                </a:moveTo>
                <a:lnTo>
                  <a:pt x="5116929" y="0"/>
                </a:lnTo>
                <a:lnTo>
                  <a:pt x="5116929" y="3507078"/>
                </a:lnTo>
                <a:lnTo>
                  <a:pt x="0" y="3507078"/>
                </a:lnTo>
                <a:lnTo>
                  <a:pt x="0" y="0"/>
                </a:lnTo>
                <a:close/>
              </a:path>
            </a:pathLst>
          </a:custGeom>
          <a:blipFill>
            <a:blip r:embed="rId4"/>
            <a:stretch>
              <a:fillRect l="-1954" t="-7274" r="-5774" b="0"/>
            </a:stretch>
          </a:blipFill>
        </p:spPr>
      </p:sp>
      <p:sp>
        <p:nvSpPr>
          <p:cNvPr name="Freeform 7" id="7"/>
          <p:cNvSpPr/>
          <p:nvPr/>
        </p:nvSpPr>
        <p:spPr>
          <a:xfrm flipH="false" flipV="false" rot="0">
            <a:off x="12837375" y="5054583"/>
            <a:ext cx="3726920" cy="3807946"/>
          </a:xfrm>
          <a:custGeom>
            <a:avLst/>
            <a:gdLst/>
            <a:ahLst/>
            <a:cxnLst/>
            <a:rect r="r" b="b" t="t" l="l"/>
            <a:pathLst>
              <a:path h="3807946" w="3726920">
                <a:moveTo>
                  <a:pt x="0" y="0"/>
                </a:moveTo>
                <a:lnTo>
                  <a:pt x="3726921" y="0"/>
                </a:lnTo>
                <a:lnTo>
                  <a:pt x="3726921" y="3807946"/>
                </a:lnTo>
                <a:lnTo>
                  <a:pt x="0" y="3807946"/>
                </a:lnTo>
                <a:lnTo>
                  <a:pt x="0" y="0"/>
                </a:lnTo>
                <a:close/>
              </a:path>
            </a:pathLst>
          </a:custGeom>
          <a:blipFill>
            <a:blip r:embed="rId5"/>
            <a:stretch>
              <a:fillRect l="0" t="0" r="0" b="-39817"/>
            </a:stretch>
          </a:blipFill>
        </p:spPr>
      </p:sp>
      <p:sp>
        <p:nvSpPr>
          <p:cNvPr name="TextBox 8" id="8"/>
          <p:cNvSpPr txBox="true"/>
          <p:nvPr/>
        </p:nvSpPr>
        <p:spPr>
          <a:xfrm rot="0">
            <a:off x="1028700" y="895350"/>
            <a:ext cx="2266504"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Why us?</a:t>
            </a:r>
          </a:p>
        </p:txBody>
      </p:sp>
      <p:sp>
        <p:nvSpPr>
          <p:cNvPr name="TextBox 9" id="9"/>
          <p:cNvSpPr txBox="true"/>
          <p:nvPr/>
        </p:nvSpPr>
        <p:spPr>
          <a:xfrm rot="0">
            <a:off x="1028700" y="3996865"/>
            <a:ext cx="9650789" cy="4225925"/>
          </a:xfrm>
          <a:prstGeom prst="rect">
            <a:avLst/>
          </a:prstGeom>
        </p:spPr>
        <p:txBody>
          <a:bodyPr anchor="t" rtlCol="false" tIns="0" lIns="0" bIns="0" rIns="0">
            <a:spAutoFit/>
          </a:bodyPr>
          <a:lstStyle/>
          <a:p>
            <a:pPr algn="l" marL="431802" indent="-215901" lvl="1">
              <a:lnSpc>
                <a:spcPts val="2800"/>
              </a:lnSpc>
              <a:buFont typeface="Arial"/>
              <a:buChar char="•"/>
            </a:pPr>
            <a:r>
              <a:rPr lang="en-US" b="true" sz="2000">
                <a:solidFill>
                  <a:srgbClr val="5885D8"/>
                </a:solidFill>
                <a:latin typeface="Inter Bold"/>
                <a:ea typeface="Inter Bold"/>
                <a:cs typeface="Inter Bold"/>
                <a:sym typeface="Inter Bold"/>
              </a:rPr>
              <a:t>Risk at heart. </a:t>
            </a:r>
            <a:r>
              <a:rPr lang="en-US" sz="2000">
                <a:solidFill>
                  <a:srgbClr val="000000"/>
                </a:solidFill>
                <a:latin typeface="Inter"/>
                <a:ea typeface="Inter"/>
                <a:cs typeface="Inter"/>
                <a:sym typeface="Inter"/>
              </a:rPr>
              <a:t>From a $1M reward for discovering critical vulnerability in GMX to a disciplined, data driven approach where every position begins with pre-defined exit strategy scenarios.</a:t>
            </a:r>
          </a:p>
          <a:p>
            <a:pPr algn="l">
              <a:lnSpc>
                <a:spcPts val="2800"/>
              </a:lnSpc>
            </a:pPr>
          </a:p>
          <a:p>
            <a:pPr algn="l" marL="431802" indent="-215901" lvl="1">
              <a:lnSpc>
                <a:spcPts val="2800"/>
              </a:lnSpc>
              <a:buFont typeface="Arial"/>
              <a:buChar char="•"/>
            </a:pPr>
            <a:r>
              <a:rPr lang="en-US" sz="2000">
                <a:solidFill>
                  <a:srgbClr val="000000"/>
                </a:solidFill>
                <a:latin typeface="Inter"/>
                <a:ea typeface="Inter"/>
                <a:cs typeface="Inter"/>
                <a:sym typeface="Inter"/>
              </a:rPr>
              <a:t>Unique, </a:t>
            </a:r>
            <a:r>
              <a:rPr lang="en-US" b="true" sz="2000">
                <a:solidFill>
                  <a:srgbClr val="5885D8"/>
                </a:solidFill>
                <a:latin typeface="Inter Bold"/>
                <a:ea typeface="Inter Bold"/>
                <a:cs typeface="Inter Bold"/>
                <a:sym typeface="Inter Bold"/>
              </a:rPr>
              <a:t>privileged access through trust and relationships</a:t>
            </a:r>
            <a:r>
              <a:rPr lang="en-US" sz="2000">
                <a:solidFill>
                  <a:srgbClr val="000000"/>
                </a:solidFill>
                <a:latin typeface="Inter"/>
                <a:ea typeface="Inter"/>
                <a:cs typeface="Inter"/>
                <a:sym typeface="Inter"/>
              </a:rPr>
              <a:t> with the most influential people in the ecosystem. This ‘soft intel’ is crucial for identifying and timing both opportunistic plays and fundamental value opportunities.</a:t>
            </a:r>
          </a:p>
          <a:p>
            <a:pPr algn="l">
              <a:lnSpc>
                <a:spcPts val="2800"/>
              </a:lnSpc>
            </a:pPr>
          </a:p>
          <a:p>
            <a:pPr algn="l" marL="431802" indent="-215901" lvl="1">
              <a:lnSpc>
                <a:spcPts val="2800"/>
              </a:lnSpc>
              <a:buFont typeface="Arial"/>
              <a:buChar char="•"/>
            </a:pPr>
            <a:r>
              <a:rPr lang="en-US" sz="2000">
                <a:solidFill>
                  <a:srgbClr val="000000"/>
                </a:solidFill>
                <a:latin typeface="Inter"/>
                <a:ea typeface="Inter"/>
                <a:cs typeface="Inter"/>
                <a:sym typeface="Inter"/>
              </a:rPr>
              <a:t>Infrastructure and research frameworks that</a:t>
            </a:r>
            <a:r>
              <a:rPr lang="en-US" b="true" sz="2000">
                <a:solidFill>
                  <a:srgbClr val="5885D8"/>
                </a:solidFill>
                <a:latin typeface="Inter Bold"/>
                <a:ea typeface="Inter Bold"/>
                <a:cs typeface="Inter Bold"/>
                <a:sym typeface="Inter Bold"/>
              </a:rPr>
              <a:t> generate real time onchain intelligence</a:t>
            </a:r>
            <a:r>
              <a:rPr lang="en-US" sz="2000">
                <a:solidFill>
                  <a:srgbClr val="000000"/>
                </a:solidFill>
                <a:latin typeface="Inter"/>
                <a:ea typeface="Inter"/>
                <a:cs typeface="Inter"/>
                <a:sym typeface="Inter"/>
              </a:rPr>
              <a:t>, monitoring, and deep protocol evaluation metrics (risk, tokenomics, and revenue) from years of experience.</a:t>
            </a:r>
          </a:p>
          <a:p>
            <a:pPr algn="l">
              <a:lnSpc>
                <a:spcPts val="2800"/>
              </a:lnSpc>
            </a:pPr>
          </a:p>
        </p:txBody>
      </p:sp>
      <p:sp>
        <p:nvSpPr>
          <p:cNvPr name="TextBox 10" id="10"/>
          <p:cNvSpPr txBox="true"/>
          <p:nvPr/>
        </p:nvSpPr>
        <p:spPr>
          <a:xfrm rot="0">
            <a:off x="960425" y="2422313"/>
            <a:ext cx="8183575" cy="1005205"/>
          </a:xfrm>
          <a:prstGeom prst="rect">
            <a:avLst/>
          </a:prstGeom>
        </p:spPr>
        <p:txBody>
          <a:bodyPr anchor="t" rtlCol="false" tIns="0" lIns="0" bIns="0" rIns="0">
            <a:spAutoFit/>
          </a:bodyPr>
          <a:lstStyle/>
          <a:p>
            <a:pPr algn="l">
              <a:lnSpc>
                <a:spcPts val="3919"/>
              </a:lnSpc>
            </a:pPr>
            <a:r>
              <a:rPr lang="en-US" sz="2799" b="true">
                <a:solidFill>
                  <a:srgbClr val="000000"/>
                </a:solidFill>
                <a:latin typeface="Cabinet Grotesk Bold"/>
                <a:ea typeface="Cabinet Grotesk Bold"/>
                <a:cs typeface="Cabinet Grotesk Bold"/>
                <a:sym typeface="Cabinet Grotesk Bold"/>
              </a:rPr>
              <a:t>Collid</a:t>
            </a:r>
            <a:r>
              <a:rPr lang="en-US" b="true" sz="2799">
                <a:solidFill>
                  <a:srgbClr val="000000"/>
                </a:solidFill>
                <a:latin typeface="Cabinet Grotesk Bold"/>
                <a:ea typeface="Cabinet Grotesk Bold"/>
                <a:cs typeface="Cabinet Grotesk Bold"/>
                <a:sym typeface="Cabinet Grotesk Bold"/>
              </a:rPr>
              <a:t>er Liquid Venture grew organically out of Collider’s research team and Nostro management. </a:t>
            </a:r>
          </a:p>
        </p:txBody>
      </p:sp>
      <p:grpSp>
        <p:nvGrpSpPr>
          <p:cNvPr name="Group 11" id="11"/>
          <p:cNvGrpSpPr/>
          <p:nvPr/>
        </p:nvGrpSpPr>
        <p:grpSpPr>
          <a:xfrm rot="0">
            <a:off x="12142371" y="8831835"/>
            <a:ext cx="5116929" cy="426465"/>
            <a:chOff x="0" y="0"/>
            <a:chExt cx="1361590" cy="113480"/>
          </a:xfrm>
        </p:grpSpPr>
        <p:sp>
          <p:nvSpPr>
            <p:cNvPr name="Freeform 12" id="12"/>
            <p:cNvSpPr/>
            <p:nvPr/>
          </p:nvSpPr>
          <p:spPr>
            <a:xfrm flipH="false" flipV="false" rot="0">
              <a:off x="0" y="0"/>
              <a:ext cx="1361590" cy="113480"/>
            </a:xfrm>
            <a:custGeom>
              <a:avLst/>
              <a:gdLst/>
              <a:ahLst/>
              <a:cxnLst/>
              <a:rect r="r" b="b" t="t" l="l"/>
              <a:pathLst>
                <a:path h="113480" w="1361590">
                  <a:moveTo>
                    <a:pt x="0" y="0"/>
                  </a:moveTo>
                  <a:lnTo>
                    <a:pt x="1361590" y="0"/>
                  </a:lnTo>
                  <a:lnTo>
                    <a:pt x="1361590" y="113480"/>
                  </a:lnTo>
                  <a:lnTo>
                    <a:pt x="0" y="113480"/>
                  </a:lnTo>
                  <a:close/>
                </a:path>
              </a:pathLst>
            </a:custGeom>
            <a:solidFill>
              <a:srgbClr val="6FC2D1"/>
            </a:solidFill>
          </p:spPr>
        </p:sp>
        <p:sp>
          <p:nvSpPr>
            <p:cNvPr name="TextBox 13" id="13"/>
            <p:cNvSpPr txBox="true"/>
            <p:nvPr/>
          </p:nvSpPr>
          <p:spPr>
            <a:xfrm>
              <a:off x="0" y="-38100"/>
              <a:ext cx="1361590" cy="15158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2142371" y="4286351"/>
            <a:ext cx="5116929" cy="426465"/>
            <a:chOff x="0" y="0"/>
            <a:chExt cx="1361590" cy="113480"/>
          </a:xfrm>
        </p:grpSpPr>
        <p:sp>
          <p:nvSpPr>
            <p:cNvPr name="Freeform 15" id="15"/>
            <p:cNvSpPr/>
            <p:nvPr/>
          </p:nvSpPr>
          <p:spPr>
            <a:xfrm flipH="false" flipV="false" rot="0">
              <a:off x="0" y="0"/>
              <a:ext cx="1361590" cy="113480"/>
            </a:xfrm>
            <a:custGeom>
              <a:avLst/>
              <a:gdLst/>
              <a:ahLst/>
              <a:cxnLst/>
              <a:rect r="r" b="b" t="t" l="l"/>
              <a:pathLst>
                <a:path h="113480" w="1361590">
                  <a:moveTo>
                    <a:pt x="0" y="0"/>
                  </a:moveTo>
                  <a:lnTo>
                    <a:pt x="1361590" y="0"/>
                  </a:lnTo>
                  <a:lnTo>
                    <a:pt x="1361590" y="113480"/>
                  </a:lnTo>
                  <a:lnTo>
                    <a:pt x="0" y="113480"/>
                  </a:lnTo>
                  <a:close/>
                </a:path>
              </a:pathLst>
            </a:custGeom>
            <a:solidFill>
              <a:srgbClr val="CBACC7"/>
            </a:solidFill>
          </p:spPr>
        </p:sp>
        <p:sp>
          <p:nvSpPr>
            <p:cNvPr name="TextBox 16" id="16"/>
            <p:cNvSpPr txBox="true"/>
            <p:nvPr/>
          </p:nvSpPr>
          <p:spPr>
            <a:xfrm>
              <a:off x="0" y="-38100"/>
              <a:ext cx="1361590" cy="15158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2478937" y="4362591"/>
            <a:ext cx="3838965" cy="238497"/>
          </a:xfrm>
          <a:prstGeom prst="rect">
            <a:avLst/>
          </a:prstGeom>
        </p:spPr>
        <p:txBody>
          <a:bodyPr anchor="t" rtlCol="false" tIns="0" lIns="0" bIns="0" rIns="0">
            <a:spAutoFit/>
          </a:bodyPr>
          <a:lstStyle/>
          <a:p>
            <a:pPr algn="l">
              <a:lnSpc>
                <a:spcPts val="1939"/>
              </a:lnSpc>
            </a:pPr>
            <a:r>
              <a:rPr lang="en-US" sz="1385" b="true">
                <a:solidFill>
                  <a:srgbClr val="000000"/>
                </a:solidFill>
                <a:latin typeface="Inter Bold"/>
                <a:ea typeface="Inter Bold"/>
                <a:cs typeface="Inter Bold"/>
                <a:sym typeface="Inter Bold"/>
              </a:rPr>
              <a:t>Adiel Yaakov - Fund manager &amp; Partner</a:t>
            </a:r>
          </a:p>
        </p:txBody>
      </p:sp>
      <p:sp>
        <p:nvSpPr>
          <p:cNvPr name="TextBox 18" id="18"/>
          <p:cNvSpPr txBox="true"/>
          <p:nvPr/>
        </p:nvSpPr>
        <p:spPr>
          <a:xfrm rot="0">
            <a:off x="12478937" y="8917600"/>
            <a:ext cx="2000204" cy="238497"/>
          </a:xfrm>
          <a:prstGeom prst="rect">
            <a:avLst/>
          </a:prstGeom>
        </p:spPr>
        <p:txBody>
          <a:bodyPr anchor="t" rtlCol="false" tIns="0" lIns="0" bIns="0" rIns="0">
            <a:spAutoFit/>
          </a:bodyPr>
          <a:lstStyle/>
          <a:p>
            <a:pPr algn="l">
              <a:lnSpc>
                <a:spcPts val="1939"/>
              </a:lnSpc>
            </a:pPr>
            <a:r>
              <a:rPr lang="en-US" sz="1385" b="true">
                <a:solidFill>
                  <a:srgbClr val="000000"/>
                </a:solidFill>
                <a:latin typeface="Inter Bold"/>
                <a:ea typeface="Inter Bold"/>
                <a:cs typeface="Inter Bold"/>
                <a:sym typeface="Inter Bold"/>
              </a:rPr>
              <a:t>Exclusive Article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895350"/>
            <a:ext cx="4426372"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The Opportunity</a:t>
            </a:r>
          </a:p>
        </p:txBody>
      </p:sp>
      <p:grpSp>
        <p:nvGrpSpPr>
          <p:cNvPr name="Group 4" id="4"/>
          <p:cNvGrpSpPr/>
          <p:nvPr/>
        </p:nvGrpSpPr>
        <p:grpSpPr>
          <a:xfrm rot="0">
            <a:off x="1019510" y="2192020"/>
            <a:ext cx="16239790" cy="3214370"/>
            <a:chOff x="0" y="0"/>
            <a:chExt cx="4277146" cy="846583"/>
          </a:xfrm>
        </p:grpSpPr>
        <p:sp>
          <p:nvSpPr>
            <p:cNvPr name="Freeform 5" id="5"/>
            <p:cNvSpPr/>
            <p:nvPr/>
          </p:nvSpPr>
          <p:spPr>
            <a:xfrm flipH="false" flipV="false" rot="0">
              <a:off x="0" y="0"/>
              <a:ext cx="4277146" cy="846583"/>
            </a:xfrm>
            <a:custGeom>
              <a:avLst/>
              <a:gdLst/>
              <a:ahLst/>
              <a:cxnLst/>
              <a:rect r="r" b="b" t="t" l="l"/>
              <a:pathLst>
                <a:path h="846583" w="4277146">
                  <a:moveTo>
                    <a:pt x="0" y="0"/>
                  </a:moveTo>
                  <a:lnTo>
                    <a:pt x="4277146" y="0"/>
                  </a:lnTo>
                  <a:lnTo>
                    <a:pt x="4277146" y="846583"/>
                  </a:lnTo>
                  <a:lnTo>
                    <a:pt x="0" y="846583"/>
                  </a:lnTo>
                  <a:close/>
                </a:path>
              </a:pathLst>
            </a:custGeom>
            <a:solidFill>
              <a:srgbClr val="FFFFFF"/>
            </a:solidFill>
          </p:spPr>
        </p:sp>
        <p:sp>
          <p:nvSpPr>
            <p:cNvPr name="TextBox 6" id="6"/>
            <p:cNvSpPr txBox="true"/>
            <p:nvPr/>
          </p:nvSpPr>
          <p:spPr>
            <a:xfrm>
              <a:off x="0" y="-38100"/>
              <a:ext cx="4277146" cy="88468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69088" y="2872698"/>
            <a:ext cx="2390682" cy="1956377"/>
            <a:chOff x="0" y="0"/>
            <a:chExt cx="3187576" cy="2608503"/>
          </a:xfrm>
        </p:grpSpPr>
        <p:grpSp>
          <p:nvGrpSpPr>
            <p:cNvPr name="Group 8" id="8"/>
            <p:cNvGrpSpPr/>
            <p:nvPr/>
          </p:nvGrpSpPr>
          <p:grpSpPr>
            <a:xfrm rot="0">
              <a:off x="1335283" y="1082251"/>
              <a:ext cx="508190" cy="743077"/>
              <a:chOff x="0" y="0"/>
              <a:chExt cx="588010" cy="859790"/>
            </a:xfrm>
          </p:grpSpPr>
          <p:sp>
            <p:nvSpPr>
              <p:cNvPr name="Freeform 9" id="9"/>
              <p:cNvSpPr/>
              <p:nvPr/>
            </p:nvSpPr>
            <p:spPr>
              <a:xfrm flipH="false" flipV="false" rot="0">
                <a:off x="48500" y="50402"/>
                <a:ext cx="491991" cy="772519"/>
              </a:xfrm>
              <a:custGeom>
                <a:avLst/>
                <a:gdLst/>
                <a:ahLst/>
                <a:cxnLst/>
                <a:rect r="r" b="b" t="t" l="l"/>
                <a:pathLst>
                  <a:path h="772519" w="491991">
                    <a:moveTo>
                      <a:pt x="335040" y="175658"/>
                    </a:moveTo>
                    <a:cubicBezTo>
                      <a:pt x="183910" y="519828"/>
                      <a:pt x="205500" y="618888"/>
                      <a:pt x="185180" y="627778"/>
                    </a:cubicBezTo>
                    <a:cubicBezTo>
                      <a:pt x="169940" y="634128"/>
                      <a:pt x="111520" y="578248"/>
                      <a:pt x="115330" y="566818"/>
                    </a:cubicBezTo>
                    <a:cubicBezTo>
                      <a:pt x="122950" y="549038"/>
                      <a:pt x="354090" y="559198"/>
                      <a:pt x="365520" y="584598"/>
                    </a:cubicBezTo>
                    <a:cubicBezTo>
                      <a:pt x="371870" y="598568"/>
                      <a:pt x="329960" y="646828"/>
                      <a:pt x="317260" y="644288"/>
                    </a:cubicBezTo>
                    <a:cubicBezTo>
                      <a:pt x="290590" y="637938"/>
                      <a:pt x="288050" y="455058"/>
                      <a:pt x="266460" y="367428"/>
                    </a:cubicBezTo>
                    <a:cubicBezTo>
                      <a:pt x="244870" y="284878"/>
                      <a:pt x="182640" y="136288"/>
                      <a:pt x="190260" y="132478"/>
                    </a:cubicBezTo>
                    <a:cubicBezTo>
                      <a:pt x="192800" y="131208"/>
                      <a:pt x="210580" y="160418"/>
                      <a:pt x="211850" y="160418"/>
                    </a:cubicBezTo>
                    <a:cubicBezTo>
                      <a:pt x="211850" y="159148"/>
                      <a:pt x="181370" y="126128"/>
                      <a:pt x="177560" y="107078"/>
                    </a:cubicBezTo>
                    <a:cubicBezTo>
                      <a:pt x="173750" y="86758"/>
                      <a:pt x="178830" y="61358"/>
                      <a:pt x="188990" y="44848"/>
                    </a:cubicBezTo>
                    <a:cubicBezTo>
                      <a:pt x="197880" y="27068"/>
                      <a:pt x="220740" y="11828"/>
                      <a:pt x="237250" y="4208"/>
                    </a:cubicBezTo>
                    <a:cubicBezTo>
                      <a:pt x="251220" y="-872"/>
                      <a:pt x="266460" y="-872"/>
                      <a:pt x="280430" y="1668"/>
                    </a:cubicBezTo>
                    <a:cubicBezTo>
                      <a:pt x="293130" y="4208"/>
                      <a:pt x="308370" y="6748"/>
                      <a:pt x="319800" y="18178"/>
                    </a:cubicBezTo>
                    <a:cubicBezTo>
                      <a:pt x="335040" y="34688"/>
                      <a:pt x="347740" y="63898"/>
                      <a:pt x="352820" y="104538"/>
                    </a:cubicBezTo>
                    <a:cubicBezTo>
                      <a:pt x="362980" y="193438"/>
                      <a:pt x="333770" y="522368"/>
                      <a:pt x="291860" y="538878"/>
                    </a:cubicBezTo>
                    <a:cubicBezTo>
                      <a:pt x="275350" y="546498"/>
                      <a:pt x="252490" y="493158"/>
                      <a:pt x="228360" y="489348"/>
                    </a:cubicBezTo>
                    <a:cubicBezTo>
                      <a:pt x="204230" y="485538"/>
                      <a:pt x="149620" y="513478"/>
                      <a:pt x="150890" y="516018"/>
                    </a:cubicBezTo>
                    <a:cubicBezTo>
                      <a:pt x="150890" y="517288"/>
                      <a:pt x="261380" y="471568"/>
                      <a:pt x="291860" y="486808"/>
                    </a:cubicBezTo>
                    <a:cubicBezTo>
                      <a:pt x="315990" y="499508"/>
                      <a:pt x="328690" y="546498"/>
                      <a:pt x="329960" y="574438"/>
                    </a:cubicBezTo>
                    <a:cubicBezTo>
                      <a:pt x="331230" y="602378"/>
                      <a:pt x="318530" y="631588"/>
                      <a:pt x="305830" y="654448"/>
                    </a:cubicBezTo>
                    <a:cubicBezTo>
                      <a:pt x="294400" y="677308"/>
                      <a:pt x="279160" y="698898"/>
                      <a:pt x="260110" y="716678"/>
                    </a:cubicBezTo>
                    <a:cubicBezTo>
                      <a:pt x="241060" y="733188"/>
                      <a:pt x="219470" y="749698"/>
                      <a:pt x="192800" y="757318"/>
                    </a:cubicBezTo>
                    <a:cubicBezTo>
                      <a:pt x="157240" y="766208"/>
                      <a:pt x="89930" y="761128"/>
                      <a:pt x="60720" y="750968"/>
                    </a:cubicBezTo>
                    <a:cubicBezTo>
                      <a:pt x="42940" y="745888"/>
                      <a:pt x="34050" y="738268"/>
                      <a:pt x="23890" y="728108"/>
                    </a:cubicBezTo>
                    <a:cubicBezTo>
                      <a:pt x="15000" y="717948"/>
                      <a:pt x="6110" y="703978"/>
                      <a:pt x="3570" y="690008"/>
                    </a:cubicBezTo>
                    <a:cubicBezTo>
                      <a:pt x="-240" y="677308"/>
                      <a:pt x="-1510" y="660798"/>
                      <a:pt x="2300" y="646828"/>
                    </a:cubicBezTo>
                    <a:cubicBezTo>
                      <a:pt x="4840" y="632858"/>
                      <a:pt x="12460" y="618888"/>
                      <a:pt x="21350" y="608728"/>
                    </a:cubicBezTo>
                    <a:cubicBezTo>
                      <a:pt x="30240" y="597298"/>
                      <a:pt x="42940" y="588408"/>
                      <a:pt x="55640" y="583328"/>
                    </a:cubicBezTo>
                    <a:cubicBezTo>
                      <a:pt x="68340" y="578248"/>
                      <a:pt x="91200" y="587138"/>
                      <a:pt x="98820" y="576978"/>
                    </a:cubicBezTo>
                    <a:cubicBezTo>
                      <a:pt x="110250" y="561738"/>
                      <a:pt x="82310" y="508398"/>
                      <a:pt x="83580" y="476648"/>
                    </a:cubicBezTo>
                    <a:cubicBezTo>
                      <a:pt x="86120" y="448708"/>
                      <a:pt x="95010" y="418228"/>
                      <a:pt x="105170" y="395368"/>
                    </a:cubicBezTo>
                    <a:cubicBezTo>
                      <a:pt x="112790" y="376318"/>
                      <a:pt x="121680" y="358538"/>
                      <a:pt x="135650" y="347108"/>
                    </a:cubicBezTo>
                    <a:cubicBezTo>
                      <a:pt x="148350" y="335678"/>
                      <a:pt x="169940" y="326788"/>
                      <a:pt x="187720" y="326788"/>
                    </a:cubicBezTo>
                    <a:cubicBezTo>
                      <a:pt x="205500" y="325518"/>
                      <a:pt x="228360" y="331868"/>
                      <a:pt x="242330" y="342028"/>
                    </a:cubicBezTo>
                    <a:cubicBezTo>
                      <a:pt x="257570" y="353458"/>
                      <a:pt x="270270" y="371238"/>
                      <a:pt x="276620" y="387748"/>
                    </a:cubicBezTo>
                    <a:cubicBezTo>
                      <a:pt x="281700" y="405528"/>
                      <a:pt x="282970" y="427118"/>
                      <a:pt x="275350" y="444898"/>
                    </a:cubicBezTo>
                    <a:cubicBezTo>
                      <a:pt x="265190" y="466488"/>
                      <a:pt x="237250" y="495698"/>
                      <a:pt x="214390" y="500778"/>
                    </a:cubicBezTo>
                    <a:cubicBezTo>
                      <a:pt x="190260" y="507128"/>
                      <a:pt x="150890" y="495698"/>
                      <a:pt x="133110" y="481728"/>
                    </a:cubicBezTo>
                    <a:cubicBezTo>
                      <a:pt x="117870" y="470298"/>
                      <a:pt x="107710" y="449978"/>
                      <a:pt x="103900" y="433468"/>
                    </a:cubicBezTo>
                    <a:cubicBezTo>
                      <a:pt x="101360" y="415688"/>
                      <a:pt x="101360" y="392828"/>
                      <a:pt x="111520" y="376318"/>
                    </a:cubicBezTo>
                    <a:cubicBezTo>
                      <a:pt x="122950" y="357268"/>
                      <a:pt x="154700" y="330598"/>
                      <a:pt x="178830" y="326788"/>
                    </a:cubicBezTo>
                    <a:cubicBezTo>
                      <a:pt x="202960" y="324248"/>
                      <a:pt x="239790" y="339488"/>
                      <a:pt x="257570" y="354728"/>
                    </a:cubicBezTo>
                    <a:cubicBezTo>
                      <a:pt x="271540" y="368698"/>
                      <a:pt x="277890" y="383938"/>
                      <a:pt x="280430" y="406798"/>
                    </a:cubicBezTo>
                    <a:cubicBezTo>
                      <a:pt x="282970" y="452518"/>
                      <a:pt x="246140" y="552848"/>
                      <a:pt x="225820" y="608728"/>
                    </a:cubicBezTo>
                    <a:cubicBezTo>
                      <a:pt x="210580" y="651908"/>
                      <a:pt x="201690" y="693818"/>
                      <a:pt x="176290" y="717948"/>
                    </a:cubicBezTo>
                    <a:cubicBezTo>
                      <a:pt x="152160" y="740808"/>
                      <a:pt x="108980" y="757318"/>
                      <a:pt x="81040" y="756048"/>
                    </a:cubicBezTo>
                    <a:cubicBezTo>
                      <a:pt x="59450" y="754778"/>
                      <a:pt x="37860" y="740808"/>
                      <a:pt x="23890" y="728108"/>
                    </a:cubicBezTo>
                    <a:cubicBezTo>
                      <a:pt x="13730" y="717948"/>
                      <a:pt x="6110" y="705248"/>
                      <a:pt x="3570" y="690008"/>
                    </a:cubicBezTo>
                    <a:cubicBezTo>
                      <a:pt x="-240" y="672228"/>
                      <a:pt x="2300" y="643018"/>
                      <a:pt x="8650" y="626508"/>
                    </a:cubicBezTo>
                    <a:cubicBezTo>
                      <a:pt x="15000" y="612538"/>
                      <a:pt x="25160" y="602378"/>
                      <a:pt x="36590" y="593488"/>
                    </a:cubicBezTo>
                    <a:cubicBezTo>
                      <a:pt x="48020" y="585868"/>
                      <a:pt x="59450" y="579518"/>
                      <a:pt x="77230" y="576978"/>
                    </a:cubicBezTo>
                    <a:cubicBezTo>
                      <a:pt x="103900" y="574438"/>
                      <a:pt x="150890" y="587138"/>
                      <a:pt x="185180" y="597298"/>
                    </a:cubicBezTo>
                    <a:cubicBezTo>
                      <a:pt x="219470" y="606188"/>
                      <a:pt x="282970" y="622698"/>
                      <a:pt x="282970" y="634128"/>
                    </a:cubicBezTo>
                    <a:cubicBezTo>
                      <a:pt x="282970" y="645558"/>
                      <a:pt x="223280" y="669688"/>
                      <a:pt x="196610" y="664608"/>
                    </a:cubicBezTo>
                    <a:cubicBezTo>
                      <a:pt x="169940" y="659528"/>
                      <a:pt x="136920" y="625238"/>
                      <a:pt x="122950" y="599838"/>
                    </a:cubicBezTo>
                    <a:cubicBezTo>
                      <a:pt x="111520" y="576978"/>
                      <a:pt x="115330" y="559198"/>
                      <a:pt x="115330" y="522368"/>
                    </a:cubicBezTo>
                    <a:cubicBezTo>
                      <a:pt x="116600" y="434738"/>
                      <a:pt x="153430" y="80408"/>
                      <a:pt x="177560" y="76598"/>
                    </a:cubicBezTo>
                    <a:cubicBezTo>
                      <a:pt x="187720" y="75328"/>
                      <a:pt x="214390" y="157878"/>
                      <a:pt x="211850" y="160418"/>
                    </a:cubicBezTo>
                    <a:cubicBezTo>
                      <a:pt x="209310" y="161688"/>
                      <a:pt x="190260" y="140098"/>
                      <a:pt x="185180" y="127398"/>
                    </a:cubicBezTo>
                    <a:cubicBezTo>
                      <a:pt x="177560" y="109618"/>
                      <a:pt x="176290" y="81678"/>
                      <a:pt x="180100" y="63898"/>
                    </a:cubicBezTo>
                    <a:cubicBezTo>
                      <a:pt x="183910" y="49928"/>
                      <a:pt x="190260" y="37228"/>
                      <a:pt x="201690" y="27068"/>
                    </a:cubicBezTo>
                    <a:cubicBezTo>
                      <a:pt x="214390" y="14368"/>
                      <a:pt x="238520" y="1668"/>
                      <a:pt x="258840" y="398"/>
                    </a:cubicBezTo>
                    <a:cubicBezTo>
                      <a:pt x="277890" y="-872"/>
                      <a:pt x="300750" y="2938"/>
                      <a:pt x="319800" y="18178"/>
                    </a:cubicBezTo>
                    <a:cubicBezTo>
                      <a:pt x="350280" y="44848"/>
                      <a:pt x="375680" y="128668"/>
                      <a:pt x="397270" y="184548"/>
                    </a:cubicBezTo>
                    <a:cubicBezTo>
                      <a:pt x="416320" y="237888"/>
                      <a:pt x="429020" y="282338"/>
                      <a:pt x="441720" y="347108"/>
                    </a:cubicBezTo>
                    <a:cubicBezTo>
                      <a:pt x="460770" y="439818"/>
                      <a:pt x="506490" y="626508"/>
                      <a:pt x="487440" y="693818"/>
                    </a:cubicBezTo>
                    <a:cubicBezTo>
                      <a:pt x="478550" y="726838"/>
                      <a:pt x="464580" y="744618"/>
                      <a:pt x="435370" y="758588"/>
                    </a:cubicBezTo>
                    <a:cubicBezTo>
                      <a:pt x="375680" y="785258"/>
                      <a:pt x="178830" y="768748"/>
                      <a:pt x="110250" y="749698"/>
                    </a:cubicBezTo>
                    <a:cubicBezTo>
                      <a:pt x="75960" y="739538"/>
                      <a:pt x="53100" y="728108"/>
                      <a:pt x="36590" y="706518"/>
                    </a:cubicBezTo>
                    <a:cubicBezTo>
                      <a:pt x="20080" y="686198"/>
                      <a:pt x="15000" y="651908"/>
                      <a:pt x="11190" y="622698"/>
                    </a:cubicBezTo>
                    <a:cubicBezTo>
                      <a:pt x="7380" y="596028"/>
                      <a:pt x="8650" y="571898"/>
                      <a:pt x="12460" y="538878"/>
                    </a:cubicBezTo>
                    <a:cubicBezTo>
                      <a:pt x="18810" y="491888"/>
                      <a:pt x="32780" y="429658"/>
                      <a:pt x="56910" y="367428"/>
                    </a:cubicBezTo>
                    <a:cubicBezTo>
                      <a:pt x="89930" y="284878"/>
                      <a:pt x="162320" y="136288"/>
                      <a:pt x="204230" y="94378"/>
                    </a:cubicBezTo>
                    <a:cubicBezTo>
                      <a:pt x="220740" y="76598"/>
                      <a:pt x="234710" y="68978"/>
                      <a:pt x="251220" y="66438"/>
                    </a:cubicBezTo>
                    <a:cubicBezTo>
                      <a:pt x="267730" y="63898"/>
                      <a:pt x="290590" y="67708"/>
                      <a:pt x="305830" y="76598"/>
                    </a:cubicBezTo>
                    <a:cubicBezTo>
                      <a:pt x="319800" y="85488"/>
                      <a:pt x="333770" y="104538"/>
                      <a:pt x="338850" y="121048"/>
                    </a:cubicBezTo>
                    <a:cubicBezTo>
                      <a:pt x="343930" y="137558"/>
                      <a:pt x="335040" y="175658"/>
                      <a:pt x="335040" y="175658"/>
                    </a:cubicBezTo>
                  </a:path>
                </a:pathLst>
              </a:custGeom>
              <a:solidFill>
                <a:srgbClr val="5885D8"/>
              </a:solidFill>
              <a:ln cap="sq">
                <a:noFill/>
                <a:prstDash val="solid"/>
                <a:miter/>
              </a:ln>
            </p:spPr>
          </p:sp>
        </p:grpSp>
        <p:grpSp>
          <p:nvGrpSpPr>
            <p:cNvPr name="Group 10" id="10"/>
            <p:cNvGrpSpPr/>
            <p:nvPr/>
          </p:nvGrpSpPr>
          <p:grpSpPr>
            <a:xfrm rot="0">
              <a:off x="669718" y="0"/>
              <a:ext cx="1848141" cy="184814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000000"/>
                </a:solidFill>
                <a:prstDash val="solid"/>
                <a:miter/>
              </a:ln>
            </p:spPr>
          </p:sp>
          <p:sp>
            <p:nvSpPr>
              <p:cNvPr name="TextBox 12" id="12"/>
              <p:cNvSpPr txBox="true"/>
              <p:nvPr/>
            </p:nvSpPr>
            <p:spPr>
              <a:xfrm>
                <a:off x="76200" y="38100"/>
                <a:ext cx="660400" cy="698500"/>
              </a:xfrm>
              <a:prstGeom prst="rect">
                <a:avLst/>
              </a:prstGeom>
            </p:spPr>
            <p:txBody>
              <a:bodyPr anchor="ctr" rtlCol="false" tIns="26400" lIns="26400" bIns="26400" rIns="26400"/>
              <a:lstStyle/>
              <a:p>
                <a:pPr algn="ctr">
                  <a:lnSpc>
                    <a:spcPts val="2659"/>
                  </a:lnSpc>
                </a:pPr>
              </a:p>
            </p:txBody>
          </p:sp>
        </p:grpSp>
        <p:grpSp>
          <p:nvGrpSpPr>
            <p:cNvPr name="Group 13" id="13"/>
            <p:cNvGrpSpPr/>
            <p:nvPr/>
          </p:nvGrpSpPr>
          <p:grpSpPr>
            <a:xfrm rot="0">
              <a:off x="1339435" y="760362"/>
              <a:ext cx="1848141" cy="184814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000000"/>
                </a:solidFill>
                <a:prstDash val="solid"/>
                <a:miter/>
              </a:ln>
            </p:spPr>
          </p:sp>
          <p:sp>
            <p:nvSpPr>
              <p:cNvPr name="TextBox 15" id="15"/>
              <p:cNvSpPr txBox="true"/>
              <p:nvPr/>
            </p:nvSpPr>
            <p:spPr>
              <a:xfrm>
                <a:off x="76200" y="38100"/>
                <a:ext cx="660400" cy="698500"/>
              </a:xfrm>
              <a:prstGeom prst="rect">
                <a:avLst/>
              </a:prstGeom>
            </p:spPr>
            <p:txBody>
              <a:bodyPr anchor="ctr" rtlCol="false" tIns="26400" lIns="26400" bIns="26400" rIns="26400"/>
              <a:lstStyle/>
              <a:p>
                <a:pPr algn="ctr">
                  <a:lnSpc>
                    <a:spcPts val="2659"/>
                  </a:lnSpc>
                </a:pPr>
              </a:p>
            </p:txBody>
          </p:sp>
        </p:grpSp>
        <p:grpSp>
          <p:nvGrpSpPr>
            <p:cNvPr name="Group 16" id="16"/>
            <p:cNvGrpSpPr/>
            <p:nvPr/>
          </p:nvGrpSpPr>
          <p:grpSpPr>
            <a:xfrm rot="0">
              <a:off x="0" y="760362"/>
              <a:ext cx="1848141" cy="184814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26400" lIns="26400" bIns="26400" rIns="26400"/>
              <a:lstStyle/>
              <a:p>
                <a:pPr algn="ctr">
                  <a:lnSpc>
                    <a:spcPts val="2659"/>
                  </a:lnSpc>
                </a:pPr>
              </a:p>
            </p:txBody>
          </p:sp>
        </p:grpSp>
      </p:grpSp>
      <p:sp>
        <p:nvSpPr>
          <p:cNvPr name="TextBox 19" id="19"/>
          <p:cNvSpPr txBox="true"/>
          <p:nvPr/>
        </p:nvSpPr>
        <p:spPr>
          <a:xfrm rot="0">
            <a:off x="5078203" y="3376360"/>
            <a:ext cx="7234907" cy="935355"/>
          </a:xfrm>
          <a:prstGeom prst="rect">
            <a:avLst/>
          </a:prstGeom>
        </p:spPr>
        <p:txBody>
          <a:bodyPr anchor="t" rtlCol="false" tIns="0" lIns="0" bIns="0" rIns="0">
            <a:spAutoFit/>
          </a:bodyPr>
          <a:lstStyle/>
          <a:p>
            <a:pPr algn="l" marL="388623" indent="-194312" lvl="1">
              <a:lnSpc>
                <a:spcPts val="2520"/>
              </a:lnSpc>
              <a:buAutoNum type="arabicPeriod" startAt="1"/>
            </a:pPr>
            <a:r>
              <a:rPr lang="en-US" sz="1800">
                <a:solidFill>
                  <a:srgbClr val="000000"/>
                </a:solidFill>
                <a:latin typeface="Inter"/>
                <a:ea typeface="Inter"/>
                <a:cs typeface="Inter"/>
                <a:sym typeface="Inter"/>
              </a:rPr>
              <a:t>Index funds that own indiscriminately</a:t>
            </a:r>
          </a:p>
          <a:p>
            <a:pPr algn="l" marL="388623" indent="-194312" lvl="1">
              <a:lnSpc>
                <a:spcPts val="2520"/>
              </a:lnSpc>
              <a:buAutoNum type="arabicPeriod" startAt="1"/>
            </a:pPr>
            <a:r>
              <a:rPr lang="en-US" sz="1800">
                <a:solidFill>
                  <a:srgbClr val="000000"/>
                </a:solidFill>
                <a:latin typeface="Inter"/>
                <a:ea typeface="Inter"/>
                <a:cs typeface="Inter"/>
                <a:sym typeface="Inter"/>
              </a:rPr>
              <a:t>Crypto VCs locked into illiquid allocations </a:t>
            </a:r>
          </a:p>
          <a:p>
            <a:pPr algn="l" marL="388623" indent="-194312" lvl="1">
              <a:lnSpc>
                <a:spcPts val="2520"/>
              </a:lnSpc>
              <a:buAutoNum type="arabicPeriod" startAt="1"/>
            </a:pPr>
            <a:r>
              <a:rPr lang="en-US" sz="1800">
                <a:solidFill>
                  <a:srgbClr val="000000"/>
                </a:solidFill>
                <a:latin typeface="Inter"/>
                <a:ea typeface="Inter"/>
                <a:cs typeface="Inter"/>
                <a:sym typeface="Inter"/>
              </a:rPr>
              <a:t>Traditional managers can’t navigate crypto data and tokenomics.</a:t>
            </a:r>
          </a:p>
        </p:txBody>
      </p:sp>
      <p:grpSp>
        <p:nvGrpSpPr>
          <p:cNvPr name="Group 20" id="20"/>
          <p:cNvGrpSpPr/>
          <p:nvPr/>
        </p:nvGrpSpPr>
        <p:grpSpPr>
          <a:xfrm rot="0">
            <a:off x="1019510" y="5606415"/>
            <a:ext cx="16239790" cy="3214370"/>
            <a:chOff x="0" y="0"/>
            <a:chExt cx="4277146" cy="846583"/>
          </a:xfrm>
        </p:grpSpPr>
        <p:sp>
          <p:nvSpPr>
            <p:cNvPr name="Freeform 21" id="21"/>
            <p:cNvSpPr/>
            <p:nvPr/>
          </p:nvSpPr>
          <p:spPr>
            <a:xfrm flipH="false" flipV="false" rot="0">
              <a:off x="0" y="0"/>
              <a:ext cx="4277146" cy="846583"/>
            </a:xfrm>
            <a:custGeom>
              <a:avLst/>
              <a:gdLst/>
              <a:ahLst/>
              <a:cxnLst/>
              <a:rect r="r" b="b" t="t" l="l"/>
              <a:pathLst>
                <a:path h="846583" w="4277146">
                  <a:moveTo>
                    <a:pt x="0" y="0"/>
                  </a:moveTo>
                  <a:lnTo>
                    <a:pt x="4277146" y="0"/>
                  </a:lnTo>
                  <a:lnTo>
                    <a:pt x="4277146" y="846583"/>
                  </a:lnTo>
                  <a:lnTo>
                    <a:pt x="0" y="846583"/>
                  </a:lnTo>
                  <a:close/>
                </a:path>
              </a:pathLst>
            </a:custGeom>
            <a:solidFill>
              <a:srgbClr val="FFFFFF"/>
            </a:solidFill>
          </p:spPr>
        </p:sp>
        <p:sp>
          <p:nvSpPr>
            <p:cNvPr name="TextBox 22" id="22"/>
            <p:cNvSpPr txBox="true"/>
            <p:nvPr/>
          </p:nvSpPr>
          <p:spPr>
            <a:xfrm>
              <a:off x="0" y="-38100"/>
              <a:ext cx="4277146" cy="884683"/>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642504" y="5985326"/>
            <a:ext cx="2443849" cy="2443849"/>
            <a:chOff x="0" y="0"/>
            <a:chExt cx="3258466" cy="3258466"/>
          </a:xfrm>
        </p:grpSpPr>
        <p:grpSp>
          <p:nvGrpSpPr>
            <p:cNvPr name="Group 24" id="24"/>
            <p:cNvGrpSpPr/>
            <p:nvPr/>
          </p:nvGrpSpPr>
          <p:grpSpPr>
            <a:xfrm rot="0">
              <a:off x="290018" y="440513"/>
              <a:ext cx="538480" cy="1263650"/>
              <a:chOff x="0" y="0"/>
              <a:chExt cx="538480" cy="1263650"/>
            </a:xfrm>
          </p:grpSpPr>
          <p:sp>
            <p:nvSpPr>
              <p:cNvPr name="Freeform 25" id="25"/>
              <p:cNvSpPr/>
              <p:nvPr/>
            </p:nvSpPr>
            <p:spPr>
              <a:xfrm flipH="false" flipV="false" rot="0">
                <a:off x="50231" y="50503"/>
                <a:ext cx="436740" cy="1171756"/>
              </a:xfrm>
              <a:custGeom>
                <a:avLst/>
                <a:gdLst/>
                <a:ahLst/>
                <a:cxnLst/>
                <a:rect r="r" b="b" t="t" l="l"/>
                <a:pathLst>
                  <a:path h="1171756" w="436740">
                    <a:moveTo>
                      <a:pt x="126299" y="1004867"/>
                    </a:moveTo>
                    <a:cubicBezTo>
                      <a:pt x="394269" y="1009947"/>
                      <a:pt x="401889" y="1013757"/>
                      <a:pt x="410779" y="1023917"/>
                    </a:cubicBezTo>
                    <a:cubicBezTo>
                      <a:pt x="422209" y="1035347"/>
                      <a:pt x="434909" y="1056937"/>
                      <a:pt x="436179" y="1074717"/>
                    </a:cubicBezTo>
                    <a:cubicBezTo>
                      <a:pt x="438719" y="1092497"/>
                      <a:pt x="432369" y="1115357"/>
                      <a:pt x="422209" y="1129327"/>
                    </a:cubicBezTo>
                    <a:cubicBezTo>
                      <a:pt x="412049" y="1144567"/>
                      <a:pt x="396809" y="1154727"/>
                      <a:pt x="373949" y="1161077"/>
                    </a:cubicBezTo>
                    <a:cubicBezTo>
                      <a:pt x="333309" y="1172507"/>
                      <a:pt x="238059" y="1150917"/>
                      <a:pt x="188529" y="1152187"/>
                    </a:cubicBezTo>
                    <a:cubicBezTo>
                      <a:pt x="154239" y="1153457"/>
                      <a:pt x="114869" y="1175047"/>
                      <a:pt x="102169" y="1162347"/>
                    </a:cubicBezTo>
                    <a:cubicBezTo>
                      <a:pt x="88199" y="1145837"/>
                      <a:pt x="141539" y="1067097"/>
                      <a:pt x="126299" y="1042967"/>
                    </a:cubicBezTo>
                    <a:cubicBezTo>
                      <a:pt x="113599" y="1022647"/>
                      <a:pt x="56449" y="1039157"/>
                      <a:pt x="36129" y="1020107"/>
                    </a:cubicBezTo>
                    <a:cubicBezTo>
                      <a:pt x="15809" y="1001057"/>
                      <a:pt x="11999" y="970577"/>
                      <a:pt x="5649" y="927397"/>
                    </a:cubicBezTo>
                    <a:cubicBezTo>
                      <a:pt x="-8321" y="837227"/>
                      <a:pt x="15809" y="634027"/>
                      <a:pt x="14539" y="501947"/>
                    </a:cubicBezTo>
                    <a:cubicBezTo>
                      <a:pt x="13269" y="385107"/>
                      <a:pt x="-3241" y="256837"/>
                      <a:pt x="569" y="173017"/>
                    </a:cubicBezTo>
                    <a:cubicBezTo>
                      <a:pt x="3109" y="120947"/>
                      <a:pt x="569" y="77767"/>
                      <a:pt x="18349" y="47287"/>
                    </a:cubicBezTo>
                    <a:cubicBezTo>
                      <a:pt x="33589" y="24427"/>
                      <a:pt x="62799" y="2837"/>
                      <a:pt x="86929" y="297"/>
                    </a:cubicBezTo>
                    <a:cubicBezTo>
                      <a:pt x="111059" y="-2243"/>
                      <a:pt x="147889" y="14267"/>
                      <a:pt x="164399" y="30777"/>
                    </a:cubicBezTo>
                    <a:cubicBezTo>
                      <a:pt x="177099" y="43477"/>
                      <a:pt x="185989" y="63797"/>
                      <a:pt x="185989" y="82847"/>
                    </a:cubicBezTo>
                    <a:cubicBezTo>
                      <a:pt x="184719" y="105707"/>
                      <a:pt x="168209" y="142537"/>
                      <a:pt x="151699" y="159047"/>
                    </a:cubicBezTo>
                    <a:cubicBezTo>
                      <a:pt x="137729" y="171747"/>
                      <a:pt x="116139" y="176827"/>
                      <a:pt x="98359" y="176827"/>
                    </a:cubicBezTo>
                    <a:cubicBezTo>
                      <a:pt x="79309" y="176827"/>
                      <a:pt x="57719" y="171747"/>
                      <a:pt x="43749" y="159047"/>
                    </a:cubicBezTo>
                    <a:cubicBezTo>
                      <a:pt x="27239" y="143807"/>
                      <a:pt x="6919" y="109517"/>
                      <a:pt x="8189" y="84117"/>
                    </a:cubicBezTo>
                    <a:cubicBezTo>
                      <a:pt x="9459" y="59987"/>
                      <a:pt x="32319" y="26967"/>
                      <a:pt x="50099" y="12997"/>
                    </a:cubicBezTo>
                    <a:cubicBezTo>
                      <a:pt x="65339" y="1567"/>
                      <a:pt x="88199" y="-973"/>
                      <a:pt x="105979" y="297"/>
                    </a:cubicBezTo>
                    <a:cubicBezTo>
                      <a:pt x="123759" y="1567"/>
                      <a:pt x="144079" y="11727"/>
                      <a:pt x="156779" y="23157"/>
                    </a:cubicBezTo>
                    <a:cubicBezTo>
                      <a:pt x="170749" y="35857"/>
                      <a:pt x="177099" y="44747"/>
                      <a:pt x="184719" y="73957"/>
                    </a:cubicBezTo>
                    <a:cubicBezTo>
                      <a:pt x="212659" y="189527"/>
                      <a:pt x="188529" y="863897"/>
                      <a:pt x="178369" y="1006137"/>
                    </a:cubicBezTo>
                    <a:cubicBezTo>
                      <a:pt x="175829" y="1049317"/>
                      <a:pt x="177099" y="1063287"/>
                      <a:pt x="168209" y="1088687"/>
                    </a:cubicBezTo>
                    <a:cubicBezTo>
                      <a:pt x="158049" y="1114087"/>
                      <a:pt x="144079" y="1149647"/>
                      <a:pt x="121219" y="1157267"/>
                    </a:cubicBezTo>
                    <a:cubicBezTo>
                      <a:pt x="93279" y="1167427"/>
                      <a:pt x="15809" y="1148377"/>
                      <a:pt x="6919" y="1124247"/>
                    </a:cubicBezTo>
                    <a:cubicBezTo>
                      <a:pt x="-3241" y="1097577"/>
                      <a:pt x="50099" y="1015027"/>
                      <a:pt x="98359" y="990897"/>
                    </a:cubicBezTo>
                    <a:cubicBezTo>
                      <a:pt x="160589" y="960417"/>
                      <a:pt x="324419" y="987087"/>
                      <a:pt x="376489" y="1004867"/>
                    </a:cubicBezTo>
                    <a:cubicBezTo>
                      <a:pt x="400619" y="1013757"/>
                      <a:pt x="413319" y="1025187"/>
                      <a:pt x="423479" y="1037887"/>
                    </a:cubicBezTo>
                    <a:cubicBezTo>
                      <a:pt x="431099" y="1049317"/>
                      <a:pt x="436179" y="1060747"/>
                      <a:pt x="436179" y="1074717"/>
                    </a:cubicBezTo>
                    <a:cubicBezTo>
                      <a:pt x="437449" y="1091227"/>
                      <a:pt x="432369" y="1115357"/>
                      <a:pt x="422209" y="1129327"/>
                    </a:cubicBezTo>
                    <a:cubicBezTo>
                      <a:pt x="412049" y="1144567"/>
                      <a:pt x="398079" y="1154727"/>
                      <a:pt x="373949" y="1161077"/>
                    </a:cubicBezTo>
                    <a:cubicBezTo>
                      <a:pt x="323149" y="1176317"/>
                      <a:pt x="160589" y="1175047"/>
                      <a:pt x="109789" y="1158537"/>
                    </a:cubicBezTo>
                    <a:cubicBezTo>
                      <a:pt x="86929" y="1152187"/>
                      <a:pt x="74229" y="1142027"/>
                      <a:pt x="64069" y="1128057"/>
                    </a:cubicBezTo>
                    <a:cubicBezTo>
                      <a:pt x="53909" y="1114087"/>
                      <a:pt x="47559" y="1091227"/>
                      <a:pt x="50099" y="1074717"/>
                    </a:cubicBezTo>
                    <a:cubicBezTo>
                      <a:pt x="51369" y="1056937"/>
                      <a:pt x="62799" y="1036617"/>
                      <a:pt x="75499" y="1025187"/>
                    </a:cubicBezTo>
                    <a:cubicBezTo>
                      <a:pt x="88199" y="1013757"/>
                      <a:pt x="126299" y="1004867"/>
                      <a:pt x="126299" y="1004867"/>
                    </a:cubicBezTo>
                  </a:path>
                </a:pathLst>
              </a:custGeom>
              <a:solidFill>
                <a:srgbClr val="5885D8"/>
              </a:solidFill>
              <a:ln cap="sq">
                <a:noFill/>
                <a:prstDash val="solid"/>
                <a:miter/>
              </a:ln>
            </p:spPr>
          </p:sp>
        </p:grpSp>
        <p:grpSp>
          <p:nvGrpSpPr>
            <p:cNvPr name="Group 26" id="26"/>
            <p:cNvGrpSpPr/>
            <p:nvPr/>
          </p:nvGrpSpPr>
          <p:grpSpPr>
            <a:xfrm rot="0">
              <a:off x="309068" y="288113"/>
              <a:ext cx="1677670" cy="1451610"/>
              <a:chOff x="0" y="0"/>
              <a:chExt cx="1677670" cy="1451610"/>
            </a:xfrm>
          </p:grpSpPr>
          <p:sp>
            <p:nvSpPr>
              <p:cNvPr name="Freeform 27" id="27"/>
              <p:cNvSpPr/>
              <p:nvPr/>
            </p:nvSpPr>
            <p:spPr>
              <a:xfrm flipH="false" flipV="false" rot="0">
                <a:off x="50236" y="50800"/>
                <a:ext cx="1577236" cy="1350340"/>
              </a:xfrm>
              <a:custGeom>
                <a:avLst/>
                <a:gdLst/>
                <a:ahLst/>
                <a:cxnLst/>
                <a:rect r="r" b="b" t="t" l="l"/>
                <a:pathLst>
                  <a:path h="1350340" w="1577236">
                    <a:moveTo>
                      <a:pt x="564" y="233680"/>
                    </a:moveTo>
                    <a:cubicBezTo>
                      <a:pt x="6914" y="209550"/>
                      <a:pt x="9454" y="203200"/>
                      <a:pt x="11994" y="198120"/>
                    </a:cubicBezTo>
                    <a:cubicBezTo>
                      <a:pt x="15804" y="193040"/>
                      <a:pt x="24694" y="184150"/>
                      <a:pt x="24694" y="184150"/>
                    </a:cubicBezTo>
                    <a:cubicBezTo>
                      <a:pt x="24694" y="184150"/>
                      <a:pt x="45014" y="163830"/>
                      <a:pt x="58984" y="151130"/>
                    </a:cubicBezTo>
                    <a:cubicBezTo>
                      <a:pt x="76764" y="133350"/>
                      <a:pt x="99624" y="105410"/>
                      <a:pt x="122484" y="87630"/>
                    </a:cubicBezTo>
                    <a:cubicBezTo>
                      <a:pt x="146614" y="69850"/>
                      <a:pt x="172014" y="54610"/>
                      <a:pt x="201224" y="44450"/>
                    </a:cubicBezTo>
                    <a:cubicBezTo>
                      <a:pt x="230434" y="33020"/>
                      <a:pt x="265994" y="30480"/>
                      <a:pt x="297744" y="25400"/>
                    </a:cubicBezTo>
                    <a:cubicBezTo>
                      <a:pt x="328224" y="21590"/>
                      <a:pt x="357434" y="19050"/>
                      <a:pt x="386644" y="16510"/>
                    </a:cubicBezTo>
                    <a:cubicBezTo>
                      <a:pt x="414584" y="13970"/>
                      <a:pt x="439984" y="13970"/>
                      <a:pt x="469194" y="12700"/>
                    </a:cubicBezTo>
                    <a:cubicBezTo>
                      <a:pt x="503484" y="10160"/>
                      <a:pt x="542854" y="6350"/>
                      <a:pt x="577144" y="3810"/>
                    </a:cubicBezTo>
                    <a:cubicBezTo>
                      <a:pt x="608894" y="2540"/>
                      <a:pt x="638104" y="1270"/>
                      <a:pt x="669854" y="0"/>
                    </a:cubicBezTo>
                    <a:cubicBezTo>
                      <a:pt x="704144" y="0"/>
                      <a:pt x="739704" y="2540"/>
                      <a:pt x="772724" y="3810"/>
                    </a:cubicBezTo>
                    <a:cubicBezTo>
                      <a:pt x="801934" y="5080"/>
                      <a:pt x="828604" y="6350"/>
                      <a:pt x="856544" y="6350"/>
                    </a:cubicBezTo>
                    <a:cubicBezTo>
                      <a:pt x="885754" y="6350"/>
                      <a:pt x="914964" y="6350"/>
                      <a:pt x="942904" y="6350"/>
                    </a:cubicBezTo>
                    <a:cubicBezTo>
                      <a:pt x="970844" y="6350"/>
                      <a:pt x="997514" y="6350"/>
                      <a:pt x="1024184" y="8890"/>
                    </a:cubicBezTo>
                    <a:cubicBezTo>
                      <a:pt x="1050854" y="10160"/>
                      <a:pt x="1077524" y="16510"/>
                      <a:pt x="1105464" y="19050"/>
                    </a:cubicBezTo>
                    <a:cubicBezTo>
                      <a:pt x="1137214" y="21590"/>
                      <a:pt x="1172774" y="20320"/>
                      <a:pt x="1203254" y="24130"/>
                    </a:cubicBezTo>
                    <a:cubicBezTo>
                      <a:pt x="1229924" y="27940"/>
                      <a:pt x="1259134" y="27940"/>
                      <a:pt x="1279454" y="43180"/>
                    </a:cubicBezTo>
                    <a:cubicBezTo>
                      <a:pt x="1302314" y="59690"/>
                      <a:pt x="1321364" y="95250"/>
                      <a:pt x="1328984" y="124460"/>
                    </a:cubicBezTo>
                    <a:cubicBezTo>
                      <a:pt x="1336604" y="153670"/>
                      <a:pt x="1330254" y="187960"/>
                      <a:pt x="1326444" y="218440"/>
                    </a:cubicBezTo>
                    <a:cubicBezTo>
                      <a:pt x="1323904" y="246380"/>
                      <a:pt x="1312474" y="274320"/>
                      <a:pt x="1309934" y="302260"/>
                    </a:cubicBezTo>
                    <a:cubicBezTo>
                      <a:pt x="1308664" y="328930"/>
                      <a:pt x="1301044" y="363220"/>
                      <a:pt x="1313744" y="382270"/>
                    </a:cubicBezTo>
                    <a:cubicBezTo>
                      <a:pt x="1326444" y="401320"/>
                      <a:pt x="1363274" y="401320"/>
                      <a:pt x="1386134" y="415290"/>
                    </a:cubicBezTo>
                    <a:cubicBezTo>
                      <a:pt x="1408994" y="430530"/>
                      <a:pt x="1428044" y="449580"/>
                      <a:pt x="1449634" y="467360"/>
                    </a:cubicBezTo>
                    <a:cubicBezTo>
                      <a:pt x="1469954" y="485140"/>
                      <a:pt x="1494084" y="501650"/>
                      <a:pt x="1513134" y="523240"/>
                    </a:cubicBezTo>
                    <a:cubicBezTo>
                      <a:pt x="1530914" y="544830"/>
                      <a:pt x="1546154" y="570230"/>
                      <a:pt x="1557584" y="596900"/>
                    </a:cubicBezTo>
                    <a:cubicBezTo>
                      <a:pt x="1567744" y="626110"/>
                      <a:pt x="1574094" y="662940"/>
                      <a:pt x="1576634" y="694690"/>
                    </a:cubicBezTo>
                    <a:cubicBezTo>
                      <a:pt x="1577904" y="722630"/>
                      <a:pt x="1577904" y="749300"/>
                      <a:pt x="1569014" y="775970"/>
                    </a:cubicBezTo>
                    <a:cubicBezTo>
                      <a:pt x="1558854" y="803910"/>
                      <a:pt x="1537264" y="835660"/>
                      <a:pt x="1518214" y="858520"/>
                    </a:cubicBezTo>
                    <a:cubicBezTo>
                      <a:pt x="1500434" y="878840"/>
                      <a:pt x="1481384" y="895350"/>
                      <a:pt x="1458524" y="909320"/>
                    </a:cubicBezTo>
                    <a:cubicBezTo>
                      <a:pt x="1431854" y="925830"/>
                      <a:pt x="1387404" y="928370"/>
                      <a:pt x="1365814" y="947420"/>
                    </a:cubicBezTo>
                    <a:cubicBezTo>
                      <a:pt x="1345494" y="963930"/>
                      <a:pt x="1335334" y="989330"/>
                      <a:pt x="1326444" y="1014730"/>
                    </a:cubicBezTo>
                    <a:cubicBezTo>
                      <a:pt x="1317554" y="1040130"/>
                      <a:pt x="1316284" y="1071880"/>
                      <a:pt x="1313744" y="1099820"/>
                    </a:cubicBezTo>
                    <a:cubicBezTo>
                      <a:pt x="1309934" y="1126490"/>
                      <a:pt x="1308664" y="1168400"/>
                      <a:pt x="1308664" y="1177290"/>
                    </a:cubicBezTo>
                    <a:cubicBezTo>
                      <a:pt x="1308664" y="1179830"/>
                      <a:pt x="1307394" y="1181100"/>
                      <a:pt x="1308664" y="1182370"/>
                    </a:cubicBezTo>
                    <a:cubicBezTo>
                      <a:pt x="1309934" y="1183640"/>
                      <a:pt x="1316284" y="1186180"/>
                      <a:pt x="1316284" y="1186180"/>
                    </a:cubicBezTo>
                    <a:cubicBezTo>
                      <a:pt x="1316284" y="1186180"/>
                      <a:pt x="1321364" y="1191260"/>
                      <a:pt x="1323904" y="1193800"/>
                    </a:cubicBezTo>
                    <a:cubicBezTo>
                      <a:pt x="1326444" y="1196340"/>
                      <a:pt x="1331524" y="1201420"/>
                      <a:pt x="1331524" y="1201420"/>
                    </a:cubicBezTo>
                    <a:cubicBezTo>
                      <a:pt x="1331524" y="1202690"/>
                      <a:pt x="1331524" y="1202690"/>
                      <a:pt x="1331524" y="1202690"/>
                    </a:cubicBezTo>
                    <a:cubicBezTo>
                      <a:pt x="1331524" y="1202690"/>
                      <a:pt x="1335334" y="1207770"/>
                      <a:pt x="1336604" y="1211580"/>
                    </a:cubicBezTo>
                    <a:cubicBezTo>
                      <a:pt x="1339144" y="1214120"/>
                      <a:pt x="1342954" y="1220470"/>
                      <a:pt x="1342954" y="1220470"/>
                    </a:cubicBezTo>
                    <a:cubicBezTo>
                      <a:pt x="1342954" y="1220470"/>
                      <a:pt x="1345494" y="1228090"/>
                      <a:pt x="1345494" y="1230630"/>
                    </a:cubicBezTo>
                    <a:cubicBezTo>
                      <a:pt x="1346764" y="1234440"/>
                      <a:pt x="1349304" y="1240790"/>
                      <a:pt x="1349304" y="1242060"/>
                    </a:cubicBezTo>
                    <a:cubicBezTo>
                      <a:pt x="1349304" y="1242060"/>
                      <a:pt x="1349304" y="1248410"/>
                      <a:pt x="1349304" y="1252220"/>
                    </a:cubicBezTo>
                    <a:cubicBezTo>
                      <a:pt x="1350574" y="1256030"/>
                      <a:pt x="1350574" y="1263650"/>
                      <a:pt x="1350574" y="1263650"/>
                    </a:cubicBezTo>
                    <a:cubicBezTo>
                      <a:pt x="1350574" y="1263650"/>
                      <a:pt x="1349304" y="1270000"/>
                      <a:pt x="1348034" y="1273810"/>
                    </a:cubicBezTo>
                    <a:cubicBezTo>
                      <a:pt x="1348034" y="1277620"/>
                      <a:pt x="1346764" y="1285240"/>
                      <a:pt x="1346764" y="1285240"/>
                    </a:cubicBezTo>
                    <a:cubicBezTo>
                      <a:pt x="1346764" y="1285240"/>
                      <a:pt x="1342954" y="1291590"/>
                      <a:pt x="1341684" y="1294130"/>
                    </a:cubicBezTo>
                    <a:cubicBezTo>
                      <a:pt x="1340414" y="1297940"/>
                      <a:pt x="1337874" y="1304290"/>
                      <a:pt x="1337874" y="1304290"/>
                    </a:cubicBezTo>
                    <a:cubicBezTo>
                      <a:pt x="1337874" y="1304290"/>
                      <a:pt x="1332794" y="1310640"/>
                      <a:pt x="1330254" y="1313180"/>
                    </a:cubicBezTo>
                    <a:cubicBezTo>
                      <a:pt x="1328984" y="1315720"/>
                      <a:pt x="1323904" y="1322070"/>
                      <a:pt x="1323904" y="1322070"/>
                    </a:cubicBezTo>
                    <a:cubicBezTo>
                      <a:pt x="1323904" y="1322070"/>
                      <a:pt x="1318824" y="1325880"/>
                      <a:pt x="1315014" y="1328420"/>
                    </a:cubicBezTo>
                    <a:cubicBezTo>
                      <a:pt x="1312474" y="1330960"/>
                      <a:pt x="1307394" y="1334770"/>
                      <a:pt x="1307394" y="1334770"/>
                    </a:cubicBezTo>
                    <a:cubicBezTo>
                      <a:pt x="1307394" y="1334770"/>
                      <a:pt x="1299774" y="1338580"/>
                      <a:pt x="1297234" y="1339850"/>
                    </a:cubicBezTo>
                    <a:cubicBezTo>
                      <a:pt x="1293424" y="1341120"/>
                      <a:pt x="1287074" y="1343660"/>
                      <a:pt x="1287074" y="1343660"/>
                    </a:cubicBezTo>
                    <a:cubicBezTo>
                      <a:pt x="1287074" y="1343660"/>
                      <a:pt x="1279454" y="1344930"/>
                      <a:pt x="1276914" y="1346200"/>
                    </a:cubicBezTo>
                    <a:cubicBezTo>
                      <a:pt x="1273104" y="1346200"/>
                      <a:pt x="1265484" y="1347470"/>
                      <a:pt x="1265484" y="1347470"/>
                    </a:cubicBezTo>
                    <a:cubicBezTo>
                      <a:pt x="1265484" y="1347470"/>
                      <a:pt x="1257864" y="1347470"/>
                      <a:pt x="1255324" y="1347470"/>
                    </a:cubicBezTo>
                    <a:cubicBezTo>
                      <a:pt x="1251514" y="1347470"/>
                      <a:pt x="1243894" y="1346200"/>
                      <a:pt x="1243894" y="1346200"/>
                    </a:cubicBezTo>
                    <a:cubicBezTo>
                      <a:pt x="1243894" y="1346200"/>
                      <a:pt x="1237544" y="1344930"/>
                      <a:pt x="1233734" y="1344930"/>
                    </a:cubicBezTo>
                    <a:cubicBezTo>
                      <a:pt x="1226114" y="1343660"/>
                      <a:pt x="1214684" y="1339850"/>
                      <a:pt x="1205794" y="1339850"/>
                    </a:cubicBezTo>
                    <a:cubicBezTo>
                      <a:pt x="1198174" y="1341120"/>
                      <a:pt x="1194364" y="1343660"/>
                      <a:pt x="1185474" y="1344930"/>
                    </a:cubicBezTo>
                    <a:cubicBezTo>
                      <a:pt x="1165154" y="1348740"/>
                      <a:pt x="1124514" y="1351280"/>
                      <a:pt x="1095304" y="1350010"/>
                    </a:cubicBezTo>
                    <a:cubicBezTo>
                      <a:pt x="1066094" y="1348740"/>
                      <a:pt x="1035614" y="1347470"/>
                      <a:pt x="1010214" y="1337310"/>
                    </a:cubicBezTo>
                    <a:cubicBezTo>
                      <a:pt x="983544" y="1327150"/>
                      <a:pt x="954334" y="1309370"/>
                      <a:pt x="937824" y="1287780"/>
                    </a:cubicBezTo>
                    <a:cubicBezTo>
                      <a:pt x="920044" y="1264920"/>
                      <a:pt x="926394" y="1226820"/>
                      <a:pt x="907344" y="1203960"/>
                    </a:cubicBezTo>
                    <a:cubicBezTo>
                      <a:pt x="888294" y="1177290"/>
                      <a:pt x="847654" y="1156970"/>
                      <a:pt x="817174" y="1141730"/>
                    </a:cubicBezTo>
                    <a:cubicBezTo>
                      <a:pt x="791774" y="1127760"/>
                      <a:pt x="766374" y="1120140"/>
                      <a:pt x="740974" y="1112520"/>
                    </a:cubicBezTo>
                    <a:cubicBezTo>
                      <a:pt x="714304" y="1104900"/>
                      <a:pt x="687634" y="1098550"/>
                      <a:pt x="660964" y="1094740"/>
                    </a:cubicBezTo>
                    <a:cubicBezTo>
                      <a:pt x="634294" y="1090930"/>
                      <a:pt x="607624" y="1087120"/>
                      <a:pt x="582224" y="1087120"/>
                    </a:cubicBezTo>
                    <a:cubicBezTo>
                      <a:pt x="560634" y="1087120"/>
                      <a:pt x="527614" y="1083310"/>
                      <a:pt x="518724" y="1090930"/>
                    </a:cubicBezTo>
                    <a:cubicBezTo>
                      <a:pt x="513644" y="1096010"/>
                      <a:pt x="521264" y="1104900"/>
                      <a:pt x="518724" y="1113790"/>
                    </a:cubicBezTo>
                    <a:cubicBezTo>
                      <a:pt x="512374" y="1132840"/>
                      <a:pt x="481894" y="1164590"/>
                      <a:pt x="460304" y="1187450"/>
                    </a:cubicBezTo>
                    <a:cubicBezTo>
                      <a:pt x="438714" y="1211580"/>
                      <a:pt x="417124" y="1244600"/>
                      <a:pt x="387914" y="1256030"/>
                    </a:cubicBezTo>
                    <a:cubicBezTo>
                      <a:pt x="358704" y="1268730"/>
                      <a:pt x="319334" y="1262380"/>
                      <a:pt x="286314" y="1259840"/>
                    </a:cubicBezTo>
                    <a:cubicBezTo>
                      <a:pt x="254564" y="1257300"/>
                      <a:pt x="221544" y="1250950"/>
                      <a:pt x="193604" y="1238250"/>
                    </a:cubicBezTo>
                    <a:cubicBezTo>
                      <a:pt x="164394" y="1225550"/>
                      <a:pt x="131374" y="1207770"/>
                      <a:pt x="113594" y="1183640"/>
                    </a:cubicBezTo>
                    <a:cubicBezTo>
                      <a:pt x="97084" y="1162050"/>
                      <a:pt x="93274" y="1130300"/>
                      <a:pt x="89464" y="1103630"/>
                    </a:cubicBezTo>
                    <a:cubicBezTo>
                      <a:pt x="85654" y="1076960"/>
                      <a:pt x="88194" y="1054100"/>
                      <a:pt x="89464" y="1026160"/>
                    </a:cubicBezTo>
                    <a:cubicBezTo>
                      <a:pt x="92004" y="994410"/>
                      <a:pt x="95814" y="957580"/>
                      <a:pt x="102164" y="923290"/>
                    </a:cubicBezTo>
                    <a:cubicBezTo>
                      <a:pt x="108514" y="887730"/>
                      <a:pt x="121214" y="852170"/>
                      <a:pt x="128834" y="817880"/>
                    </a:cubicBezTo>
                    <a:cubicBezTo>
                      <a:pt x="135184" y="783590"/>
                      <a:pt x="138994" y="750570"/>
                      <a:pt x="141534" y="717550"/>
                    </a:cubicBezTo>
                    <a:cubicBezTo>
                      <a:pt x="144074" y="687070"/>
                      <a:pt x="146614" y="657860"/>
                      <a:pt x="145344" y="628650"/>
                    </a:cubicBezTo>
                    <a:cubicBezTo>
                      <a:pt x="144074" y="596900"/>
                      <a:pt x="140264" y="563880"/>
                      <a:pt x="133914" y="533400"/>
                    </a:cubicBezTo>
                    <a:cubicBezTo>
                      <a:pt x="127564" y="505460"/>
                      <a:pt x="117404" y="482600"/>
                      <a:pt x="109784" y="454660"/>
                    </a:cubicBezTo>
                    <a:cubicBezTo>
                      <a:pt x="102164" y="424180"/>
                      <a:pt x="90734" y="379730"/>
                      <a:pt x="86924" y="355600"/>
                    </a:cubicBezTo>
                    <a:cubicBezTo>
                      <a:pt x="84384" y="340360"/>
                      <a:pt x="86924" y="320040"/>
                      <a:pt x="84384" y="317500"/>
                    </a:cubicBezTo>
                    <a:cubicBezTo>
                      <a:pt x="83114" y="317500"/>
                      <a:pt x="81844" y="318770"/>
                      <a:pt x="80574" y="318770"/>
                    </a:cubicBezTo>
                    <a:cubicBezTo>
                      <a:pt x="75494" y="318770"/>
                      <a:pt x="67874" y="318770"/>
                      <a:pt x="61524" y="316230"/>
                    </a:cubicBezTo>
                    <a:cubicBezTo>
                      <a:pt x="55174" y="314960"/>
                      <a:pt x="48824" y="313690"/>
                      <a:pt x="43744" y="311150"/>
                    </a:cubicBezTo>
                    <a:cubicBezTo>
                      <a:pt x="37394" y="307340"/>
                      <a:pt x="32314" y="304800"/>
                      <a:pt x="27234" y="300990"/>
                    </a:cubicBezTo>
                    <a:cubicBezTo>
                      <a:pt x="23424" y="295910"/>
                      <a:pt x="18344" y="292100"/>
                      <a:pt x="14534" y="287020"/>
                    </a:cubicBezTo>
                    <a:cubicBezTo>
                      <a:pt x="10724" y="281940"/>
                      <a:pt x="8184" y="275590"/>
                      <a:pt x="5644" y="270510"/>
                    </a:cubicBezTo>
                    <a:cubicBezTo>
                      <a:pt x="3104" y="264160"/>
                      <a:pt x="1834" y="257810"/>
                      <a:pt x="564" y="251460"/>
                    </a:cubicBezTo>
                    <a:cubicBezTo>
                      <a:pt x="-706" y="246380"/>
                      <a:pt x="564" y="233680"/>
                      <a:pt x="564" y="233680"/>
                    </a:cubicBezTo>
                    <a:moveTo>
                      <a:pt x="278694" y="416560"/>
                    </a:moveTo>
                    <a:cubicBezTo>
                      <a:pt x="282504" y="426720"/>
                      <a:pt x="283774" y="420370"/>
                      <a:pt x="283774" y="417830"/>
                    </a:cubicBezTo>
                    <a:cubicBezTo>
                      <a:pt x="282504" y="416560"/>
                      <a:pt x="278694" y="416560"/>
                      <a:pt x="278694" y="416560"/>
                    </a:cubicBezTo>
                    <a:moveTo>
                      <a:pt x="304094" y="514350"/>
                    </a:moveTo>
                    <a:cubicBezTo>
                      <a:pt x="309174" y="530860"/>
                      <a:pt x="316794" y="527050"/>
                      <a:pt x="316794" y="525780"/>
                    </a:cubicBezTo>
                    <a:cubicBezTo>
                      <a:pt x="318064" y="521970"/>
                      <a:pt x="304094" y="514350"/>
                      <a:pt x="304094" y="514350"/>
                    </a:cubicBezTo>
                  </a:path>
                </a:pathLst>
              </a:custGeom>
              <a:solidFill>
                <a:srgbClr val="5885D8"/>
              </a:solidFill>
              <a:ln cap="sq">
                <a:noFill/>
                <a:prstDash val="solid"/>
                <a:miter/>
              </a:ln>
            </p:spPr>
          </p:sp>
        </p:grpSp>
        <p:grpSp>
          <p:nvGrpSpPr>
            <p:cNvPr name="Group 28" id="28"/>
            <p:cNvGrpSpPr/>
            <p:nvPr/>
          </p:nvGrpSpPr>
          <p:grpSpPr>
            <a:xfrm rot="0">
              <a:off x="448768" y="523063"/>
              <a:ext cx="425450" cy="541020"/>
              <a:chOff x="0" y="0"/>
              <a:chExt cx="425450" cy="541020"/>
            </a:xfrm>
          </p:grpSpPr>
          <p:sp>
            <p:nvSpPr>
              <p:cNvPr name="Freeform 29" id="29"/>
              <p:cNvSpPr/>
              <p:nvPr/>
            </p:nvSpPr>
            <p:spPr>
              <a:xfrm flipH="false" flipV="false" rot="0">
                <a:off x="49468" y="50329"/>
                <a:ext cx="324191" cy="439891"/>
              </a:xfrm>
              <a:custGeom>
                <a:avLst/>
                <a:gdLst/>
                <a:ahLst/>
                <a:cxnLst/>
                <a:rect r="r" b="b" t="t" l="l"/>
                <a:pathLst>
                  <a:path h="439891" w="324191">
                    <a:moveTo>
                      <a:pt x="198182" y="236691"/>
                    </a:moveTo>
                    <a:cubicBezTo>
                      <a:pt x="114362" y="212561"/>
                      <a:pt x="91502" y="198591"/>
                      <a:pt x="71182" y="182081"/>
                    </a:cubicBezTo>
                    <a:cubicBezTo>
                      <a:pt x="48322" y="164301"/>
                      <a:pt x="19112" y="142711"/>
                      <a:pt x="8952" y="118581"/>
                    </a:cubicBezTo>
                    <a:cubicBezTo>
                      <a:pt x="62" y="96991"/>
                      <a:pt x="-2478" y="63971"/>
                      <a:pt x="7682" y="44921"/>
                    </a:cubicBezTo>
                    <a:cubicBezTo>
                      <a:pt x="17842" y="24601"/>
                      <a:pt x="45782" y="4281"/>
                      <a:pt x="67372" y="471"/>
                    </a:cubicBezTo>
                    <a:cubicBezTo>
                      <a:pt x="88962" y="-2069"/>
                      <a:pt x="115632" y="5551"/>
                      <a:pt x="137222" y="25871"/>
                    </a:cubicBezTo>
                    <a:cubicBezTo>
                      <a:pt x="181672" y="67781"/>
                      <a:pt x="264222" y="293841"/>
                      <a:pt x="252792" y="301461"/>
                    </a:cubicBezTo>
                    <a:cubicBezTo>
                      <a:pt x="247712" y="305271"/>
                      <a:pt x="209612" y="273521"/>
                      <a:pt x="210882" y="268441"/>
                    </a:cubicBezTo>
                    <a:cubicBezTo>
                      <a:pt x="213422" y="262091"/>
                      <a:pt x="269302" y="264631"/>
                      <a:pt x="288352" y="277331"/>
                    </a:cubicBezTo>
                    <a:cubicBezTo>
                      <a:pt x="307402" y="290031"/>
                      <a:pt x="323912" y="323051"/>
                      <a:pt x="323912" y="345911"/>
                    </a:cubicBezTo>
                    <a:cubicBezTo>
                      <a:pt x="323912" y="368771"/>
                      <a:pt x="306132" y="401791"/>
                      <a:pt x="287082" y="414491"/>
                    </a:cubicBezTo>
                    <a:cubicBezTo>
                      <a:pt x="268032" y="427191"/>
                      <a:pt x="231202" y="431001"/>
                      <a:pt x="209612" y="422111"/>
                    </a:cubicBezTo>
                    <a:cubicBezTo>
                      <a:pt x="189292" y="413221"/>
                      <a:pt x="165162" y="385281"/>
                      <a:pt x="160082" y="362421"/>
                    </a:cubicBezTo>
                    <a:cubicBezTo>
                      <a:pt x="155002" y="339561"/>
                      <a:pt x="167702" y="304001"/>
                      <a:pt x="181672" y="287491"/>
                    </a:cubicBezTo>
                    <a:cubicBezTo>
                      <a:pt x="193102" y="274791"/>
                      <a:pt x="212152" y="265901"/>
                      <a:pt x="228662" y="263361"/>
                    </a:cubicBezTo>
                    <a:cubicBezTo>
                      <a:pt x="245172" y="260821"/>
                      <a:pt x="265492" y="263361"/>
                      <a:pt x="280732" y="272251"/>
                    </a:cubicBezTo>
                    <a:cubicBezTo>
                      <a:pt x="298512" y="283681"/>
                      <a:pt x="321372" y="314161"/>
                      <a:pt x="323912" y="337021"/>
                    </a:cubicBezTo>
                    <a:cubicBezTo>
                      <a:pt x="326452" y="359881"/>
                      <a:pt x="311212" y="391631"/>
                      <a:pt x="294702" y="409411"/>
                    </a:cubicBezTo>
                    <a:cubicBezTo>
                      <a:pt x="275652" y="427191"/>
                      <a:pt x="241362" y="439891"/>
                      <a:pt x="213422" y="439891"/>
                    </a:cubicBezTo>
                    <a:cubicBezTo>
                      <a:pt x="184212" y="439891"/>
                      <a:pt x="149922" y="427191"/>
                      <a:pt x="123252" y="404331"/>
                    </a:cubicBezTo>
                    <a:cubicBezTo>
                      <a:pt x="87692" y="371311"/>
                      <a:pt x="61022" y="297651"/>
                      <a:pt x="40702" y="240501"/>
                    </a:cubicBezTo>
                    <a:cubicBezTo>
                      <a:pt x="20382" y="184621"/>
                      <a:pt x="-6288" y="102071"/>
                      <a:pt x="1332" y="62701"/>
                    </a:cubicBezTo>
                    <a:cubicBezTo>
                      <a:pt x="5142" y="41111"/>
                      <a:pt x="16572" y="24601"/>
                      <a:pt x="31812" y="15711"/>
                    </a:cubicBezTo>
                    <a:cubicBezTo>
                      <a:pt x="49592" y="4281"/>
                      <a:pt x="82612" y="-2069"/>
                      <a:pt x="105472" y="5551"/>
                    </a:cubicBezTo>
                    <a:cubicBezTo>
                      <a:pt x="132142" y="13171"/>
                      <a:pt x="151192" y="56351"/>
                      <a:pt x="176592" y="71591"/>
                    </a:cubicBezTo>
                    <a:cubicBezTo>
                      <a:pt x="200722" y="84291"/>
                      <a:pt x="232472" y="79211"/>
                      <a:pt x="252792" y="91911"/>
                    </a:cubicBezTo>
                    <a:cubicBezTo>
                      <a:pt x="269302" y="102071"/>
                      <a:pt x="283272" y="118581"/>
                      <a:pt x="289622" y="132551"/>
                    </a:cubicBezTo>
                    <a:cubicBezTo>
                      <a:pt x="294702" y="145251"/>
                      <a:pt x="295972" y="156681"/>
                      <a:pt x="294702" y="169381"/>
                    </a:cubicBezTo>
                    <a:cubicBezTo>
                      <a:pt x="290892" y="185891"/>
                      <a:pt x="283272" y="207481"/>
                      <a:pt x="269302" y="218911"/>
                    </a:cubicBezTo>
                    <a:cubicBezTo>
                      <a:pt x="252792" y="231611"/>
                      <a:pt x="198182" y="236691"/>
                      <a:pt x="198182" y="236691"/>
                    </a:cubicBezTo>
                  </a:path>
                </a:pathLst>
              </a:custGeom>
              <a:solidFill>
                <a:srgbClr val="5885D8"/>
              </a:solidFill>
              <a:ln cap="sq">
                <a:noFill/>
                <a:prstDash val="solid"/>
                <a:miter/>
              </a:ln>
            </p:spPr>
          </p:sp>
        </p:grpSp>
        <p:grpSp>
          <p:nvGrpSpPr>
            <p:cNvPr name="Group 30" id="30"/>
            <p:cNvGrpSpPr/>
            <p:nvPr/>
          </p:nvGrpSpPr>
          <p:grpSpPr>
            <a:xfrm rot="0">
              <a:off x="1402538" y="1616533"/>
              <a:ext cx="1659890" cy="1461770"/>
              <a:chOff x="0" y="0"/>
              <a:chExt cx="1659890" cy="1461770"/>
            </a:xfrm>
          </p:grpSpPr>
          <p:sp>
            <p:nvSpPr>
              <p:cNvPr name="Freeform 31" id="31"/>
              <p:cNvSpPr/>
              <p:nvPr/>
            </p:nvSpPr>
            <p:spPr>
              <a:xfrm flipH="false" flipV="false" rot="0">
                <a:off x="48603" y="49040"/>
                <a:ext cx="1559535" cy="1361930"/>
              </a:xfrm>
              <a:custGeom>
                <a:avLst/>
                <a:gdLst/>
                <a:ahLst/>
                <a:cxnLst/>
                <a:rect r="r" b="b" t="t" l="l"/>
                <a:pathLst>
                  <a:path h="1361930" w="1559535">
                    <a:moveTo>
                      <a:pt x="2197" y="659620"/>
                    </a:moveTo>
                    <a:cubicBezTo>
                      <a:pt x="41567" y="629140"/>
                      <a:pt x="25057" y="610090"/>
                      <a:pt x="27597" y="592310"/>
                    </a:cubicBezTo>
                    <a:cubicBezTo>
                      <a:pt x="31407" y="569450"/>
                      <a:pt x="52997" y="535160"/>
                      <a:pt x="72047" y="513570"/>
                    </a:cubicBezTo>
                    <a:cubicBezTo>
                      <a:pt x="89827" y="493250"/>
                      <a:pt x="111417" y="478010"/>
                      <a:pt x="134277" y="466580"/>
                    </a:cubicBezTo>
                    <a:cubicBezTo>
                      <a:pt x="158407" y="455150"/>
                      <a:pt x="195237" y="447530"/>
                      <a:pt x="213017" y="446260"/>
                    </a:cubicBezTo>
                    <a:cubicBezTo>
                      <a:pt x="221907" y="446260"/>
                      <a:pt x="229527" y="453880"/>
                      <a:pt x="233337" y="450070"/>
                    </a:cubicBezTo>
                    <a:cubicBezTo>
                      <a:pt x="242227" y="442450"/>
                      <a:pt x="228257" y="394190"/>
                      <a:pt x="232067" y="367520"/>
                    </a:cubicBezTo>
                    <a:cubicBezTo>
                      <a:pt x="234607" y="342120"/>
                      <a:pt x="247307" y="306560"/>
                      <a:pt x="253657" y="292590"/>
                    </a:cubicBezTo>
                    <a:cubicBezTo>
                      <a:pt x="256197" y="286240"/>
                      <a:pt x="258737" y="287510"/>
                      <a:pt x="260007" y="281160"/>
                    </a:cubicBezTo>
                    <a:cubicBezTo>
                      <a:pt x="263817" y="265920"/>
                      <a:pt x="253657" y="222740"/>
                      <a:pt x="251117" y="193530"/>
                    </a:cubicBezTo>
                    <a:cubicBezTo>
                      <a:pt x="249847" y="164320"/>
                      <a:pt x="248577" y="122410"/>
                      <a:pt x="249847" y="104630"/>
                    </a:cubicBezTo>
                    <a:cubicBezTo>
                      <a:pt x="249847" y="95740"/>
                      <a:pt x="249847" y="91930"/>
                      <a:pt x="251117" y="85580"/>
                    </a:cubicBezTo>
                    <a:cubicBezTo>
                      <a:pt x="252387" y="79230"/>
                      <a:pt x="254927" y="74150"/>
                      <a:pt x="257467" y="67800"/>
                    </a:cubicBezTo>
                    <a:cubicBezTo>
                      <a:pt x="261277" y="62720"/>
                      <a:pt x="263817" y="57640"/>
                      <a:pt x="268897" y="52560"/>
                    </a:cubicBezTo>
                    <a:cubicBezTo>
                      <a:pt x="272707" y="47480"/>
                      <a:pt x="277787" y="43670"/>
                      <a:pt x="282867" y="39860"/>
                    </a:cubicBezTo>
                    <a:cubicBezTo>
                      <a:pt x="287947" y="36050"/>
                      <a:pt x="293027" y="33510"/>
                      <a:pt x="299377" y="30970"/>
                    </a:cubicBezTo>
                    <a:cubicBezTo>
                      <a:pt x="304457" y="28430"/>
                      <a:pt x="310807" y="27160"/>
                      <a:pt x="317157" y="25890"/>
                    </a:cubicBezTo>
                    <a:cubicBezTo>
                      <a:pt x="323507" y="25890"/>
                      <a:pt x="329857" y="25890"/>
                      <a:pt x="336207" y="25890"/>
                    </a:cubicBezTo>
                    <a:cubicBezTo>
                      <a:pt x="341287" y="27160"/>
                      <a:pt x="347637" y="28430"/>
                      <a:pt x="353987" y="30970"/>
                    </a:cubicBezTo>
                    <a:cubicBezTo>
                      <a:pt x="360337" y="32240"/>
                      <a:pt x="365417" y="36050"/>
                      <a:pt x="370497" y="38590"/>
                    </a:cubicBezTo>
                    <a:cubicBezTo>
                      <a:pt x="375577" y="42400"/>
                      <a:pt x="380657" y="46210"/>
                      <a:pt x="384467" y="51290"/>
                    </a:cubicBezTo>
                    <a:cubicBezTo>
                      <a:pt x="389547" y="56370"/>
                      <a:pt x="393357" y="62720"/>
                      <a:pt x="395897" y="66530"/>
                    </a:cubicBezTo>
                    <a:cubicBezTo>
                      <a:pt x="397167" y="69070"/>
                      <a:pt x="395897" y="71610"/>
                      <a:pt x="398437" y="71610"/>
                    </a:cubicBezTo>
                    <a:cubicBezTo>
                      <a:pt x="400977" y="72880"/>
                      <a:pt x="408597" y="66530"/>
                      <a:pt x="413677" y="65260"/>
                    </a:cubicBezTo>
                    <a:cubicBezTo>
                      <a:pt x="417487" y="63990"/>
                      <a:pt x="421297" y="66530"/>
                      <a:pt x="426377" y="63990"/>
                    </a:cubicBezTo>
                    <a:cubicBezTo>
                      <a:pt x="433997" y="61450"/>
                      <a:pt x="440347" y="46210"/>
                      <a:pt x="454317" y="41130"/>
                    </a:cubicBezTo>
                    <a:cubicBezTo>
                      <a:pt x="477177" y="33510"/>
                      <a:pt x="543217" y="30970"/>
                      <a:pt x="560997" y="41130"/>
                    </a:cubicBezTo>
                    <a:cubicBezTo>
                      <a:pt x="568617" y="44940"/>
                      <a:pt x="566077" y="57640"/>
                      <a:pt x="572427" y="61450"/>
                    </a:cubicBezTo>
                    <a:cubicBezTo>
                      <a:pt x="581317" y="66530"/>
                      <a:pt x="601637" y="56370"/>
                      <a:pt x="615607" y="62720"/>
                    </a:cubicBezTo>
                    <a:cubicBezTo>
                      <a:pt x="635927" y="71610"/>
                      <a:pt x="658787" y="107170"/>
                      <a:pt x="676567" y="130030"/>
                    </a:cubicBezTo>
                    <a:cubicBezTo>
                      <a:pt x="691807" y="152890"/>
                      <a:pt x="696887" y="180830"/>
                      <a:pt x="715937" y="198610"/>
                    </a:cubicBezTo>
                    <a:cubicBezTo>
                      <a:pt x="733717" y="216390"/>
                      <a:pt x="761657" y="227820"/>
                      <a:pt x="787057" y="236710"/>
                    </a:cubicBezTo>
                    <a:cubicBezTo>
                      <a:pt x="812457" y="245600"/>
                      <a:pt x="841667" y="251950"/>
                      <a:pt x="868337" y="250680"/>
                    </a:cubicBezTo>
                    <a:cubicBezTo>
                      <a:pt x="893737" y="249410"/>
                      <a:pt x="921677" y="240520"/>
                      <a:pt x="944537" y="227820"/>
                    </a:cubicBezTo>
                    <a:cubicBezTo>
                      <a:pt x="967397" y="215120"/>
                      <a:pt x="983907" y="190990"/>
                      <a:pt x="1004227" y="175750"/>
                    </a:cubicBezTo>
                    <a:cubicBezTo>
                      <a:pt x="1025817" y="159240"/>
                      <a:pt x="1048677" y="147810"/>
                      <a:pt x="1070267" y="132570"/>
                    </a:cubicBezTo>
                    <a:cubicBezTo>
                      <a:pt x="1091857" y="118600"/>
                      <a:pt x="1113447" y="103360"/>
                      <a:pt x="1133767" y="88120"/>
                    </a:cubicBezTo>
                    <a:cubicBezTo>
                      <a:pt x="1155357" y="72880"/>
                      <a:pt x="1173137" y="52560"/>
                      <a:pt x="1195997" y="39860"/>
                    </a:cubicBezTo>
                    <a:cubicBezTo>
                      <a:pt x="1220127" y="27160"/>
                      <a:pt x="1245527" y="18270"/>
                      <a:pt x="1272197" y="11920"/>
                    </a:cubicBezTo>
                    <a:cubicBezTo>
                      <a:pt x="1300137" y="5570"/>
                      <a:pt x="1329347" y="3030"/>
                      <a:pt x="1357287" y="1760"/>
                    </a:cubicBezTo>
                    <a:cubicBezTo>
                      <a:pt x="1386497" y="490"/>
                      <a:pt x="1415707" y="-3320"/>
                      <a:pt x="1442377" y="6840"/>
                    </a:cubicBezTo>
                    <a:cubicBezTo>
                      <a:pt x="1470317" y="19540"/>
                      <a:pt x="1505877" y="48750"/>
                      <a:pt x="1521117" y="76690"/>
                    </a:cubicBezTo>
                    <a:cubicBezTo>
                      <a:pt x="1535087" y="100820"/>
                      <a:pt x="1530007" y="133840"/>
                      <a:pt x="1532547" y="163050"/>
                    </a:cubicBezTo>
                    <a:cubicBezTo>
                      <a:pt x="1535087" y="190990"/>
                      <a:pt x="1535087" y="217660"/>
                      <a:pt x="1536357" y="245600"/>
                    </a:cubicBezTo>
                    <a:cubicBezTo>
                      <a:pt x="1536357" y="273540"/>
                      <a:pt x="1538897" y="304020"/>
                      <a:pt x="1538897" y="331960"/>
                    </a:cubicBezTo>
                    <a:cubicBezTo>
                      <a:pt x="1538897" y="358630"/>
                      <a:pt x="1538897" y="384030"/>
                      <a:pt x="1537627" y="410700"/>
                    </a:cubicBezTo>
                    <a:cubicBezTo>
                      <a:pt x="1536357" y="438640"/>
                      <a:pt x="1532547" y="472930"/>
                      <a:pt x="1530007" y="495790"/>
                    </a:cubicBezTo>
                    <a:cubicBezTo>
                      <a:pt x="1527467" y="512300"/>
                      <a:pt x="1519847" y="532620"/>
                      <a:pt x="1522387" y="537700"/>
                    </a:cubicBezTo>
                    <a:cubicBezTo>
                      <a:pt x="1523657" y="538970"/>
                      <a:pt x="1526197" y="538970"/>
                      <a:pt x="1526197" y="538970"/>
                    </a:cubicBezTo>
                    <a:cubicBezTo>
                      <a:pt x="1526197" y="540240"/>
                      <a:pt x="1530007" y="545320"/>
                      <a:pt x="1532547" y="547860"/>
                    </a:cubicBezTo>
                    <a:cubicBezTo>
                      <a:pt x="1535087" y="550400"/>
                      <a:pt x="1540167" y="555480"/>
                      <a:pt x="1540167" y="555480"/>
                    </a:cubicBezTo>
                    <a:cubicBezTo>
                      <a:pt x="1540167" y="555480"/>
                      <a:pt x="1542707" y="561830"/>
                      <a:pt x="1545247" y="565640"/>
                    </a:cubicBezTo>
                    <a:cubicBezTo>
                      <a:pt x="1546517" y="568180"/>
                      <a:pt x="1550327" y="574530"/>
                      <a:pt x="1550327" y="574530"/>
                    </a:cubicBezTo>
                    <a:cubicBezTo>
                      <a:pt x="1550327" y="575800"/>
                      <a:pt x="1551597" y="582150"/>
                      <a:pt x="1552867" y="585960"/>
                    </a:cubicBezTo>
                    <a:cubicBezTo>
                      <a:pt x="1552867" y="588500"/>
                      <a:pt x="1554137" y="596120"/>
                      <a:pt x="1554137" y="596120"/>
                    </a:cubicBezTo>
                    <a:cubicBezTo>
                      <a:pt x="1555407" y="597390"/>
                      <a:pt x="1555407" y="615170"/>
                      <a:pt x="1555407" y="622790"/>
                    </a:cubicBezTo>
                    <a:cubicBezTo>
                      <a:pt x="1555407" y="630410"/>
                      <a:pt x="1555407" y="632950"/>
                      <a:pt x="1555407" y="641840"/>
                    </a:cubicBezTo>
                    <a:cubicBezTo>
                      <a:pt x="1555407" y="657080"/>
                      <a:pt x="1557947" y="696450"/>
                      <a:pt x="1556677" y="711690"/>
                    </a:cubicBezTo>
                    <a:cubicBezTo>
                      <a:pt x="1556677" y="716770"/>
                      <a:pt x="1556677" y="718040"/>
                      <a:pt x="1556677" y="724390"/>
                    </a:cubicBezTo>
                    <a:cubicBezTo>
                      <a:pt x="1556677" y="738360"/>
                      <a:pt x="1559217" y="765030"/>
                      <a:pt x="1559217" y="789160"/>
                    </a:cubicBezTo>
                    <a:cubicBezTo>
                      <a:pt x="1559217" y="815830"/>
                      <a:pt x="1560487" y="857740"/>
                      <a:pt x="1557947" y="879330"/>
                    </a:cubicBezTo>
                    <a:cubicBezTo>
                      <a:pt x="1556677" y="893300"/>
                      <a:pt x="1552867" y="900920"/>
                      <a:pt x="1552867" y="911080"/>
                    </a:cubicBezTo>
                    <a:cubicBezTo>
                      <a:pt x="1551597" y="922510"/>
                      <a:pt x="1552867" y="930130"/>
                      <a:pt x="1552867" y="942830"/>
                    </a:cubicBezTo>
                    <a:cubicBezTo>
                      <a:pt x="1552867" y="963150"/>
                      <a:pt x="1559217" y="993630"/>
                      <a:pt x="1555407" y="1019030"/>
                    </a:cubicBezTo>
                    <a:cubicBezTo>
                      <a:pt x="1551597" y="1045700"/>
                      <a:pt x="1541437" y="1071100"/>
                      <a:pt x="1530007" y="1097770"/>
                    </a:cubicBezTo>
                    <a:cubicBezTo>
                      <a:pt x="1517307" y="1124440"/>
                      <a:pt x="1498257" y="1158730"/>
                      <a:pt x="1481747" y="1177780"/>
                    </a:cubicBezTo>
                    <a:cubicBezTo>
                      <a:pt x="1470317" y="1190480"/>
                      <a:pt x="1449997" y="1203180"/>
                      <a:pt x="1448727" y="1205720"/>
                    </a:cubicBezTo>
                    <a:cubicBezTo>
                      <a:pt x="1448727" y="1206990"/>
                      <a:pt x="1447457" y="1206990"/>
                      <a:pt x="1446187" y="1206990"/>
                    </a:cubicBezTo>
                    <a:cubicBezTo>
                      <a:pt x="1442377" y="1210800"/>
                      <a:pt x="1428407" y="1222230"/>
                      <a:pt x="1416977" y="1232390"/>
                    </a:cubicBezTo>
                    <a:cubicBezTo>
                      <a:pt x="1399197" y="1247630"/>
                      <a:pt x="1375067" y="1275570"/>
                      <a:pt x="1349667" y="1290810"/>
                    </a:cubicBezTo>
                    <a:cubicBezTo>
                      <a:pt x="1324267" y="1307320"/>
                      <a:pt x="1292517" y="1317480"/>
                      <a:pt x="1262037" y="1326370"/>
                    </a:cubicBezTo>
                    <a:cubicBezTo>
                      <a:pt x="1229017" y="1335260"/>
                      <a:pt x="1188377" y="1339070"/>
                      <a:pt x="1156627" y="1344150"/>
                    </a:cubicBezTo>
                    <a:cubicBezTo>
                      <a:pt x="1128687" y="1347960"/>
                      <a:pt x="1104557" y="1353040"/>
                      <a:pt x="1079157" y="1355580"/>
                    </a:cubicBezTo>
                    <a:cubicBezTo>
                      <a:pt x="1053757" y="1358120"/>
                      <a:pt x="1028357" y="1359390"/>
                      <a:pt x="1001687" y="1360660"/>
                    </a:cubicBezTo>
                    <a:cubicBezTo>
                      <a:pt x="972477" y="1361930"/>
                      <a:pt x="944537" y="1361930"/>
                      <a:pt x="912787" y="1361930"/>
                    </a:cubicBezTo>
                    <a:cubicBezTo>
                      <a:pt x="877227" y="1361930"/>
                      <a:pt x="835317" y="1361930"/>
                      <a:pt x="799757" y="1361930"/>
                    </a:cubicBezTo>
                    <a:cubicBezTo>
                      <a:pt x="765467" y="1361930"/>
                      <a:pt x="733717" y="1361930"/>
                      <a:pt x="701967" y="1361930"/>
                    </a:cubicBezTo>
                    <a:cubicBezTo>
                      <a:pt x="672757" y="1361930"/>
                      <a:pt x="644817" y="1361930"/>
                      <a:pt x="616877" y="1361930"/>
                    </a:cubicBezTo>
                    <a:cubicBezTo>
                      <a:pt x="588937" y="1361930"/>
                      <a:pt x="563537" y="1361930"/>
                      <a:pt x="535597" y="1361930"/>
                    </a:cubicBezTo>
                    <a:cubicBezTo>
                      <a:pt x="506387" y="1360660"/>
                      <a:pt x="470827" y="1360660"/>
                      <a:pt x="444157" y="1356850"/>
                    </a:cubicBezTo>
                    <a:cubicBezTo>
                      <a:pt x="421297" y="1353040"/>
                      <a:pt x="394627" y="1339070"/>
                      <a:pt x="384467" y="1340340"/>
                    </a:cubicBezTo>
                    <a:cubicBezTo>
                      <a:pt x="379387" y="1341610"/>
                      <a:pt x="375577" y="1346690"/>
                      <a:pt x="375577" y="1346690"/>
                    </a:cubicBezTo>
                    <a:cubicBezTo>
                      <a:pt x="375577" y="1346690"/>
                      <a:pt x="369227" y="1347960"/>
                      <a:pt x="365417" y="1349230"/>
                    </a:cubicBezTo>
                    <a:cubicBezTo>
                      <a:pt x="361607" y="1350500"/>
                      <a:pt x="355257" y="1353040"/>
                      <a:pt x="355257" y="1353040"/>
                    </a:cubicBezTo>
                    <a:cubicBezTo>
                      <a:pt x="355257" y="1353040"/>
                      <a:pt x="347637" y="1354310"/>
                      <a:pt x="345097" y="1354310"/>
                    </a:cubicBezTo>
                    <a:cubicBezTo>
                      <a:pt x="341287" y="1354310"/>
                      <a:pt x="333667" y="1355580"/>
                      <a:pt x="333667" y="1355580"/>
                    </a:cubicBezTo>
                    <a:cubicBezTo>
                      <a:pt x="333667" y="1355580"/>
                      <a:pt x="327317" y="1354310"/>
                      <a:pt x="323507" y="1354310"/>
                    </a:cubicBezTo>
                    <a:cubicBezTo>
                      <a:pt x="319697" y="1353040"/>
                      <a:pt x="313347" y="1353040"/>
                      <a:pt x="313347" y="1353040"/>
                    </a:cubicBezTo>
                    <a:cubicBezTo>
                      <a:pt x="313347" y="1351770"/>
                      <a:pt x="305727" y="1349230"/>
                      <a:pt x="303187" y="1347960"/>
                    </a:cubicBezTo>
                    <a:cubicBezTo>
                      <a:pt x="299377" y="1346690"/>
                      <a:pt x="293027" y="1344150"/>
                      <a:pt x="293027" y="1344150"/>
                    </a:cubicBezTo>
                    <a:cubicBezTo>
                      <a:pt x="293027" y="1344150"/>
                      <a:pt x="286677" y="1340340"/>
                      <a:pt x="284137" y="1337800"/>
                    </a:cubicBezTo>
                    <a:cubicBezTo>
                      <a:pt x="281597" y="1336530"/>
                      <a:pt x="275247" y="1331450"/>
                      <a:pt x="275247" y="1331450"/>
                    </a:cubicBezTo>
                    <a:cubicBezTo>
                      <a:pt x="275247" y="1331450"/>
                      <a:pt x="271437" y="1326370"/>
                      <a:pt x="268897" y="1323830"/>
                    </a:cubicBezTo>
                    <a:cubicBezTo>
                      <a:pt x="266357" y="1321290"/>
                      <a:pt x="261277" y="1316210"/>
                      <a:pt x="261277" y="1316210"/>
                    </a:cubicBezTo>
                    <a:cubicBezTo>
                      <a:pt x="261277" y="1314940"/>
                      <a:pt x="258737" y="1309860"/>
                      <a:pt x="257467" y="1306050"/>
                    </a:cubicBezTo>
                    <a:cubicBezTo>
                      <a:pt x="254927" y="1303510"/>
                      <a:pt x="252387" y="1297160"/>
                      <a:pt x="252387" y="1295890"/>
                    </a:cubicBezTo>
                    <a:cubicBezTo>
                      <a:pt x="252387" y="1295890"/>
                      <a:pt x="251117" y="1289540"/>
                      <a:pt x="249847" y="1285730"/>
                    </a:cubicBezTo>
                    <a:cubicBezTo>
                      <a:pt x="248577" y="1283190"/>
                      <a:pt x="247307" y="1275570"/>
                      <a:pt x="247307" y="1275570"/>
                    </a:cubicBezTo>
                    <a:cubicBezTo>
                      <a:pt x="247307" y="1275570"/>
                      <a:pt x="247307" y="1267950"/>
                      <a:pt x="247307" y="1265410"/>
                    </a:cubicBezTo>
                    <a:cubicBezTo>
                      <a:pt x="247307" y="1261600"/>
                      <a:pt x="248577" y="1253980"/>
                      <a:pt x="248577" y="1253980"/>
                    </a:cubicBezTo>
                    <a:cubicBezTo>
                      <a:pt x="248577" y="1253980"/>
                      <a:pt x="249847" y="1247630"/>
                      <a:pt x="251117" y="1243820"/>
                    </a:cubicBezTo>
                    <a:cubicBezTo>
                      <a:pt x="251117" y="1241280"/>
                      <a:pt x="253657" y="1237470"/>
                      <a:pt x="253657" y="1234930"/>
                    </a:cubicBezTo>
                    <a:cubicBezTo>
                      <a:pt x="252387" y="1232390"/>
                      <a:pt x="247307" y="1231120"/>
                      <a:pt x="243497" y="1226040"/>
                    </a:cubicBezTo>
                    <a:cubicBezTo>
                      <a:pt x="235877" y="1210800"/>
                      <a:pt x="223177" y="1165080"/>
                      <a:pt x="219367" y="1133330"/>
                    </a:cubicBezTo>
                    <a:cubicBezTo>
                      <a:pt x="215557" y="1102850"/>
                      <a:pt x="219367" y="1072370"/>
                      <a:pt x="218097" y="1041890"/>
                    </a:cubicBezTo>
                    <a:cubicBezTo>
                      <a:pt x="216827" y="1013950"/>
                      <a:pt x="213017" y="975850"/>
                      <a:pt x="213017" y="956800"/>
                    </a:cubicBezTo>
                    <a:cubicBezTo>
                      <a:pt x="213017" y="947910"/>
                      <a:pt x="218097" y="942830"/>
                      <a:pt x="214287" y="937750"/>
                    </a:cubicBezTo>
                    <a:cubicBezTo>
                      <a:pt x="206667" y="927590"/>
                      <a:pt x="168567" y="935210"/>
                      <a:pt x="146977" y="925050"/>
                    </a:cubicBezTo>
                    <a:cubicBezTo>
                      <a:pt x="120307" y="912350"/>
                      <a:pt x="78397" y="884410"/>
                      <a:pt x="68237" y="864090"/>
                    </a:cubicBezTo>
                    <a:cubicBezTo>
                      <a:pt x="63157" y="852660"/>
                      <a:pt x="73317" y="836150"/>
                      <a:pt x="69507" y="828530"/>
                    </a:cubicBezTo>
                    <a:cubicBezTo>
                      <a:pt x="65697" y="822180"/>
                      <a:pt x="55537" y="824720"/>
                      <a:pt x="47917" y="818370"/>
                    </a:cubicBezTo>
                    <a:cubicBezTo>
                      <a:pt x="33947" y="805670"/>
                      <a:pt x="12357" y="775190"/>
                      <a:pt x="4737" y="749790"/>
                    </a:cubicBezTo>
                    <a:cubicBezTo>
                      <a:pt x="-4153" y="723120"/>
                      <a:pt x="2197" y="659620"/>
                      <a:pt x="2197" y="659620"/>
                    </a:cubicBezTo>
                    <a:moveTo>
                      <a:pt x="1371257" y="185910"/>
                    </a:moveTo>
                    <a:cubicBezTo>
                      <a:pt x="1385227" y="190990"/>
                      <a:pt x="1387767" y="184640"/>
                      <a:pt x="1386497" y="183370"/>
                    </a:cubicBezTo>
                    <a:cubicBezTo>
                      <a:pt x="1385227" y="182100"/>
                      <a:pt x="1371257" y="185910"/>
                      <a:pt x="1371257" y="185910"/>
                    </a:cubicBezTo>
                  </a:path>
                </a:pathLst>
              </a:custGeom>
              <a:solidFill>
                <a:srgbClr val="5885D8"/>
              </a:solidFill>
              <a:ln cap="sq">
                <a:noFill/>
                <a:prstDash val="solid"/>
                <a:miter/>
              </a:ln>
            </p:spPr>
          </p:sp>
        </p:grpSp>
        <p:grpSp>
          <p:nvGrpSpPr>
            <p:cNvPr name="Group 32" id="32"/>
            <p:cNvGrpSpPr/>
            <p:nvPr/>
          </p:nvGrpSpPr>
          <p:grpSpPr>
            <a:xfrm rot="0">
              <a:off x="2610308" y="1711783"/>
              <a:ext cx="356870" cy="374650"/>
              <a:chOff x="0" y="0"/>
              <a:chExt cx="356870" cy="374650"/>
            </a:xfrm>
          </p:grpSpPr>
          <p:sp>
            <p:nvSpPr>
              <p:cNvPr name="Freeform 33" id="33"/>
              <p:cNvSpPr/>
              <p:nvPr/>
            </p:nvSpPr>
            <p:spPr>
              <a:xfrm flipH="false" flipV="false" rot="0">
                <a:off x="50731" y="44767"/>
                <a:ext cx="252799" cy="282112"/>
              </a:xfrm>
              <a:custGeom>
                <a:avLst/>
                <a:gdLst/>
                <a:ahLst/>
                <a:cxnLst/>
                <a:rect r="r" b="b" t="t" l="l"/>
                <a:pathLst>
                  <a:path h="282112" w="252799">
                    <a:moveTo>
                      <a:pt x="252799" y="66993"/>
                    </a:moveTo>
                    <a:cubicBezTo>
                      <a:pt x="248989" y="133033"/>
                      <a:pt x="222319" y="181293"/>
                      <a:pt x="196919" y="209233"/>
                    </a:cubicBezTo>
                    <a:cubicBezTo>
                      <a:pt x="172789" y="238443"/>
                      <a:pt x="133419" y="268923"/>
                      <a:pt x="105479" y="277813"/>
                    </a:cubicBezTo>
                    <a:cubicBezTo>
                      <a:pt x="87699" y="284163"/>
                      <a:pt x="69919" y="282893"/>
                      <a:pt x="54679" y="277813"/>
                    </a:cubicBezTo>
                    <a:cubicBezTo>
                      <a:pt x="39439" y="272733"/>
                      <a:pt x="22929" y="260033"/>
                      <a:pt x="14039" y="247333"/>
                    </a:cubicBezTo>
                    <a:cubicBezTo>
                      <a:pt x="5149" y="233363"/>
                      <a:pt x="69" y="214313"/>
                      <a:pt x="69" y="197803"/>
                    </a:cubicBezTo>
                    <a:cubicBezTo>
                      <a:pt x="1339" y="181293"/>
                      <a:pt x="8959" y="162243"/>
                      <a:pt x="19119" y="150813"/>
                    </a:cubicBezTo>
                    <a:cubicBezTo>
                      <a:pt x="30549" y="138113"/>
                      <a:pt x="47059" y="126683"/>
                      <a:pt x="63569" y="124143"/>
                    </a:cubicBezTo>
                    <a:cubicBezTo>
                      <a:pt x="83889" y="121603"/>
                      <a:pt x="119449" y="129223"/>
                      <a:pt x="135959" y="144463"/>
                    </a:cubicBezTo>
                    <a:cubicBezTo>
                      <a:pt x="151199" y="159703"/>
                      <a:pt x="162629" y="193993"/>
                      <a:pt x="158819" y="215583"/>
                    </a:cubicBezTo>
                    <a:cubicBezTo>
                      <a:pt x="156279" y="237173"/>
                      <a:pt x="133419" y="266383"/>
                      <a:pt x="114369" y="275273"/>
                    </a:cubicBezTo>
                    <a:cubicBezTo>
                      <a:pt x="94049" y="284163"/>
                      <a:pt x="57219" y="282893"/>
                      <a:pt x="39439" y="271463"/>
                    </a:cubicBezTo>
                    <a:cubicBezTo>
                      <a:pt x="20389" y="258763"/>
                      <a:pt x="1339" y="228283"/>
                      <a:pt x="69" y="206693"/>
                    </a:cubicBezTo>
                    <a:cubicBezTo>
                      <a:pt x="-1201" y="183833"/>
                      <a:pt x="15309" y="154623"/>
                      <a:pt x="31819" y="138113"/>
                    </a:cubicBezTo>
                    <a:cubicBezTo>
                      <a:pt x="49599" y="121603"/>
                      <a:pt x="90239" y="124143"/>
                      <a:pt x="101669" y="107633"/>
                    </a:cubicBezTo>
                    <a:cubicBezTo>
                      <a:pt x="111829" y="92393"/>
                      <a:pt x="95319" y="64453"/>
                      <a:pt x="101669" y="47943"/>
                    </a:cubicBezTo>
                    <a:cubicBezTo>
                      <a:pt x="108019" y="31433"/>
                      <a:pt x="121989" y="13653"/>
                      <a:pt x="138499" y="6033"/>
                    </a:cubicBezTo>
                    <a:cubicBezTo>
                      <a:pt x="157549" y="-1587"/>
                      <a:pt x="193109" y="-2857"/>
                      <a:pt x="210889" y="7303"/>
                    </a:cubicBezTo>
                    <a:cubicBezTo>
                      <a:pt x="229939" y="17463"/>
                      <a:pt x="252799" y="66993"/>
                      <a:pt x="252799" y="66993"/>
                    </a:cubicBezTo>
                  </a:path>
                </a:pathLst>
              </a:custGeom>
              <a:solidFill>
                <a:srgbClr val="5885D8"/>
              </a:solidFill>
              <a:ln cap="sq">
                <a:noFill/>
                <a:prstDash val="solid"/>
                <a:miter/>
              </a:ln>
            </p:spPr>
          </p:sp>
        </p:grpSp>
        <p:grpSp>
          <p:nvGrpSpPr>
            <p:cNvPr name="Group 34" id="34"/>
            <p:cNvGrpSpPr/>
            <p:nvPr/>
          </p:nvGrpSpPr>
          <p:grpSpPr>
            <a:xfrm rot="0">
              <a:off x="1716228" y="1674953"/>
              <a:ext cx="279400" cy="309880"/>
              <a:chOff x="0" y="0"/>
              <a:chExt cx="279400" cy="309880"/>
            </a:xfrm>
          </p:grpSpPr>
          <p:sp>
            <p:nvSpPr>
              <p:cNvPr name="Freeform 35" id="35"/>
              <p:cNvSpPr/>
              <p:nvPr/>
            </p:nvSpPr>
            <p:spPr>
              <a:xfrm flipH="false" flipV="false" rot="0">
                <a:off x="50800" y="46625"/>
                <a:ext cx="178295" cy="212778"/>
              </a:xfrm>
              <a:custGeom>
                <a:avLst/>
                <a:gdLst/>
                <a:ahLst/>
                <a:cxnLst/>
                <a:rect r="r" b="b" t="t" l="l"/>
                <a:pathLst>
                  <a:path h="212778" w="178295">
                    <a:moveTo>
                      <a:pt x="0" y="138795"/>
                    </a:moveTo>
                    <a:cubicBezTo>
                      <a:pt x="41910" y="23225"/>
                      <a:pt x="55880" y="9255"/>
                      <a:pt x="73660" y="4175"/>
                    </a:cubicBezTo>
                    <a:cubicBezTo>
                      <a:pt x="92710" y="-905"/>
                      <a:pt x="128270" y="2905"/>
                      <a:pt x="146050" y="15605"/>
                    </a:cubicBezTo>
                    <a:cubicBezTo>
                      <a:pt x="162560" y="28305"/>
                      <a:pt x="179070" y="60055"/>
                      <a:pt x="177800" y="81645"/>
                    </a:cubicBezTo>
                    <a:cubicBezTo>
                      <a:pt x="176530" y="103235"/>
                      <a:pt x="158750" y="133715"/>
                      <a:pt x="139700" y="145145"/>
                    </a:cubicBezTo>
                    <a:cubicBezTo>
                      <a:pt x="121920" y="156575"/>
                      <a:pt x="86360" y="159115"/>
                      <a:pt x="67310" y="150225"/>
                    </a:cubicBezTo>
                    <a:cubicBezTo>
                      <a:pt x="46990" y="141335"/>
                      <a:pt x="26670" y="112125"/>
                      <a:pt x="21590" y="91805"/>
                    </a:cubicBezTo>
                    <a:cubicBezTo>
                      <a:pt x="17780" y="75295"/>
                      <a:pt x="22860" y="56245"/>
                      <a:pt x="29210" y="42275"/>
                    </a:cubicBezTo>
                    <a:cubicBezTo>
                      <a:pt x="36830" y="28305"/>
                      <a:pt x="49530" y="13065"/>
                      <a:pt x="66040" y="7985"/>
                    </a:cubicBezTo>
                    <a:cubicBezTo>
                      <a:pt x="85090" y="365"/>
                      <a:pt x="120650" y="365"/>
                      <a:pt x="139700" y="10525"/>
                    </a:cubicBezTo>
                    <a:cubicBezTo>
                      <a:pt x="157480" y="21955"/>
                      <a:pt x="173990" y="53705"/>
                      <a:pt x="177800" y="74025"/>
                    </a:cubicBezTo>
                    <a:cubicBezTo>
                      <a:pt x="180340" y="90535"/>
                      <a:pt x="172720" y="108315"/>
                      <a:pt x="163830" y="122285"/>
                    </a:cubicBezTo>
                    <a:cubicBezTo>
                      <a:pt x="156210" y="134985"/>
                      <a:pt x="140970" y="148955"/>
                      <a:pt x="124460" y="152765"/>
                    </a:cubicBezTo>
                    <a:cubicBezTo>
                      <a:pt x="105410" y="157845"/>
                      <a:pt x="69850" y="152765"/>
                      <a:pt x="52070" y="141335"/>
                    </a:cubicBezTo>
                    <a:cubicBezTo>
                      <a:pt x="36830" y="131175"/>
                      <a:pt x="26670" y="110855"/>
                      <a:pt x="22860" y="95615"/>
                    </a:cubicBezTo>
                    <a:cubicBezTo>
                      <a:pt x="19050" y="82915"/>
                      <a:pt x="19050" y="70215"/>
                      <a:pt x="24130" y="57515"/>
                    </a:cubicBezTo>
                    <a:cubicBezTo>
                      <a:pt x="30480" y="39735"/>
                      <a:pt x="54610" y="13065"/>
                      <a:pt x="73660" y="4175"/>
                    </a:cubicBezTo>
                    <a:cubicBezTo>
                      <a:pt x="90170" y="-2175"/>
                      <a:pt x="113030" y="-905"/>
                      <a:pt x="129540" y="5445"/>
                    </a:cubicBezTo>
                    <a:cubicBezTo>
                      <a:pt x="144780" y="13065"/>
                      <a:pt x="163830" y="25765"/>
                      <a:pt x="170180" y="43545"/>
                    </a:cubicBezTo>
                    <a:cubicBezTo>
                      <a:pt x="179070" y="71485"/>
                      <a:pt x="161290" y="140065"/>
                      <a:pt x="147320" y="168005"/>
                    </a:cubicBezTo>
                    <a:cubicBezTo>
                      <a:pt x="137160" y="185785"/>
                      <a:pt x="121920" y="198485"/>
                      <a:pt x="107950" y="206105"/>
                    </a:cubicBezTo>
                    <a:cubicBezTo>
                      <a:pt x="96520" y="211185"/>
                      <a:pt x="83820" y="213725"/>
                      <a:pt x="71120" y="212455"/>
                    </a:cubicBezTo>
                    <a:cubicBezTo>
                      <a:pt x="55880" y="209915"/>
                      <a:pt x="34290" y="201025"/>
                      <a:pt x="21590" y="189595"/>
                    </a:cubicBezTo>
                    <a:cubicBezTo>
                      <a:pt x="10160" y="176895"/>
                      <a:pt x="0" y="138795"/>
                      <a:pt x="0" y="138795"/>
                    </a:cubicBezTo>
                  </a:path>
                </a:pathLst>
              </a:custGeom>
              <a:solidFill>
                <a:srgbClr val="5885D8"/>
              </a:solidFill>
              <a:ln cap="sq">
                <a:noFill/>
                <a:prstDash val="solid"/>
                <a:miter/>
              </a:ln>
            </p:spPr>
          </p:sp>
        </p:grpSp>
        <p:sp>
          <p:nvSpPr>
            <p:cNvPr name="Freeform 36" id="36"/>
            <p:cNvSpPr/>
            <p:nvPr/>
          </p:nvSpPr>
          <p:spPr>
            <a:xfrm flipH="false" flipV="false" rot="0">
              <a:off x="0" y="0"/>
              <a:ext cx="3258466" cy="3258466"/>
            </a:xfrm>
            <a:custGeom>
              <a:avLst/>
              <a:gdLst/>
              <a:ahLst/>
              <a:cxnLst/>
              <a:rect r="r" b="b" t="t" l="l"/>
              <a:pathLst>
                <a:path h="3258466" w="3258466">
                  <a:moveTo>
                    <a:pt x="0" y="0"/>
                  </a:moveTo>
                  <a:lnTo>
                    <a:pt x="3258466" y="0"/>
                  </a:lnTo>
                  <a:lnTo>
                    <a:pt x="3258466" y="3258466"/>
                  </a:lnTo>
                  <a:lnTo>
                    <a:pt x="0" y="32584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37" id="37"/>
          <p:cNvSpPr txBox="true"/>
          <p:nvPr/>
        </p:nvSpPr>
        <p:spPr>
          <a:xfrm rot="0">
            <a:off x="5078203" y="4600224"/>
            <a:ext cx="11640471" cy="306704"/>
          </a:xfrm>
          <a:prstGeom prst="rect">
            <a:avLst/>
          </a:prstGeom>
        </p:spPr>
        <p:txBody>
          <a:bodyPr anchor="t" rtlCol="false" tIns="0" lIns="0" bIns="0" rIns="0">
            <a:spAutoFit/>
          </a:bodyPr>
          <a:lstStyle/>
          <a:p>
            <a:pPr algn="l">
              <a:lnSpc>
                <a:spcPts val="2520"/>
              </a:lnSpc>
            </a:pPr>
            <a:r>
              <a:rPr lang="en-US" sz="1800" b="true">
                <a:solidFill>
                  <a:srgbClr val="0B081D"/>
                </a:solidFill>
                <a:latin typeface="Inter Bold"/>
                <a:ea typeface="Inter Bold"/>
                <a:cs typeface="Inter Bold"/>
                <a:sym typeface="Inter Bold"/>
              </a:rPr>
              <a:t>The opportunities exist within this gap, where conviction driven analysis meets liquid execution.</a:t>
            </a:r>
          </a:p>
        </p:txBody>
      </p:sp>
      <p:sp>
        <p:nvSpPr>
          <p:cNvPr name="TextBox 38" id="38"/>
          <p:cNvSpPr txBox="true"/>
          <p:nvPr/>
        </p:nvSpPr>
        <p:spPr>
          <a:xfrm rot="0">
            <a:off x="5078203" y="2633332"/>
            <a:ext cx="9056677" cy="509905"/>
          </a:xfrm>
          <a:prstGeom prst="rect">
            <a:avLst/>
          </a:prstGeom>
        </p:spPr>
        <p:txBody>
          <a:bodyPr anchor="t" rtlCol="false" tIns="0" lIns="0" bIns="0" rIns="0">
            <a:spAutoFit/>
          </a:bodyPr>
          <a:lstStyle/>
          <a:p>
            <a:pPr algn="l">
              <a:lnSpc>
                <a:spcPts val="3919"/>
              </a:lnSpc>
            </a:pPr>
            <a:r>
              <a:rPr lang="en-US" sz="2799" b="true">
                <a:solidFill>
                  <a:srgbClr val="000000"/>
                </a:solidFill>
                <a:latin typeface="Cabinet Grotesk Bold"/>
                <a:ea typeface="Cabinet Grotesk Bold"/>
                <a:cs typeface="Cabinet Grotesk Bold"/>
                <a:sym typeface="Cabinet Grotesk Bold"/>
              </a:rPr>
              <a:t>A</a:t>
            </a:r>
            <a:r>
              <a:rPr lang="en-US" b="true" sz="2799">
                <a:solidFill>
                  <a:srgbClr val="000000"/>
                </a:solidFill>
                <a:latin typeface="Cabinet Grotesk Bold"/>
                <a:ea typeface="Cabinet Grotesk Bold"/>
                <a:cs typeface="Cabinet Grotesk Bold"/>
                <a:sym typeface="Cabinet Grotesk Bold"/>
              </a:rPr>
              <a:t> </a:t>
            </a:r>
            <a:r>
              <a:rPr lang="en-US" sz="2799" b="true">
                <a:solidFill>
                  <a:srgbClr val="5885D8"/>
                </a:solidFill>
                <a:latin typeface="Cabinet Grotesk Bold"/>
                <a:ea typeface="Cabinet Grotesk Bold"/>
                <a:cs typeface="Cabinet Grotesk Bold"/>
                <a:sym typeface="Cabinet Grotesk Bold"/>
              </a:rPr>
              <a:t>wedge between</a:t>
            </a:r>
            <a:r>
              <a:rPr lang="en-US" b="true" sz="2799">
                <a:solidFill>
                  <a:srgbClr val="000000"/>
                </a:solidFill>
                <a:latin typeface="Cabinet Grotesk Bold"/>
                <a:ea typeface="Cabinet Grotesk Bold"/>
                <a:cs typeface="Cabinet Grotesk Bold"/>
                <a:sym typeface="Cabinet Grotesk Bold"/>
              </a:rPr>
              <a:t> blind spots: </a:t>
            </a:r>
          </a:p>
        </p:txBody>
      </p:sp>
      <p:grpSp>
        <p:nvGrpSpPr>
          <p:cNvPr name="Group 39" id="39"/>
          <p:cNvGrpSpPr/>
          <p:nvPr/>
        </p:nvGrpSpPr>
        <p:grpSpPr>
          <a:xfrm rot="0">
            <a:off x="5082740" y="6258499"/>
            <a:ext cx="9056677" cy="1948302"/>
            <a:chOff x="0" y="0"/>
            <a:chExt cx="12075569" cy="2597736"/>
          </a:xfrm>
        </p:grpSpPr>
        <p:sp>
          <p:nvSpPr>
            <p:cNvPr name="TextBox 40" id="40"/>
            <p:cNvSpPr txBox="true"/>
            <p:nvPr/>
          </p:nvSpPr>
          <p:spPr>
            <a:xfrm rot="0">
              <a:off x="0" y="788052"/>
              <a:ext cx="11195697" cy="815339"/>
            </a:xfrm>
            <a:prstGeom prst="rect">
              <a:avLst/>
            </a:prstGeom>
          </p:spPr>
          <p:txBody>
            <a:bodyPr anchor="t" rtlCol="false" tIns="0" lIns="0" bIns="0" rIns="0">
              <a:spAutoFit/>
            </a:bodyPr>
            <a:lstStyle/>
            <a:p>
              <a:pPr algn="l" marL="388623" indent="-194312" lvl="1">
                <a:lnSpc>
                  <a:spcPts val="2520"/>
                </a:lnSpc>
                <a:buFont typeface="Arial"/>
                <a:buChar char="•"/>
              </a:pPr>
              <a:r>
                <a:rPr lang="en-US" sz="1800">
                  <a:solidFill>
                    <a:srgbClr val="000000"/>
                  </a:solidFill>
                  <a:latin typeface="Inter"/>
                  <a:ea typeface="Inter"/>
                  <a:cs typeface="Inter"/>
                  <a:sym typeface="Inter"/>
                </a:rPr>
                <a:t>Emerging crypto blue chips that generate real and substantial cash flows</a:t>
              </a:r>
            </a:p>
            <a:p>
              <a:pPr algn="l" marL="388623" indent="-194312" lvl="1">
                <a:lnSpc>
                  <a:spcPts val="2520"/>
                </a:lnSpc>
                <a:buFont typeface="Arial"/>
                <a:buChar char="•"/>
              </a:pPr>
              <a:r>
                <a:rPr lang="en-US" sz="1800">
                  <a:solidFill>
                    <a:srgbClr val="000000"/>
                  </a:solidFill>
                  <a:latin typeface="Inter"/>
                  <a:ea typeface="Inter"/>
                  <a:cs typeface="Inter"/>
                  <a:sym typeface="Inter"/>
                </a:rPr>
                <a:t>Explosive momentum driven trades that last for hours - days.</a:t>
              </a:r>
            </a:p>
          </p:txBody>
        </p:sp>
        <p:sp>
          <p:nvSpPr>
            <p:cNvPr name="TextBox 41" id="41"/>
            <p:cNvSpPr txBox="true"/>
            <p:nvPr/>
          </p:nvSpPr>
          <p:spPr>
            <a:xfrm rot="0">
              <a:off x="0" y="2201497"/>
              <a:ext cx="11600472" cy="396239"/>
            </a:xfrm>
            <a:prstGeom prst="rect">
              <a:avLst/>
            </a:prstGeom>
          </p:spPr>
          <p:txBody>
            <a:bodyPr anchor="t" rtlCol="false" tIns="0" lIns="0" bIns="0" rIns="0">
              <a:spAutoFit/>
            </a:bodyPr>
            <a:lstStyle/>
            <a:p>
              <a:pPr algn="l">
                <a:lnSpc>
                  <a:spcPts val="2520"/>
                </a:lnSpc>
              </a:pPr>
              <a:r>
                <a:rPr lang="en-US" sz="1800" b="true">
                  <a:solidFill>
                    <a:srgbClr val="0B081D"/>
                  </a:solidFill>
                  <a:latin typeface="Inter Bold"/>
                  <a:ea typeface="Inter Bold"/>
                  <a:cs typeface="Inter Bold"/>
                  <a:sym typeface="Inter Bold"/>
                </a:rPr>
                <a:t>As crypto matures, traditional finance will adapt and close this gap</a:t>
              </a:r>
            </a:p>
          </p:txBody>
        </p:sp>
        <p:sp>
          <p:nvSpPr>
            <p:cNvPr name="TextBox 42" id="42"/>
            <p:cNvSpPr txBox="true"/>
            <p:nvPr/>
          </p:nvSpPr>
          <p:spPr>
            <a:xfrm rot="0">
              <a:off x="0" y="-85725"/>
              <a:ext cx="12075569" cy="651298"/>
            </a:xfrm>
            <a:prstGeom prst="rect">
              <a:avLst/>
            </a:prstGeom>
          </p:spPr>
          <p:txBody>
            <a:bodyPr anchor="t" rtlCol="false" tIns="0" lIns="0" bIns="0" rIns="0">
              <a:spAutoFit/>
            </a:bodyPr>
            <a:lstStyle/>
            <a:p>
              <a:pPr algn="l">
                <a:lnSpc>
                  <a:spcPts val="3919"/>
                </a:lnSpc>
              </a:pPr>
              <a:r>
                <a:rPr lang="en-US" sz="2799" b="true">
                  <a:solidFill>
                    <a:srgbClr val="000000"/>
                  </a:solidFill>
                  <a:latin typeface="Cabinet Grotesk Bold"/>
                  <a:ea typeface="Cabinet Grotesk Bold"/>
                  <a:cs typeface="Cabinet Grotesk Bold"/>
                  <a:sym typeface="Cabinet Grotesk Bold"/>
                </a:rPr>
                <a:t>We</a:t>
              </a:r>
              <a:r>
                <a:rPr lang="en-US" b="true" sz="2799">
                  <a:solidFill>
                    <a:srgbClr val="000000"/>
                  </a:solidFill>
                  <a:latin typeface="Cabinet Grotesk Bold"/>
                  <a:ea typeface="Cabinet Grotesk Bold"/>
                  <a:cs typeface="Cabinet Grotesk Bold"/>
                  <a:sym typeface="Cabinet Grotesk Bold"/>
                </a:rPr>
                <a:t> identified </a:t>
              </a:r>
              <a:r>
                <a:rPr lang="en-US" sz="2799" b="true">
                  <a:solidFill>
                    <a:srgbClr val="5885D8"/>
                  </a:solidFill>
                  <a:latin typeface="Cabinet Grotesk Bold"/>
                  <a:ea typeface="Cabinet Grotesk Bold"/>
                  <a:cs typeface="Cabinet Grotesk Bold"/>
                  <a:sym typeface="Cabinet Grotesk Bold"/>
                </a:rPr>
                <a:t>two symbiotic strategies</a:t>
              </a:r>
              <a:r>
                <a:rPr lang="en-US" b="true" sz="2799">
                  <a:solidFill>
                    <a:srgbClr val="000000"/>
                  </a:solidFill>
                  <a:latin typeface="Cabinet Grotesk Bold"/>
                  <a:ea typeface="Cabinet Grotesk Bold"/>
                  <a:cs typeface="Cabinet Grotesk Bold"/>
                  <a:sym typeface="Cabinet Grotesk Bold"/>
                </a:rPr>
                <a:t>.</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44000" y="-190500"/>
            <a:ext cx="9144000" cy="10287000"/>
            <a:chOff x="0" y="0"/>
            <a:chExt cx="2408296" cy="2709333"/>
          </a:xfrm>
        </p:grpSpPr>
        <p:sp>
          <p:nvSpPr>
            <p:cNvPr name="Freeform 4" id="4"/>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FFFFFF"/>
            </a:solidFill>
          </p:spPr>
        </p:sp>
        <p:sp>
          <p:nvSpPr>
            <p:cNvPr name="TextBox 5" id="5"/>
            <p:cNvSpPr txBox="true"/>
            <p:nvPr/>
          </p:nvSpPr>
          <p:spPr>
            <a:xfrm>
              <a:off x="0" y="-38100"/>
              <a:ext cx="2408296" cy="274743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895350"/>
            <a:ext cx="8115300"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Complementary Strategies</a:t>
            </a:r>
          </a:p>
        </p:txBody>
      </p:sp>
      <p:sp>
        <p:nvSpPr>
          <p:cNvPr name="TextBox 7" id="7"/>
          <p:cNvSpPr txBox="true"/>
          <p:nvPr/>
        </p:nvSpPr>
        <p:spPr>
          <a:xfrm rot="0">
            <a:off x="1028700" y="3993040"/>
            <a:ext cx="6682240" cy="824865"/>
          </a:xfrm>
          <a:prstGeom prst="rect">
            <a:avLst/>
          </a:prstGeom>
        </p:spPr>
        <p:txBody>
          <a:bodyPr anchor="t" rtlCol="false" tIns="0" lIns="0" bIns="0" rIns="0">
            <a:spAutoFit/>
          </a:bodyPr>
          <a:lstStyle/>
          <a:p>
            <a:pPr algn="l">
              <a:lnSpc>
                <a:spcPts val="3359"/>
              </a:lnSpc>
            </a:pPr>
            <a:r>
              <a:rPr lang="en-US" sz="2400" b="true">
                <a:solidFill>
                  <a:srgbClr val="000000"/>
                </a:solidFill>
                <a:latin typeface="Inter Bold"/>
                <a:ea typeface="Inter Bold"/>
                <a:cs typeface="Inter Bold"/>
                <a:sym typeface="Inter Bold"/>
              </a:rPr>
              <a:t>Medium-term (months), </a:t>
            </a:r>
            <a:r>
              <a:rPr lang="en-US" sz="2400">
                <a:solidFill>
                  <a:srgbClr val="000000"/>
                </a:solidFill>
                <a:latin typeface="Inter"/>
                <a:ea typeface="Inter"/>
                <a:cs typeface="Inter"/>
                <a:sym typeface="Inter"/>
              </a:rPr>
              <a:t>with flexibility based on market conditions and opportunity evolution</a:t>
            </a:r>
          </a:p>
        </p:txBody>
      </p:sp>
      <p:sp>
        <p:nvSpPr>
          <p:cNvPr name="TextBox 8" id="8"/>
          <p:cNvSpPr txBox="true"/>
          <p:nvPr/>
        </p:nvSpPr>
        <p:spPr>
          <a:xfrm rot="0">
            <a:off x="1028700" y="5155651"/>
            <a:ext cx="6990521" cy="344995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Concentrated holdings in established protocols with proven revenue models and meaningful token value accrual. </a:t>
            </a:r>
          </a:p>
          <a:p>
            <a:pPr algn="l">
              <a:lnSpc>
                <a:spcPts val="2520"/>
              </a:lnSpc>
            </a:pPr>
          </a:p>
          <a:p>
            <a:pPr algn="l">
              <a:lnSpc>
                <a:spcPts val="2520"/>
              </a:lnSpc>
            </a:pPr>
            <a:r>
              <a:rPr lang="en-US" sz="1800">
                <a:solidFill>
                  <a:srgbClr val="000000"/>
                </a:solidFill>
                <a:latin typeface="Inter"/>
                <a:ea typeface="Inter"/>
                <a:cs typeface="Inter"/>
                <a:sym typeface="Inter"/>
              </a:rPr>
              <a:t>We evaluate beyond surface level metrics: a protocol generating millions in revenue means nothing if token holders see no benefit. </a:t>
            </a:r>
          </a:p>
          <a:p>
            <a:pPr algn="l">
              <a:lnSpc>
                <a:spcPts val="2520"/>
              </a:lnSpc>
            </a:pPr>
          </a:p>
          <a:p>
            <a:pPr algn="l">
              <a:lnSpc>
                <a:spcPts val="2520"/>
              </a:lnSpc>
            </a:pPr>
            <a:r>
              <a:rPr lang="en-US" sz="1800">
                <a:solidFill>
                  <a:srgbClr val="000000"/>
                </a:solidFill>
                <a:latin typeface="Inter"/>
                <a:ea typeface="Inter"/>
                <a:cs typeface="Inter"/>
                <a:sym typeface="Inter"/>
              </a:rPr>
              <a:t>We analyze the complete value flow: revenue generation, token buyback mechanisms, insider selling pressure, and actual net value accrual to holders. This requires deep, nuanced analysis that goes far beyond traditional financial metrics.</a:t>
            </a:r>
          </a:p>
          <a:p>
            <a:pPr algn="l">
              <a:lnSpc>
                <a:spcPts val="2520"/>
              </a:lnSpc>
            </a:pPr>
          </a:p>
        </p:txBody>
      </p:sp>
      <p:sp>
        <p:nvSpPr>
          <p:cNvPr name="TextBox 9" id="9"/>
          <p:cNvSpPr txBox="true"/>
          <p:nvPr/>
        </p:nvSpPr>
        <p:spPr>
          <a:xfrm rot="0">
            <a:off x="10125636" y="5155651"/>
            <a:ext cx="6682240" cy="3135630"/>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Narrative-driven momentum plays sourced through extensive crypto-native networks and real-time market intelligence. </a:t>
            </a:r>
          </a:p>
          <a:p>
            <a:pPr algn="l">
              <a:lnSpc>
                <a:spcPts val="2520"/>
              </a:lnSpc>
            </a:pPr>
          </a:p>
          <a:p>
            <a:pPr algn="l">
              <a:lnSpc>
                <a:spcPts val="2520"/>
              </a:lnSpc>
            </a:pPr>
            <a:r>
              <a:rPr lang="en-US" sz="1800">
                <a:solidFill>
                  <a:srgbClr val="000000"/>
                </a:solidFill>
                <a:latin typeface="Inter"/>
                <a:ea typeface="Inter"/>
                <a:cs typeface="Inter"/>
                <a:sym typeface="Inter"/>
              </a:rPr>
              <a:t>Rapid deployment targeting the "meat of the move"—not perfect entries/exits, but capturing substantial upside during peak momentum phases. </a:t>
            </a:r>
          </a:p>
          <a:p>
            <a:pPr algn="l">
              <a:lnSpc>
                <a:spcPts val="2520"/>
              </a:lnSpc>
            </a:pPr>
          </a:p>
          <a:p>
            <a:pPr algn="l">
              <a:lnSpc>
                <a:spcPts val="2520"/>
              </a:lnSpc>
            </a:pPr>
            <a:r>
              <a:rPr lang="en-US" sz="1800">
                <a:solidFill>
                  <a:srgbClr val="000000"/>
                </a:solidFill>
                <a:latin typeface="Inter"/>
                <a:ea typeface="Inter"/>
                <a:cs typeface="Inter"/>
                <a:sym typeface="Inter"/>
              </a:rPr>
              <a:t>Profits systematically funneled back to strengthen core positions.</a:t>
            </a:r>
          </a:p>
          <a:p>
            <a:pPr algn="l">
              <a:lnSpc>
                <a:spcPts val="2520"/>
              </a:lnSpc>
            </a:pPr>
          </a:p>
        </p:txBody>
      </p:sp>
      <p:sp>
        <p:nvSpPr>
          <p:cNvPr name="TextBox 10" id="10"/>
          <p:cNvSpPr txBox="true"/>
          <p:nvPr/>
        </p:nvSpPr>
        <p:spPr>
          <a:xfrm rot="0">
            <a:off x="1028700" y="3602515"/>
            <a:ext cx="6682240" cy="273684"/>
          </a:xfrm>
          <a:prstGeom prst="rect">
            <a:avLst/>
          </a:prstGeom>
        </p:spPr>
        <p:txBody>
          <a:bodyPr anchor="t" rtlCol="false" tIns="0" lIns="0" bIns="0" rIns="0">
            <a:spAutoFit/>
          </a:bodyPr>
          <a:lstStyle/>
          <a:p>
            <a:pPr algn="l">
              <a:lnSpc>
                <a:spcPts val="2240"/>
              </a:lnSpc>
            </a:pPr>
            <a:r>
              <a:rPr lang="en-US" b="true" sz="1600">
                <a:solidFill>
                  <a:srgbClr val="96958F"/>
                </a:solidFill>
                <a:latin typeface="Inter Bold"/>
                <a:ea typeface="Inter Bold"/>
                <a:cs typeface="Inter Bold"/>
                <a:sym typeface="Inter Bold"/>
              </a:rPr>
              <a:t>Holding Period: </a:t>
            </a:r>
          </a:p>
        </p:txBody>
      </p:sp>
      <p:sp>
        <p:nvSpPr>
          <p:cNvPr name="TextBox 11" id="11"/>
          <p:cNvSpPr txBox="true"/>
          <p:nvPr/>
        </p:nvSpPr>
        <p:spPr>
          <a:xfrm rot="0">
            <a:off x="10125636" y="3602515"/>
            <a:ext cx="6682240" cy="273684"/>
          </a:xfrm>
          <a:prstGeom prst="rect">
            <a:avLst/>
          </a:prstGeom>
        </p:spPr>
        <p:txBody>
          <a:bodyPr anchor="t" rtlCol="false" tIns="0" lIns="0" bIns="0" rIns="0">
            <a:spAutoFit/>
          </a:bodyPr>
          <a:lstStyle/>
          <a:p>
            <a:pPr algn="l">
              <a:lnSpc>
                <a:spcPts val="2240"/>
              </a:lnSpc>
            </a:pPr>
            <a:r>
              <a:rPr lang="en-US" b="true" sz="1600">
                <a:solidFill>
                  <a:srgbClr val="96958F"/>
                </a:solidFill>
                <a:latin typeface="Inter Bold"/>
                <a:ea typeface="Inter Bold"/>
                <a:cs typeface="Inter Bold"/>
                <a:sym typeface="Inter Bold"/>
              </a:rPr>
              <a:t>Holding Period: </a:t>
            </a:r>
          </a:p>
        </p:txBody>
      </p:sp>
      <p:sp>
        <p:nvSpPr>
          <p:cNvPr name="TextBox 12" id="12"/>
          <p:cNvSpPr txBox="true"/>
          <p:nvPr/>
        </p:nvSpPr>
        <p:spPr>
          <a:xfrm rot="0">
            <a:off x="10125636" y="3993040"/>
            <a:ext cx="7180728" cy="824865"/>
          </a:xfrm>
          <a:prstGeom prst="rect">
            <a:avLst/>
          </a:prstGeom>
        </p:spPr>
        <p:txBody>
          <a:bodyPr anchor="t" rtlCol="false" tIns="0" lIns="0" bIns="0" rIns="0">
            <a:spAutoFit/>
          </a:bodyPr>
          <a:lstStyle/>
          <a:p>
            <a:pPr algn="l">
              <a:lnSpc>
                <a:spcPts val="3359"/>
              </a:lnSpc>
            </a:pPr>
            <a:r>
              <a:rPr lang="en-US" sz="2400" b="true">
                <a:solidFill>
                  <a:srgbClr val="000000"/>
                </a:solidFill>
                <a:latin typeface="Inter Bold"/>
                <a:ea typeface="Inter Bold"/>
                <a:cs typeface="Inter Bold"/>
                <a:sym typeface="Inter Bold"/>
              </a:rPr>
              <a:t>Short-term (days), </a:t>
            </a:r>
            <a:r>
              <a:rPr lang="en-US" sz="2400">
                <a:solidFill>
                  <a:srgbClr val="000000"/>
                </a:solidFill>
                <a:latin typeface="Inter"/>
                <a:ea typeface="Inter"/>
                <a:cs typeface="Inter"/>
                <a:sym typeface="Inter"/>
              </a:rPr>
              <a:t>with flexibility based on market conditions and opportunity evolution</a:t>
            </a:r>
          </a:p>
        </p:txBody>
      </p:sp>
      <p:sp>
        <p:nvSpPr>
          <p:cNvPr name="TextBox 13" id="13"/>
          <p:cNvSpPr txBox="true"/>
          <p:nvPr/>
        </p:nvSpPr>
        <p:spPr>
          <a:xfrm rot="0">
            <a:off x="10125636" y="2308152"/>
            <a:ext cx="7095006" cy="1040765"/>
          </a:xfrm>
          <a:prstGeom prst="rect">
            <a:avLst/>
          </a:prstGeom>
        </p:spPr>
        <p:txBody>
          <a:bodyPr anchor="t" rtlCol="false" tIns="0" lIns="0" bIns="0" rIns="0">
            <a:spAutoFit/>
          </a:bodyPr>
          <a:lstStyle/>
          <a:p>
            <a:pPr algn="l">
              <a:lnSpc>
                <a:spcPts val="4619"/>
              </a:lnSpc>
            </a:pPr>
            <a:r>
              <a:rPr lang="en-US" sz="3299" b="true">
                <a:solidFill>
                  <a:srgbClr val="0B081D"/>
                </a:solidFill>
                <a:latin typeface="Cabinet Grotesk Bold"/>
                <a:ea typeface="Cabinet Grotesk Bold"/>
                <a:cs typeface="Cabinet Grotesk Bold"/>
                <a:sym typeface="Cabinet Grotesk Bold"/>
              </a:rPr>
              <a:t>OPPORTUNISTIC</a:t>
            </a:r>
            <a:r>
              <a:rPr lang="en-US" sz="3299" b="true">
                <a:solidFill>
                  <a:srgbClr val="0B081D"/>
                </a:solidFill>
                <a:latin typeface="Cabinet Grotesk Bold"/>
                <a:ea typeface="Cabinet Grotesk Bold"/>
                <a:cs typeface="Cabinet Grotesk Bold"/>
                <a:sym typeface="Cabinet Grotesk Bold"/>
              </a:rPr>
              <a:t> OVERLAY </a:t>
            </a:r>
          </a:p>
          <a:p>
            <a:pPr algn="l">
              <a:lnSpc>
                <a:spcPts val="3500"/>
              </a:lnSpc>
            </a:pPr>
            <a:r>
              <a:rPr lang="en-US" sz="2500" b="true">
                <a:solidFill>
                  <a:srgbClr val="5885D8"/>
                </a:solidFill>
                <a:latin typeface="Cabinet Grotesk Bold"/>
                <a:ea typeface="Cabinet Grotesk Bold"/>
                <a:cs typeface="Cabinet Grotesk Bold"/>
                <a:sym typeface="Cabinet Grotesk Bold"/>
              </a:rPr>
              <a:t>20-30% allocation</a:t>
            </a:r>
          </a:p>
        </p:txBody>
      </p:sp>
      <p:sp>
        <p:nvSpPr>
          <p:cNvPr name="TextBox 14" id="14"/>
          <p:cNvSpPr txBox="true"/>
          <p:nvPr/>
        </p:nvSpPr>
        <p:spPr>
          <a:xfrm rot="0">
            <a:off x="1028700" y="2308152"/>
            <a:ext cx="7095006" cy="1040765"/>
          </a:xfrm>
          <a:prstGeom prst="rect">
            <a:avLst/>
          </a:prstGeom>
        </p:spPr>
        <p:txBody>
          <a:bodyPr anchor="t" rtlCol="false" tIns="0" lIns="0" bIns="0" rIns="0">
            <a:spAutoFit/>
          </a:bodyPr>
          <a:lstStyle/>
          <a:p>
            <a:pPr algn="l">
              <a:lnSpc>
                <a:spcPts val="4619"/>
              </a:lnSpc>
            </a:pPr>
            <a:r>
              <a:rPr lang="en-US" sz="3299" b="true">
                <a:solidFill>
                  <a:srgbClr val="000000"/>
                </a:solidFill>
                <a:latin typeface="Cabinet Grotesk Bold"/>
                <a:ea typeface="Cabinet Grotesk Bold"/>
                <a:cs typeface="Cabinet Grotesk Bold"/>
                <a:sym typeface="Cabinet Grotesk Bold"/>
              </a:rPr>
              <a:t>CORE POSITI</a:t>
            </a:r>
            <a:r>
              <a:rPr lang="en-US" b="true" sz="3299">
                <a:solidFill>
                  <a:srgbClr val="000000"/>
                </a:solidFill>
                <a:latin typeface="Cabinet Grotesk Bold"/>
                <a:ea typeface="Cabinet Grotesk Bold"/>
                <a:cs typeface="Cabinet Grotesk Bold"/>
                <a:sym typeface="Cabinet Grotesk Bold"/>
              </a:rPr>
              <a:t>ONS</a:t>
            </a:r>
          </a:p>
          <a:p>
            <a:pPr algn="l">
              <a:lnSpc>
                <a:spcPts val="3500"/>
              </a:lnSpc>
            </a:pPr>
            <a:r>
              <a:rPr lang="en-US" sz="2500" b="true">
                <a:solidFill>
                  <a:srgbClr val="5885D8"/>
                </a:solidFill>
                <a:latin typeface="Cabinet Grotesk Bold"/>
                <a:ea typeface="Cabinet Grotesk Bold"/>
                <a:cs typeface="Cabinet Grotesk Bold"/>
                <a:sym typeface="Cabinet Grotesk Bold"/>
              </a:rPr>
              <a:t>7</a:t>
            </a:r>
            <a:r>
              <a:rPr lang="en-US" sz="2500" b="true">
                <a:solidFill>
                  <a:srgbClr val="5885D8"/>
                </a:solidFill>
                <a:latin typeface="Cabinet Grotesk Bold"/>
                <a:ea typeface="Cabinet Grotesk Bold"/>
                <a:cs typeface="Cabinet Grotesk Bold"/>
                <a:sym typeface="Cabinet Grotesk Bold"/>
              </a:rPr>
              <a:t>0-80% allocation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7525663" y="2498652"/>
          <a:ext cx="10063910" cy="6433114"/>
        </p:xfrm>
        <a:graphic>
          <a:graphicData uri="http://schemas.openxmlformats.org/drawingml/2006/table">
            <a:tbl>
              <a:tblPr/>
              <a:tblGrid>
                <a:gridCol w="2012782"/>
                <a:gridCol w="2012782"/>
                <a:gridCol w="2012782"/>
                <a:gridCol w="2462171"/>
                <a:gridCol w="1563393"/>
              </a:tblGrid>
              <a:tr h="1050259">
                <a:tc>
                  <a:txBody>
                    <a:bodyPr anchor="t" rtlCol="false"/>
                    <a:lstStyle/>
                    <a:p>
                      <a:pPr algn="ctr">
                        <a:lnSpc>
                          <a:spcPts val="2379"/>
                        </a:lnSpc>
                        <a:defRPr/>
                      </a:pPr>
                      <a:r>
                        <a:rPr lang="en-US" b="true" sz="1699">
                          <a:solidFill>
                            <a:srgbClr val="5885D8"/>
                          </a:solidFill>
                          <a:latin typeface="Inter Bold"/>
                          <a:ea typeface="Inter Bold"/>
                          <a:cs typeface="Inter Bold"/>
                          <a:sym typeface="Inter Bold"/>
                        </a:rPr>
                        <a:t>Ann. Rev. </a:t>
                      </a:r>
                      <a:endParaRPr lang="en-US" sz="1100"/>
                    </a:p>
                    <a:p>
                      <a:pPr algn="ctr">
                        <a:lnSpc>
                          <a:spcPts val="2379"/>
                        </a:lnSpc>
                      </a:pPr>
                      <a:r>
                        <a:rPr lang="en-US" b="true" sz="1699">
                          <a:solidFill>
                            <a:srgbClr val="5885D8"/>
                          </a:solidFill>
                          <a:latin typeface="Inter Bold"/>
                          <a:ea typeface="Inter Bold"/>
                          <a:cs typeface="Inter Bold"/>
                          <a:sym typeface="Inter Bold"/>
                        </a:rPr>
                        <a:t>($M)</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ctr">
                        <a:lnSpc>
                          <a:spcPts val="2379"/>
                        </a:lnSpc>
                        <a:defRPr/>
                      </a:pPr>
                      <a:r>
                        <a:rPr lang="en-US" b="true" sz="1699" strike="noStrike" u="none">
                          <a:solidFill>
                            <a:srgbClr val="5885D8"/>
                          </a:solidFill>
                          <a:latin typeface="Inter Bold"/>
                          <a:ea typeface="Inter Bold"/>
                          <a:cs typeface="Inter Bold"/>
                          <a:sym typeface="Inter Bold"/>
                        </a:rPr>
                        <a:t>Market Cap ($M)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ctr">
                        <a:lnSpc>
                          <a:spcPts val="2379"/>
                        </a:lnSpc>
                        <a:defRPr/>
                      </a:pPr>
                      <a:r>
                        <a:rPr lang="en-US" b="true" sz="1699">
                          <a:solidFill>
                            <a:srgbClr val="5885D8"/>
                          </a:solidFill>
                          <a:latin typeface="Inter Bold"/>
                          <a:ea typeface="Inter Bold"/>
                          <a:cs typeface="Inter Bold"/>
                          <a:sym typeface="Inter Bold"/>
                        </a:rPr>
                        <a:t>Revenue → Token Holders (% / $)</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ctr">
                        <a:lnSpc>
                          <a:spcPts val="2379"/>
                        </a:lnSpc>
                        <a:defRPr/>
                      </a:pPr>
                      <a:r>
                        <a:rPr lang="en-US" b="true" sz="1699">
                          <a:solidFill>
                            <a:srgbClr val="5885D8"/>
                          </a:solidFill>
                          <a:latin typeface="Inter Bold"/>
                          <a:ea typeface="Inter Bold"/>
                          <a:cs typeface="Inter Bold"/>
                          <a:sym typeface="Inter Bold"/>
                        </a:rPr>
                        <a:t>~P/E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ctr">
                        <a:lnSpc>
                          <a:spcPts val="2379"/>
                        </a:lnSpc>
                        <a:defRPr/>
                      </a:pPr>
                      <a:r>
                        <a:rPr lang="en-US" sz="1699" b="true">
                          <a:solidFill>
                            <a:srgbClr val="5885D8"/>
                          </a:solidFill>
                          <a:latin typeface="Inter Bold"/>
                          <a:ea typeface="Inter Bold"/>
                          <a:cs typeface="Inter Bold"/>
                          <a:sym typeface="Inter Bold"/>
                        </a:rPr>
                        <a:t>Name of </a:t>
                      </a:r>
                      <a:r>
                        <a:rPr lang="en-US" b="true" sz="1699">
                          <a:solidFill>
                            <a:srgbClr val="5885D8"/>
                          </a:solidFill>
                          <a:latin typeface="Inter Bold"/>
                          <a:ea typeface="Inter Bold"/>
                          <a:cs typeface="Inter Bold"/>
                          <a:sym typeface="Inter Bold"/>
                        </a:rPr>
                        <a:t>Protocol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1345714">
                <a:tc>
                  <a:txBody>
                    <a:bodyPr anchor="t" rtlCol="false"/>
                    <a:lstStyle/>
                    <a:p>
                      <a:pPr algn="ctr">
                        <a:lnSpc>
                          <a:spcPts val="2659"/>
                        </a:lnSpc>
                        <a:defRPr/>
                      </a:pPr>
                      <a:r>
                        <a:rPr lang="en-US" sz="1899">
                          <a:solidFill>
                            <a:srgbClr val="000000"/>
                          </a:solidFill>
                          <a:latin typeface="Inter"/>
                          <a:ea typeface="Inter"/>
                          <a:cs typeface="Inter"/>
                          <a:sym typeface="Inter"/>
                        </a:rPr>
                        <a:t>2,472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Inter"/>
                          <a:ea typeface="Inter"/>
                          <a:cs typeface="Inter"/>
                          <a:sym typeface="Inter"/>
                        </a:rPr>
                        <a:t>43,039</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Inter"/>
                          <a:ea typeface="Inter"/>
                          <a:cs typeface="Inter"/>
                          <a:sym typeface="Inter"/>
                        </a:rPr>
                        <a:t>97% / 2,397</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Inter"/>
                          <a:ea typeface="Inter"/>
                          <a:cs typeface="Inter"/>
                          <a:sym typeface="Inter"/>
                        </a:rPr>
                        <a:t>~17.4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b="true">
                          <a:solidFill>
                            <a:srgbClr val="000000"/>
                          </a:solidFill>
                          <a:latin typeface="Inter Bold"/>
                          <a:ea typeface="Inter Bold"/>
                          <a:cs typeface="Inter Bold"/>
                          <a:sym typeface="Inter Bold"/>
                        </a:rPr>
                        <a:t>Hyperliquid</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45714">
                <a:tc>
                  <a:txBody>
                    <a:bodyPr anchor="t" rtlCol="false"/>
                    <a:lstStyle/>
                    <a:p>
                      <a:pPr algn="ctr">
                        <a:lnSpc>
                          <a:spcPts val="2659"/>
                        </a:lnSpc>
                        <a:defRPr/>
                      </a:pPr>
                      <a:r>
                        <a:rPr lang="en-US" sz="1899">
                          <a:solidFill>
                            <a:srgbClr val="000000"/>
                          </a:solidFill>
                          <a:latin typeface="Inter"/>
                          <a:ea typeface="Inter"/>
                          <a:cs typeface="Inter"/>
                          <a:sym typeface="Inter"/>
                        </a:rPr>
                        <a:t>1,689</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ctr">
                        <a:lnSpc>
                          <a:spcPts val="2659"/>
                        </a:lnSpc>
                        <a:defRPr/>
                      </a:pPr>
                      <a:r>
                        <a:rPr lang="en-US" sz="1899">
                          <a:solidFill>
                            <a:srgbClr val="000000"/>
                          </a:solidFill>
                          <a:latin typeface="Inter"/>
                          <a:ea typeface="Inter"/>
                          <a:cs typeface="Inter"/>
                          <a:sym typeface="Inter"/>
                        </a:rPr>
                        <a:t>5,072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ctr">
                        <a:lnSpc>
                          <a:spcPts val="2659"/>
                        </a:lnSpc>
                        <a:defRPr/>
                      </a:pPr>
                      <a:r>
                        <a:rPr lang="en-US" sz="1899">
                          <a:solidFill>
                            <a:srgbClr val="000000"/>
                          </a:solidFill>
                          <a:latin typeface="Inter"/>
                          <a:ea typeface="Inter"/>
                          <a:cs typeface="Inter"/>
                          <a:sym typeface="Inter"/>
                        </a:rPr>
                        <a:t>100% / 1,689</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ctr">
                        <a:lnSpc>
                          <a:spcPts val="2659"/>
                        </a:lnSpc>
                        <a:defRPr/>
                      </a:pPr>
                      <a:r>
                        <a:rPr lang="en-US" sz="1899">
                          <a:solidFill>
                            <a:srgbClr val="000000"/>
                          </a:solidFill>
                          <a:latin typeface="Inter"/>
                          <a:ea typeface="Inter"/>
                          <a:cs typeface="Inter"/>
                          <a:sym typeface="Inter"/>
                        </a:rPr>
                        <a:t>~3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ctr">
                        <a:lnSpc>
                          <a:spcPts val="2659"/>
                        </a:lnSpc>
                        <a:defRPr/>
                      </a:pPr>
                      <a:r>
                        <a:rPr lang="en-US" sz="1899" b="true">
                          <a:solidFill>
                            <a:srgbClr val="000000"/>
                          </a:solidFill>
                          <a:latin typeface="Inter Bold"/>
                          <a:ea typeface="Inter Bold"/>
                          <a:cs typeface="Inter Bold"/>
                          <a:sym typeface="Inter Bold"/>
                        </a:rPr>
                        <a:t>Pump</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r>
              <a:tr h="1345714">
                <a:tc>
                  <a:txBody>
                    <a:bodyPr anchor="t" rtlCol="false"/>
                    <a:lstStyle/>
                    <a:p>
                      <a:pPr algn="ctr">
                        <a:lnSpc>
                          <a:spcPts val="2659"/>
                        </a:lnSpc>
                        <a:defRPr/>
                      </a:pPr>
                      <a:r>
                        <a:rPr lang="en-US" sz="1899">
                          <a:solidFill>
                            <a:srgbClr val="000000"/>
                          </a:solidFill>
                          <a:latin typeface="Inter"/>
                          <a:ea typeface="Inter"/>
                          <a:cs typeface="Inter"/>
                          <a:sym typeface="Inter"/>
                        </a:rPr>
                        <a:t>703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Inter"/>
                          <a:ea typeface="Inter"/>
                          <a:cs typeface="Inter"/>
                          <a:sym typeface="Inter"/>
                        </a:rPr>
                        <a:t>2,983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Inter"/>
                          <a:ea typeface="Inter"/>
                          <a:cs typeface="Inter"/>
                          <a:sym typeface="Inter"/>
                        </a:rPr>
                        <a:t>50% / 351.5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00000"/>
                          </a:solidFill>
                          <a:latin typeface="Inter"/>
                          <a:ea typeface="Inter"/>
                          <a:cs typeface="Inter"/>
                          <a:sym typeface="Inter"/>
                        </a:rPr>
                        <a:t>~4.25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b="true">
                          <a:solidFill>
                            <a:srgbClr val="000000"/>
                          </a:solidFill>
                          <a:latin typeface="Inter Bold"/>
                          <a:ea typeface="Inter Bold"/>
                          <a:cs typeface="Inter Bold"/>
                          <a:sym typeface="Inter Bold"/>
                        </a:rPr>
                        <a:t>Jupiter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45714">
                <a:tc>
                  <a:txBody>
                    <a:bodyPr anchor="t" rtlCol="false"/>
                    <a:lstStyle/>
                    <a:p>
                      <a:pPr algn="ctr">
                        <a:lnSpc>
                          <a:spcPts val="2659"/>
                        </a:lnSpc>
                        <a:defRPr/>
                      </a:pPr>
                      <a:r>
                        <a:rPr lang="en-US" sz="1899">
                          <a:solidFill>
                            <a:srgbClr val="000000"/>
                          </a:solidFill>
                          <a:latin typeface="Inter"/>
                          <a:ea typeface="Inter"/>
                          <a:cs typeface="Inter"/>
                          <a:sym typeface="Inter"/>
                        </a:rPr>
                        <a:t>137</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ctr">
                        <a:lnSpc>
                          <a:spcPts val="2659"/>
                        </a:lnSpc>
                        <a:defRPr/>
                      </a:pPr>
                      <a:r>
                        <a:rPr lang="en-US" sz="1899">
                          <a:solidFill>
                            <a:srgbClr val="000000"/>
                          </a:solidFill>
                          <a:latin typeface="Inter"/>
                          <a:ea typeface="Inter"/>
                          <a:cs typeface="Inter"/>
                          <a:sym typeface="Inter"/>
                        </a:rPr>
                        <a:t>1,580</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ctr">
                        <a:lnSpc>
                          <a:spcPts val="2659"/>
                        </a:lnSpc>
                        <a:defRPr/>
                      </a:pPr>
                      <a:r>
                        <a:rPr lang="en-US" sz="1899">
                          <a:solidFill>
                            <a:srgbClr val="000000"/>
                          </a:solidFill>
                          <a:latin typeface="Inter"/>
                          <a:ea typeface="Inter"/>
                          <a:cs typeface="Inter"/>
                          <a:sym typeface="Inter"/>
                        </a:rPr>
                        <a:t>100% / 137</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ctr">
                        <a:lnSpc>
                          <a:spcPts val="2659"/>
                        </a:lnSpc>
                        <a:defRPr/>
                      </a:pPr>
                      <a:r>
                        <a:rPr lang="en-US" sz="1899">
                          <a:solidFill>
                            <a:srgbClr val="000000"/>
                          </a:solidFill>
                          <a:latin typeface="Inter"/>
                          <a:ea typeface="Inter"/>
                          <a:cs typeface="Inter"/>
                          <a:sym typeface="Inter"/>
                        </a:rPr>
                        <a:t>~11.5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ctr">
                        <a:lnSpc>
                          <a:spcPts val="2659"/>
                        </a:lnSpc>
                        <a:defRPr/>
                      </a:pPr>
                      <a:r>
                        <a:rPr lang="en-US" sz="1899" b="true">
                          <a:solidFill>
                            <a:srgbClr val="000000"/>
                          </a:solidFill>
                          <a:latin typeface="Inter Bold"/>
                          <a:ea typeface="Inter Bold"/>
                          <a:cs typeface="Inter Bold"/>
                          <a:sym typeface="Inter Bold"/>
                        </a:rPr>
                        <a:t>Sky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r>
            </a:tbl>
          </a:graphicData>
        </a:graphic>
      </p:graphicFrame>
      <p:sp>
        <p:nvSpPr>
          <p:cNvPr name="TextBox 4" id="4"/>
          <p:cNvSpPr txBox="true"/>
          <p:nvPr/>
        </p:nvSpPr>
        <p:spPr>
          <a:xfrm rot="0">
            <a:off x="1028700" y="895350"/>
            <a:ext cx="13349660"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Speculation evolves to real business fundamentals</a:t>
            </a:r>
          </a:p>
        </p:txBody>
      </p:sp>
      <p:sp>
        <p:nvSpPr>
          <p:cNvPr name="TextBox 5" id="5"/>
          <p:cNvSpPr txBox="true"/>
          <p:nvPr/>
        </p:nvSpPr>
        <p:spPr>
          <a:xfrm rot="0">
            <a:off x="1028700" y="4451033"/>
            <a:ext cx="5117231" cy="1564005"/>
          </a:xfrm>
          <a:prstGeom prst="rect">
            <a:avLst/>
          </a:prstGeom>
        </p:spPr>
        <p:txBody>
          <a:bodyPr anchor="t" rtlCol="false" tIns="0" lIns="0" bIns="0" rIns="0">
            <a:spAutoFit/>
          </a:bodyPr>
          <a:lstStyle/>
          <a:p>
            <a:pPr algn="l">
              <a:lnSpc>
                <a:spcPts val="2520"/>
              </a:lnSpc>
            </a:pPr>
            <a:r>
              <a:rPr lang="en-US" sz="1800">
                <a:solidFill>
                  <a:srgbClr val="000000"/>
                </a:solidFill>
                <a:latin typeface="Inter"/>
                <a:ea typeface="Inter"/>
                <a:cs typeface="Inter"/>
                <a:sym typeface="Inter"/>
              </a:rPr>
              <a:t>Th</a:t>
            </a:r>
            <a:r>
              <a:rPr lang="en-US" sz="1800">
                <a:solidFill>
                  <a:srgbClr val="000000"/>
                </a:solidFill>
                <a:latin typeface="Inter"/>
                <a:ea typeface="Inter"/>
                <a:cs typeface="Inter"/>
                <a:sym typeface="Inter"/>
              </a:rPr>
              <a:t>ese businesses not only generate hundreds of millions in annualized revenue they allocate a significant portion of it to buying back their token, aligning the business’ success with stakeholders.</a:t>
            </a:r>
          </a:p>
        </p:txBody>
      </p:sp>
      <p:sp>
        <p:nvSpPr>
          <p:cNvPr name="TextBox 6" id="6"/>
          <p:cNvSpPr txBox="true"/>
          <p:nvPr/>
        </p:nvSpPr>
        <p:spPr>
          <a:xfrm rot="0">
            <a:off x="1028700" y="2412927"/>
            <a:ext cx="5493523" cy="1500505"/>
          </a:xfrm>
          <a:prstGeom prst="rect">
            <a:avLst/>
          </a:prstGeom>
        </p:spPr>
        <p:txBody>
          <a:bodyPr anchor="t" rtlCol="false" tIns="0" lIns="0" bIns="0" rIns="0">
            <a:spAutoFit/>
          </a:bodyPr>
          <a:lstStyle/>
          <a:p>
            <a:pPr algn="l">
              <a:lnSpc>
                <a:spcPts val="3919"/>
              </a:lnSpc>
            </a:pPr>
            <a:r>
              <a:rPr lang="en-US" sz="2799" b="true">
                <a:solidFill>
                  <a:srgbClr val="000000"/>
                </a:solidFill>
                <a:latin typeface="Cabinet Grotesk Bold"/>
                <a:ea typeface="Cabinet Grotesk Bold"/>
                <a:cs typeface="Cabinet Grotesk Bold"/>
                <a:sym typeface="Cabinet Grotesk Bold"/>
              </a:rPr>
              <a:t>C</a:t>
            </a:r>
            <a:r>
              <a:rPr lang="en-US" sz="2799" b="true">
                <a:solidFill>
                  <a:srgbClr val="000000"/>
                </a:solidFill>
                <a:latin typeface="Cabinet Grotesk Bold"/>
                <a:ea typeface="Cabinet Grotesk Bold"/>
                <a:cs typeface="Cabinet Grotesk Bold"/>
                <a:sym typeface="Cabinet Grotesk Bold"/>
              </a:rPr>
              <a:t>ry</a:t>
            </a:r>
            <a:r>
              <a:rPr lang="en-US" b="true" sz="2799">
                <a:solidFill>
                  <a:srgbClr val="000000"/>
                </a:solidFill>
                <a:latin typeface="Cabinet Grotesk Bold"/>
                <a:ea typeface="Cabinet Grotesk Bold"/>
                <a:cs typeface="Cabinet Grotesk Bold"/>
                <a:sym typeface="Cabinet Grotesk Bold"/>
              </a:rPr>
              <a:t>pto has graduated from pure speculation to real businesses generating billions in revenue</a:t>
            </a:r>
          </a:p>
        </p:txBody>
      </p:sp>
      <p:sp>
        <p:nvSpPr>
          <p:cNvPr name="TextBox 7" id="7"/>
          <p:cNvSpPr txBox="true"/>
          <p:nvPr/>
        </p:nvSpPr>
        <p:spPr>
          <a:xfrm rot="0">
            <a:off x="7604820" y="9311648"/>
            <a:ext cx="6773540" cy="207645"/>
          </a:xfrm>
          <a:prstGeom prst="rect">
            <a:avLst/>
          </a:prstGeom>
        </p:spPr>
        <p:txBody>
          <a:bodyPr anchor="t" rtlCol="false" tIns="0" lIns="0" bIns="0" rIns="0">
            <a:spAutoFit/>
          </a:bodyPr>
          <a:lstStyle/>
          <a:p>
            <a:pPr algn="ctr">
              <a:lnSpc>
                <a:spcPts val="1679"/>
              </a:lnSpc>
            </a:pPr>
            <a:r>
              <a:rPr lang="en-US" sz="1200" b="true">
                <a:solidFill>
                  <a:srgbClr val="000000"/>
                </a:solidFill>
                <a:latin typeface="Inter Bold"/>
                <a:ea typeface="Inter Bold"/>
                <a:cs typeface="Inter Bold"/>
                <a:sym typeface="Inter Bold"/>
              </a:rPr>
              <a:t>* Revenue figures were annualized from the l</a:t>
            </a:r>
            <a:r>
              <a:rPr lang="en-US" b="true" sz="1200">
                <a:solidFill>
                  <a:srgbClr val="000000"/>
                </a:solidFill>
                <a:latin typeface="Inter Bold"/>
                <a:ea typeface="Inter Bold"/>
                <a:cs typeface="Inter Bold"/>
                <a:sym typeface="Inter Bold"/>
              </a:rPr>
              <a:t>ast 30d revenue figures, as of September, 2025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395894"/>
            <a:ext cx="5173807" cy="6273342"/>
            <a:chOff x="0" y="0"/>
            <a:chExt cx="1362649" cy="1652238"/>
          </a:xfrm>
        </p:grpSpPr>
        <p:sp>
          <p:nvSpPr>
            <p:cNvPr name="Freeform 4" id="4"/>
            <p:cNvSpPr/>
            <p:nvPr/>
          </p:nvSpPr>
          <p:spPr>
            <a:xfrm flipH="false" flipV="false" rot="0">
              <a:off x="0" y="0"/>
              <a:ext cx="1362649" cy="1652238"/>
            </a:xfrm>
            <a:custGeom>
              <a:avLst/>
              <a:gdLst/>
              <a:ahLst/>
              <a:cxnLst/>
              <a:rect r="r" b="b" t="t" l="l"/>
              <a:pathLst>
                <a:path h="1652238" w="1362649">
                  <a:moveTo>
                    <a:pt x="0" y="0"/>
                  </a:moveTo>
                  <a:lnTo>
                    <a:pt x="1362649" y="0"/>
                  </a:lnTo>
                  <a:lnTo>
                    <a:pt x="1362649" y="1652238"/>
                  </a:lnTo>
                  <a:lnTo>
                    <a:pt x="0" y="1652238"/>
                  </a:lnTo>
                  <a:close/>
                </a:path>
              </a:pathLst>
            </a:custGeom>
            <a:solidFill>
              <a:srgbClr val="FFFFFF"/>
            </a:solidFill>
          </p:spPr>
        </p:sp>
        <p:sp>
          <p:nvSpPr>
            <p:cNvPr name="TextBox 5" id="5"/>
            <p:cNvSpPr txBox="true"/>
            <p:nvPr/>
          </p:nvSpPr>
          <p:spPr>
            <a:xfrm>
              <a:off x="0" y="-38100"/>
              <a:ext cx="1362649" cy="169033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560379" y="2395894"/>
            <a:ext cx="5173807" cy="6273342"/>
            <a:chOff x="0" y="0"/>
            <a:chExt cx="1362649" cy="1652238"/>
          </a:xfrm>
        </p:grpSpPr>
        <p:sp>
          <p:nvSpPr>
            <p:cNvPr name="Freeform 7" id="7"/>
            <p:cNvSpPr/>
            <p:nvPr/>
          </p:nvSpPr>
          <p:spPr>
            <a:xfrm flipH="false" flipV="false" rot="0">
              <a:off x="0" y="0"/>
              <a:ext cx="1362649" cy="1652238"/>
            </a:xfrm>
            <a:custGeom>
              <a:avLst/>
              <a:gdLst/>
              <a:ahLst/>
              <a:cxnLst/>
              <a:rect r="r" b="b" t="t" l="l"/>
              <a:pathLst>
                <a:path h="1652238" w="1362649">
                  <a:moveTo>
                    <a:pt x="0" y="0"/>
                  </a:moveTo>
                  <a:lnTo>
                    <a:pt x="1362649" y="0"/>
                  </a:lnTo>
                  <a:lnTo>
                    <a:pt x="1362649" y="1652238"/>
                  </a:lnTo>
                  <a:lnTo>
                    <a:pt x="0" y="1652238"/>
                  </a:lnTo>
                  <a:close/>
                </a:path>
              </a:pathLst>
            </a:custGeom>
            <a:solidFill>
              <a:srgbClr val="FFFFFF"/>
            </a:solidFill>
          </p:spPr>
        </p:sp>
        <p:sp>
          <p:nvSpPr>
            <p:cNvPr name="TextBox 8" id="8"/>
            <p:cNvSpPr txBox="true"/>
            <p:nvPr/>
          </p:nvSpPr>
          <p:spPr>
            <a:xfrm>
              <a:off x="0" y="-38100"/>
              <a:ext cx="1362649" cy="169033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2085493" y="2395894"/>
            <a:ext cx="5173807" cy="6273342"/>
            <a:chOff x="0" y="0"/>
            <a:chExt cx="1362649" cy="1652238"/>
          </a:xfrm>
        </p:grpSpPr>
        <p:sp>
          <p:nvSpPr>
            <p:cNvPr name="Freeform 10" id="10"/>
            <p:cNvSpPr/>
            <p:nvPr/>
          </p:nvSpPr>
          <p:spPr>
            <a:xfrm flipH="false" flipV="false" rot="0">
              <a:off x="0" y="0"/>
              <a:ext cx="1362649" cy="1652238"/>
            </a:xfrm>
            <a:custGeom>
              <a:avLst/>
              <a:gdLst/>
              <a:ahLst/>
              <a:cxnLst/>
              <a:rect r="r" b="b" t="t" l="l"/>
              <a:pathLst>
                <a:path h="1652238" w="1362649">
                  <a:moveTo>
                    <a:pt x="0" y="0"/>
                  </a:moveTo>
                  <a:lnTo>
                    <a:pt x="1362649" y="0"/>
                  </a:lnTo>
                  <a:lnTo>
                    <a:pt x="1362649" y="1652238"/>
                  </a:lnTo>
                  <a:lnTo>
                    <a:pt x="0" y="1652238"/>
                  </a:lnTo>
                  <a:close/>
                </a:path>
              </a:pathLst>
            </a:custGeom>
            <a:solidFill>
              <a:srgbClr val="FFFFFF"/>
            </a:solidFill>
          </p:spPr>
        </p:sp>
        <p:sp>
          <p:nvSpPr>
            <p:cNvPr name="TextBox 11" id="11"/>
            <p:cNvSpPr txBox="true"/>
            <p:nvPr/>
          </p:nvSpPr>
          <p:spPr>
            <a:xfrm>
              <a:off x="0" y="-38100"/>
              <a:ext cx="1362649" cy="169033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28700" y="895350"/>
            <a:ext cx="6333158"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You cant do this alone ...</a:t>
            </a:r>
          </a:p>
        </p:txBody>
      </p:sp>
      <p:sp>
        <p:nvSpPr>
          <p:cNvPr name="TextBox 13" id="13"/>
          <p:cNvSpPr txBox="true"/>
          <p:nvPr/>
        </p:nvSpPr>
        <p:spPr>
          <a:xfrm rot="0">
            <a:off x="1757737" y="2713443"/>
            <a:ext cx="3453840" cy="1005205"/>
          </a:xfrm>
          <a:prstGeom prst="rect">
            <a:avLst/>
          </a:prstGeom>
        </p:spPr>
        <p:txBody>
          <a:bodyPr anchor="t" rtlCol="false" tIns="0" lIns="0" bIns="0" rIns="0">
            <a:spAutoFit/>
          </a:bodyPr>
          <a:lstStyle/>
          <a:p>
            <a:pPr algn="l">
              <a:lnSpc>
                <a:spcPts val="3919"/>
              </a:lnSpc>
            </a:pPr>
            <a:r>
              <a:rPr lang="en-US" sz="2799" b="true">
                <a:solidFill>
                  <a:srgbClr val="0B081D"/>
                </a:solidFill>
                <a:latin typeface="Cabinet Grotesk Bold"/>
                <a:ea typeface="Cabinet Grotesk Bold"/>
                <a:cs typeface="Cabinet Grotesk Bold"/>
                <a:sym typeface="Cabinet Grotesk Bold"/>
              </a:rPr>
              <a:t>Rea</a:t>
            </a:r>
            <a:r>
              <a:rPr lang="en-US" b="true" sz="2799">
                <a:solidFill>
                  <a:srgbClr val="0B081D"/>
                </a:solidFill>
                <a:latin typeface="Cabinet Grotesk Bold"/>
                <a:ea typeface="Cabinet Grotesk Bold"/>
                <a:cs typeface="Cabinet Grotesk Bold"/>
                <a:sym typeface="Cabinet Grotesk Bold"/>
              </a:rPr>
              <a:t>l-Time Defense, Zero Downtime</a:t>
            </a:r>
          </a:p>
        </p:txBody>
      </p:sp>
      <p:sp>
        <p:nvSpPr>
          <p:cNvPr name="TextBox 14" id="14"/>
          <p:cNvSpPr txBox="true"/>
          <p:nvPr/>
        </p:nvSpPr>
        <p:spPr>
          <a:xfrm rot="0">
            <a:off x="7289416" y="2713443"/>
            <a:ext cx="3651260" cy="1005205"/>
          </a:xfrm>
          <a:prstGeom prst="rect">
            <a:avLst/>
          </a:prstGeom>
        </p:spPr>
        <p:txBody>
          <a:bodyPr anchor="t" rtlCol="false" tIns="0" lIns="0" bIns="0" rIns="0">
            <a:spAutoFit/>
          </a:bodyPr>
          <a:lstStyle/>
          <a:p>
            <a:pPr algn="l">
              <a:lnSpc>
                <a:spcPts val="3919"/>
              </a:lnSpc>
            </a:pPr>
            <a:r>
              <a:rPr lang="en-US" sz="2799" b="true">
                <a:solidFill>
                  <a:srgbClr val="0B081D"/>
                </a:solidFill>
                <a:latin typeface="Cabinet Grotesk Bold"/>
                <a:ea typeface="Cabinet Grotesk Bold"/>
                <a:cs typeface="Cabinet Grotesk Bold"/>
                <a:sym typeface="Cabinet Grotesk Bold"/>
              </a:rPr>
              <a:t>We’re </a:t>
            </a:r>
            <a:r>
              <a:rPr lang="en-US" b="true" sz="2799">
                <a:solidFill>
                  <a:srgbClr val="0B081D"/>
                </a:solidFill>
                <a:latin typeface="Cabinet Grotesk Bold"/>
                <a:ea typeface="Cabinet Grotesk Bold"/>
                <a:cs typeface="Cabinet Grotesk Bold"/>
                <a:sym typeface="Cabinet Grotesk Bold"/>
              </a:rPr>
              <a:t>the Ones People Call “Exit Liquidity”</a:t>
            </a:r>
          </a:p>
        </p:txBody>
      </p:sp>
      <p:sp>
        <p:nvSpPr>
          <p:cNvPr name="TextBox 15" id="15"/>
          <p:cNvSpPr txBox="true"/>
          <p:nvPr/>
        </p:nvSpPr>
        <p:spPr>
          <a:xfrm rot="0">
            <a:off x="12814531" y="2713443"/>
            <a:ext cx="3294369" cy="1005205"/>
          </a:xfrm>
          <a:prstGeom prst="rect">
            <a:avLst/>
          </a:prstGeom>
        </p:spPr>
        <p:txBody>
          <a:bodyPr anchor="t" rtlCol="false" tIns="0" lIns="0" bIns="0" rIns="0">
            <a:spAutoFit/>
          </a:bodyPr>
          <a:lstStyle/>
          <a:p>
            <a:pPr algn="l">
              <a:lnSpc>
                <a:spcPts val="3919"/>
              </a:lnSpc>
            </a:pPr>
            <a:r>
              <a:rPr lang="en-US" sz="2799" b="true">
                <a:solidFill>
                  <a:srgbClr val="0B081D"/>
                </a:solidFill>
                <a:latin typeface="Cabinet Grotesk Bold"/>
                <a:ea typeface="Cabinet Grotesk Bold"/>
                <a:cs typeface="Cabinet Grotesk Bold"/>
                <a:sym typeface="Cabinet Grotesk Bold"/>
              </a:rPr>
              <a:t>Execution Is a Compe</a:t>
            </a:r>
            <a:r>
              <a:rPr lang="en-US" b="true" sz="2799">
                <a:solidFill>
                  <a:srgbClr val="0B081D"/>
                </a:solidFill>
                <a:latin typeface="Cabinet Grotesk Bold"/>
                <a:ea typeface="Cabinet Grotesk Bold"/>
                <a:cs typeface="Cabinet Grotesk Bold"/>
                <a:sym typeface="Cabinet Grotesk Bold"/>
              </a:rPr>
              <a:t>titive Moat</a:t>
            </a:r>
          </a:p>
        </p:txBody>
      </p:sp>
      <p:sp>
        <p:nvSpPr>
          <p:cNvPr name="TextBox 16" id="16"/>
          <p:cNvSpPr txBox="true"/>
          <p:nvPr/>
        </p:nvSpPr>
        <p:spPr>
          <a:xfrm rot="0">
            <a:off x="1585228" y="4158966"/>
            <a:ext cx="4060751" cy="4078605"/>
          </a:xfrm>
          <a:prstGeom prst="rect">
            <a:avLst/>
          </a:prstGeom>
        </p:spPr>
        <p:txBody>
          <a:bodyPr anchor="t" rtlCol="false" tIns="0" lIns="0" bIns="0" rIns="0">
            <a:spAutoFit/>
          </a:bodyPr>
          <a:lstStyle/>
          <a:p>
            <a:pPr algn="l" marL="388618" indent="-194309" lvl="1">
              <a:lnSpc>
                <a:spcPts val="2519"/>
              </a:lnSpc>
              <a:buFont typeface="Arial"/>
              <a:buChar char="•"/>
            </a:pPr>
            <a:r>
              <a:rPr lang="en-US" sz="1799">
                <a:solidFill>
                  <a:srgbClr val="000000"/>
                </a:solidFill>
                <a:latin typeface="Inter"/>
                <a:ea typeface="Inter"/>
                <a:cs typeface="Inter"/>
                <a:sym typeface="Inter"/>
              </a:rPr>
              <a:t>24/7 monitoring, automated alerts, and kill switch execution</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Smart contracts, multisigs, and custody audited and hardened</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Exploits </a:t>
            </a:r>
            <a:r>
              <a:rPr lang="en-US" sz="1799">
                <a:solidFill>
                  <a:srgbClr val="000000"/>
                </a:solidFill>
                <a:latin typeface="Inter"/>
                <a:ea typeface="Inter"/>
                <a:cs typeface="Inter"/>
                <a:sym typeface="Inter"/>
              </a:rPr>
              <a:t>or drain attempts detected and acted on in minutes, not hours</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Capital protected by infrastructure, not luck</a:t>
            </a:r>
          </a:p>
          <a:p>
            <a:pPr algn="l">
              <a:lnSpc>
                <a:spcPts val="2519"/>
              </a:lnSpc>
            </a:pPr>
          </a:p>
        </p:txBody>
      </p:sp>
      <p:sp>
        <p:nvSpPr>
          <p:cNvPr name="TextBox 17" id="17"/>
          <p:cNvSpPr txBox="true"/>
          <p:nvPr/>
        </p:nvSpPr>
        <p:spPr>
          <a:xfrm rot="0">
            <a:off x="7099678" y="4158966"/>
            <a:ext cx="4095208" cy="3135630"/>
          </a:xfrm>
          <a:prstGeom prst="rect">
            <a:avLst/>
          </a:prstGeom>
        </p:spPr>
        <p:txBody>
          <a:bodyPr anchor="t" rtlCol="false" tIns="0" lIns="0" bIns="0" rIns="0">
            <a:spAutoFit/>
          </a:bodyPr>
          <a:lstStyle/>
          <a:p>
            <a:pPr algn="l" marL="388618" indent="-194309" lvl="1">
              <a:lnSpc>
                <a:spcPts val="2519"/>
              </a:lnSpc>
              <a:buFont typeface="Arial"/>
              <a:buChar char="•"/>
            </a:pPr>
            <a:r>
              <a:rPr lang="en-US" sz="1799">
                <a:solidFill>
                  <a:srgbClr val="000000"/>
                </a:solidFill>
                <a:latin typeface="Inter"/>
                <a:ea typeface="Inter"/>
                <a:cs typeface="Inter"/>
                <a:sym typeface="Inter"/>
              </a:rPr>
              <a:t>Early access to information, teams, and private rounds</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We</a:t>
            </a:r>
            <a:r>
              <a:rPr lang="en-US" sz="1799">
                <a:solidFill>
                  <a:srgbClr val="000000"/>
                </a:solidFill>
                <a:latin typeface="Inter"/>
                <a:ea typeface="Inter"/>
                <a:cs typeface="Inter"/>
                <a:sym typeface="Inter"/>
              </a:rPr>
              <a:t> track insider wallets, exchange flows, and onchain signals bef</a:t>
            </a:r>
            <a:r>
              <a:rPr lang="en-US" sz="1799">
                <a:solidFill>
                  <a:srgbClr val="000000"/>
                </a:solidFill>
                <a:latin typeface="Inter"/>
                <a:ea typeface="Inter"/>
                <a:cs typeface="Inter"/>
                <a:sym typeface="Inter"/>
              </a:rPr>
              <a:t>ore they trend</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When Twitter’s talking, we’re already exiting</a:t>
            </a:r>
          </a:p>
          <a:p>
            <a:pPr algn="l">
              <a:lnSpc>
                <a:spcPts val="2519"/>
              </a:lnSpc>
            </a:pPr>
          </a:p>
        </p:txBody>
      </p:sp>
      <p:sp>
        <p:nvSpPr>
          <p:cNvPr name="TextBox 18" id="18"/>
          <p:cNvSpPr txBox="true"/>
          <p:nvPr/>
        </p:nvSpPr>
        <p:spPr>
          <a:xfrm rot="0">
            <a:off x="12651898" y="4158966"/>
            <a:ext cx="4040997" cy="3764280"/>
          </a:xfrm>
          <a:prstGeom prst="rect">
            <a:avLst/>
          </a:prstGeom>
        </p:spPr>
        <p:txBody>
          <a:bodyPr anchor="t" rtlCol="false" tIns="0" lIns="0" bIns="0" rIns="0">
            <a:spAutoFit/>
          </a:bodyPr>
          <a:lstStyle/>
          <a:p>
            <a:pPr algn="l" marL="388618" indent="-194309" lvl="1">
              <a:lnSpc>
                <a:spcPts val="2519"/>
              </a:lnSpc>
              <a:buFont typeface="Arial"/>
              <a:buChar char="•"/>
            </a:pPr>
            <a:r>
              <a:rPr lang="en-US" sz="1799">
                <a:solidFill>
                  <a:srgbClr val="000000"/>
                </a:solidFill>
                <a:latin typeface="Inter"/>
                <a:ea typeface="Inter"/>
                <a:cs typeface="Inter"/>
                <a:sym typeface="Inter"/>
              </a:rPr>
              <a:t>Multi Execution layer for slippage control and smart routing</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OTC and MM</a:t>
            </a:r>
            <a:r>
              <a:rPr lang="en-US" sz="1799">
                <a:solidFill>
                  <a:srgbClr val="000000"/>
                </a:solidFill>
                <a:latin typeface="Inter"/>
                <a:ea typeface="Inter"/>
                <a:cs typeface="Inter"/>
                <a:sym typeface="Inter"/>
              </a:rPr>
              <a:t> relationships let us size into positions quietly</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Access t</a:t>
            </a:r>
            <a:r>
              <a:rPr lang="en-US" sz="1799">
                <a:solidFill>
                  <a:srgbClr val="000000"/>
                </a:solidFill>
                <a:latin typeface="Inter"/>
                <a:ea typeface="Inter"/>
                <a:cs typeface="Inter"/>
                <a:sym typeface="Inter"/>
              </a:rPr>
              <a:t>o liquidity directly from teams.</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Precision in entry and exit compounds returns</a:t>
            </a:r>
          </a:p>
          <a:p>
            <a:pPr algn="l">
              <a:lnSpc>
                <a:spcPts val="251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395894"/>
            <a:ext cx="5173807" cy="6273342"/>
            <a:chOff x="0" y="0"/>
            <a:chExt cx="1362649" cy="1652238"/>
          </a:xfrm>
        </p:grpSpPr>
        <p:sp>
          <p:nvSpPr>
            <p:cNvPr name="Freeform 4" id="4"/>
            <p:cNvSpPr/>
            <p:nvPr/>
          </p:nvSpPr>
          <p:spPr>
            <a:xfrm flipH="false" flipV="false" rot="0">
              <a:off x="0" y="0"/>
              <a:ext cx="1362649" cy="1652238"/>
            </a:xfrm>
            <a:custGeom>
              <a:avLst/>
              <a:gdLst/>
              <a:ahLst/>
              <a:cxnLst/>
              <a:rect r="r" b="b" t="t" l="l"/>
              <a:pathLst>
                <a:path h="1652238" w="1362649">
                  <a:moveTo>
                    <a:pt x="0" y="0"/>
                  </a:moveTo>
                  <a:lnTo>
                    <a:pt x="1362649" y="0"/>
                  </a:lnTo>
                  <a:lnTo>
                    <a:pt x="1362649" y="1652238"/>
                  </a:lnTo>
                  <a:lnTo>
                    <a:pt x="0" y="1652238"/>
                  </a:lnTo>
                  <a:close/>
                </a:path>
              </a:pathLst>
            </a:custGeom>
            <a:solidFill>
              <a:srgbClr val="FFFFFF"/>
            </a:solidFill>
          </p:spPr>
        </p:sp>
        <p:sp>
          <p:nvSpPr>
            <p:cNvPr name="TextBox 5" id="5"/>
            <p:cNvSpPr txBox="true"/>
            <p:nvPr/>
          </p:nvSpPr>
          <p:spPr>
            <a:xfrm>
              <a:off x="0" y="-38100"/>
              <a:ext cx="1362649" cy="169033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560379" y="2395894"/>
            <a:ext cx="5173807" cy="6273342"/>
            <a:chOff x="0" y="0"/>
            <a:chExt cx="1362649" cy="1652238"/>
          </a:xfrm>
        </p:grpSpPr>
        <p:sp>
          <p:nvSpPr>
            <p:cNvPr name="Freeform 7" id="7"/>
            <p:cNvSpPr/>
            <p:nvPr/>
          </p:nvSpPr>
          <p:spPr>
            <a:xfrm flipH="false" flipV="false" rot="0">
              <a:off x="0" y="0"/>
              <a:ext cx="1362649" cy="1652238"/>
            </a:xfrm>
            <a:custGeom>
              <a:avLst/>
              <a:gdLst/>
              <a:ahLst/>
              <a:cxnLst/>
              <a:rect r="r" b="b" t="t" l="l"/>
              <a:pathLst>
                <a:path h="1652238" w="1362649">
                  <a:moveTo>
                    <a:pt x="0" y="0"/>
                  </a:moveTo>
                  <a:lnTo>
                    <a:pt x="1362649" y="0"/>
                  </a:lnTo>
                  <a:lnTo>
                    <a:pt x="1362649" y="1652238"/>
                  </a:lnTo>
                  <a:lnTo>
                    <a:pt x="0" y="1652238"/>
                  </a:lnTo>
                  <a:close/>
                </a:path>
              </a:pathLst>
            </a:custGeom>
            <a:solidFill>
              <a:srgbClr val="FFFFFF"/>
            </a:solidFill>
          </p:spPr>
        </p:sp>
        <p:sp>
          <p:nvSpPr>
            <p:cNvPr name="TextBox 8" id="8"/>
            <p:cNvSpPr txBox="true"/>
            <p:nvPr/>
          </p:nvSpPr>
          <p:spPr>
            <a:xfrm>
              <a:off x="0" y="-38100"/>
              <a:ext cx="1362649" cy="169033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2085493" y="2395894"/>
            <a:ext cx="5173807" cy="6273342"/>
            <a:chOff x="0" y="0"/>
            <a:chExt cx="1362649" cy="1652238"/>
          </a:xfrm>
        </p:grpSpPr>
        <p:sp>
          <p:nvSpPr>
            <p:cNvPr name="Freeform 10" id="10"/>
            <p:cNvSpPr/>
            <p:nvPr/>
          </p:nvSpPr>
          <p:spPr>
            <a:xfrm flipH="false" flipV="false" rot="0">
              <a:off x="0" y="0"/>
              <a:ext cx="1362649" cy="1652238"/>
            </a:xfrm>
            <a:custGeom>
              <a:avLst/>
              <a:gdLst/>
              <a:ahLst/>
              <a:cxnLst/>
              <a:rect r="r" b="b" t="t" l="l"/>
              <a:pathLst>
                <a:path h="1652238" w="1362649">
                  <a:moveTo>
                    <a:pt x="0" y="0"/>
                  </a:moveTo>
                  <a:lnTo>
                    <a:pt x="1362649" y="0"/>
                  </a:lnTo>
                  <a:lnTo>
                    <a:pt x="1362649" y="1652238"/>
                  </a:lnTo>
                  <a:lnTo>
                    <a:pt x="0" y="1652238"/>
                  </a:lnTo>
                  <a:close/>
                </a:path>
              </a:pathLst>
            </a:custGeom>
            <a:solidFill>
              <a:srgbClr val="FFFFFF"/>
            </a:solidFill>
          </p:spPr>
        </p:sp>
        <p:sp>
          <p:nvSpPr>
            <p:cNvPr name="TextBox 11" id="11"/>
            <p:cNvSpPr txBox="true"/>
            <p:nvPr/>
          </p:nvSpPr>
          <p:spPr>
            <a:xfrm>
              <a:off x="0" y="-38100"/>
              <a:ext cx="1362649" cy="169033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28700" y="895350"/>
            <a:ext cx="5829672"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 We are here for you</a:t>
            </a:r>
          </a:p>
        </p:txBody>
      </p:sp>
      <p:sp>
        <p:nvSpPr>
          <p:cNvPr name="TextBox 13" id="13"/>
          <p:cNvSpPr txBox="true"/>
          <p:nvPr/>
        </p:nvSpPr>
        <p:spPr>
          <a:xfrm rot="0">
            <a:off x="1757737" y="2713443"/>
            <a:ext cx="3837771" cy="1005205"/>
          </a:xfrm>
          <a:prstGeom prst="rect">
            <a:avLst/>
          </a:prstGeom>
        </p:spPr>
        <p:txBody>
          <a:bodyPr anchor="t" rtlCol="false" tIns="0" lIns="0" bIns="0" rIns="0">
            <a:spAutoFit/>
          </a:bodyPr>
          <a:lstStyle/>
          <a:p>
            <a:pPr algn="l">
              <a:lnSpc>
                <a:spcPts val="3919"/>
              </a:lnSpc>
            </a:pPr>
            <a:r>
              <a:rPr lang="en-US" sz="2799" b="true">
                <a:solidFill>
                  <a:srgbClr val="0B081D"/>
                </a:solidFill>
                <a:latin typeface="Cabinet Grotesk Bold"/>
                <a:ea typeface="Cabinet Grotesk Bold"/>
                <a:cs typeface="Cabinet Grotesk Bold"/>
                <a:sym typeface="Cabinet Grotesk Bold"/>
              </a:rPr>
              <a:t>Vol</a:t>
            </a:r>
            <a:r>
              <a:rPr lang="en-US" sz="2799" b="true">
                <a:solidFill>
                  <a:srgbClr val="0B081D"/>
                </a:solidFill>
                <a:latin typeface="Cabinet Grotesk Bold"/>
                <a:ea typeface="Cabinet Grotesk Bold"/>
                <a:cs typeface="Cabinet Grotesk Bold"/>
                <a:sym typeface="Cabinet Grotesk Bold"/>
              </a:rPr>
              <a:t>ati</a:t>
            </a:r>
            <a:r>
              <a:rPr lang="en-US" b="true" sz="2799">
                <a:solidFill>
                  <a:srgbClr val="0B081D"/>
                </a:solidFill>
                <a:latin typeface="Cabinet Grotesk Bold"/>
                <a:ea typeface="Cabinet Grotesk Bold"/>
                <a:cs typeface="Cabinet Grotesk Bold"/>
                <a:sym typeface="Cabinet Grotesk Bold"/>
              </a:rPr>
              <a:t>lity Is Opportunity, Not Risk</a:t>
            </a:r>
          </a:p>
        </p:txBody>
      </p:sp>
      <p:sp>
        <p:nvSpPr>
          <p:cNvPr name="TextBox 14" id="14"/>
          <p:cNvSpPr txBox="true"/>
          <p:nvPr/>
        </p:nvSpPr>
        <p:spPr>
          <a:xfrm rot="0">
            <a:off x="7289416" y="2713443"/>
            <a:ext cx="3950565" cy="1005205"/>
          </a:xfrm>
          <a:prstGeom prst="rect">
            <a:avLst/>
          </a:prstGeom>
        </p:spPr>
        <p:txBody>
          <a:bodyPr anchor="t" rtlCol="false" tIns="0" lIns="0" bIns="0" rIns="0">
            <a:spAutoFit/>
          </a:bodyPr>
          <a:lstStyle/>
          <a:p>
            <a:pPr algn="l">
              <a:lnSpc>
                <a:spcPts val="3919"/>
              </a:lnSpc>
            </a:pPr>
            <a:r>
              <a:rPr lang="en-US" sz="2799" b="true">
                <a:solidFill>
                  <a:srgbClr val="0B081D"/>
                </a:solidFill>
                <a:latin typeface="Cabinet Grotesk Bold"/>
                <a:ea typeface="Cabinet Grotesk Bold"/>
                <a:cs typeface="Cabinet Grotesk Bold"/>
                <a:sym typeface="Cabinet Grotesk Bold"/>
              </a:rPr>
              <a:t>We Trade on</a:t>
            </a:r>
            <a:r>
              <a:rPr lang="en-US" b="true" sz="2799">
                <a:solidFill>
                  <a:srgbClr val="0B081D"/>
                </a:solidFill>
                <a:latin typeface="Cabinet Grotesk Bold"/>
                <a:ea typeface="Cabinet Grotesk Bold"/>
                <a:cs typeface="Cabinet Grotesk Bold"/>
                <a:sym typeface="Cabinet Grotesk Bold"/>
              </a:rPr>
              <a:t> Information, Not Sentiment</a:t>
            </a:r>
          </a:p>
        </p:txBody>
      </p:sp>
      <p:sp>
        <p:nvSpPr>
          <p:cNvPr name="TextBox 15" id="15"/>
          <p:cNvSpPr txBox="true"/>
          <p:nvPr/>
        </p:nvSpPr>
        <p:spPr>
          <a:xfrm rot="0">
            <a:off x="12814531" y="2713443"/>
            <a:ext cx="3294369" cy="1005205"/>
          </a:xfrm>
          <a:prstGeom prst="rect">
            <a:avLst/>
          </a:prstGeom>
        </p:spPr>
        <p:txBody>
          <a:bodyPr anchor="t" rtlCol="false" tIns="0" lIns="0" bIns="0" rIns="0">
            <a:spAutoFit/>
          </a:bodyPr>
          <a:lstStyle/>
          <a:p>
            <a:pPr algn="l">
              <a:lnSpc>
                <a:spcPts val="3919"/>
              </a:lnSpc>
            </a:pPr>
            <a:r>
              <a:rPr lang="en-US" sz="2799" b="true">
                <a:solidFill>
                  <a:srgbClr val="0B081D"/>
                </a:solidFill>
                <a:latin typeface="Cabinet Grotesk Bold"/>
                <a:ea typeface="Cabinet Grotesk Bold"/>
                <a:cs typeface="Cabinet Grotesk Bold"/>
                <a:sym typeface="Cabinet Grotesk Bold"/>
              </a:rPr>
              <a:t>Scal</a:t>
            </a:r>
            <a:r>
              <a:rPr lang="en-US" sz="2799" b="true">
                <a:solidFill>
                  <a:srgbClr val="0B081D"/>
                </a:solidFill>
                <a:latin typeface="Cabinet Grotesk Bold"/>
                <a:ea typeface="Cabinet Grotesk Bold"/>
                <a:cs typeface="Cabinet Grotesk Bold"/>
                <a:sym typeface="Cabinet Grotesk Bold"/>
              </a:rPr>
              <a:t>e Works for Us, No</a:t>
            </a:r>
            <a:r>
              <a:rPr lang="en-US" b="true" sz="2799">
                <a:solidFill>
                  <a:srgbClr val="0B081D"/>
                </a:solidFill>
                <a:latin typeface="Cabinet Grotesk Bold"/>
                <a:ea typeface="Cabinet Grotesk Bold"/>
                <a:cs typeface="Cabinet Grotesk Bold"/>
                <a:sym typeface="Cabinet Grotesk Bold"/>
              </a:rPr>
              <a:t>t Against Us</a:t>
            </a:r>
          </a:p>
        </p:txBody>
      </p:sp>
      <p:sp>
        <p:nvSpPr>
          <p:cNvPr name="TextBox 16" id="16"/>
          <p:cNvSpPr txBox="true"/>
          <p:nvPr/>
        </p:nvSpPr>
        <p:spPr>
          <a:xfrm rot="0">
            <a:off x="1635698" y="4158966"/>
            <a:ext cx="3959810" cy="3135630"/>
          </a:xfrm>
          <a:prstGeom prst="rect">
            <a:avLst/>
          </a:prstGeom>
        </p:spPr>
        <p:txBody>
          <a:bodyPr anchor="t" rtlCol="false" tIns="0" lIns="0" bIns="0" rIns="0">
            <a:spAutoFit/>
          </a:bodyPr>
          <a:lstStyle/>
          <a:p>
            <a:pPr algn="l" marL="388618" indent="-194309" lvl="1">
              <a:lnSpc>
                <a:spcPts val="2519"/>
              </a:lnSpc>
              <a:buFont typeface="Arial"/>
              <a:buChar char="•"/>
            </a:pPr>
            <a:r>
              <a:rPr lang="en-US" sz="1799">
                <a:solidFill>
                  <a:srgbClr val="000000"/>
                </a:solidFill>
                <a:latin typeface="Inter"/>
                <a:ea typeface="Inter"/>
                <a:cs typeface="Inter"/>
                <a:sym typeface="Inter"/>
              </a:rPr>
              <a:t>Frameworks built fo</a:t>
            </a:r>
            <a:r>
              <a:rPr lang="en-US" sz="1799">
                <a:solidFill>
                  <a:srgbClr val="000000"/>
                </a:solidFill>
                <a:latin typeface="Inter"/>
                <a:ea typeface="Inter"/>
                <a:cs typeface="Inter"/>
                <a:sym typeface="Inter"/>
              </a:rPr>
              <a:t>r both trend and mean reversi</a:t>
            </a:r>
            <a:r>
              <a:rPr lang="en-US" sz="1799">
                <a:solidFill>
                  <a:srgbClr val="000000"/>
                </a:solidFill>
                <a:latin typeface="Inter"/>
                <a:ea typeface="Inter"/>
                <a:cs typeface="Inter"/>
                <a:sym typeface="Inter"/>
              </a:rPr>
              <a:t>on environments</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Hedging and derivatives used systematically, not emotionally</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No panic, no diamond hands, just math</a:t>
            </a:r>
          </a:p>
          <a:p>
            <a:pPr algn="l">
              <a:lnSpc>
                <a:spcPts val="2519"/>
              </a:lnSpc>
            </a:pPr>
          </a:p>
        </p:txBody>
      </p:sp>
      <p:sp>
        <p:nvSpPr>
          <p:cNvPr name="TextBox 17" id="17"/>
          <p:cNvSpPr txBox="true"/>
          <p:nvPr/>
        </p:nvSpPr>
        <p:spPr>
          <a:xfrm rot="0">
            <a:off x="7054583" y="4158966"/>
            <a:ext cx="4185398" cy="3449955"/>
          </a:xfrm>
          <a:prstGeom prst="rect">
            <a:avLst/>
          </a:prstGeom>
        </p:spPr>
        <p:txBody>
          <a:bodyPr anchor="t" rtlCol="false" tIns="0" lIns="0" bIns="0" rIns="0">
            <a:spAutoFit/>
          </a:bodyPr>
          <a:lstStyle/>
          <a:p>
            <a:pPr algn="l" marL="388618" indent="-194309" lvl="1">
              <a:lnSpc>
                <a:spcPts val="2519"/>
              </a:lnSpc>
              <a:buFont typeface="Arial"/>
              <a:buChar char="•"/>
            </a:pPr>
            <a:r>
              <a:rPr lang="en-US" sz="1799">
                <a:solidFill>
                  <a:srgbClr val="000000"/>
                </a:solidFill>
                <a:latin typeface="Inter"/>
                <a:ea typeface="Inter"/>
                <a:cs typeface="Inter"/>
                <a:sym typeface="Inter"/>
              </a:rPr>
              <a:t>Real time onchain analytics for inside</a:t>
            </a:r>
            <a:r>
              <a:rPr lang="en-US" sz="1799">
                <a:solidFill>
                  <a:srgbClr val="000000"/>
                </a:solidFill>
                <a:latin typeface="Inter"/>
                <a:ea typeface="Inter"/>
                <a:cs typeface="Inter"/>
                <a:sym typeface="Inter"/>
              </a:rPr>
              <a:t>r activity and whale movement</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Governance tracking and tokenomics alerts bef</a:t>
            </a:r>
            <a:r>
              <a:rPr lang="en-US" sz="1799">
                <a:solidFill>
                  <a:srgbClr val="000000"/>
                </a:solidFill>
                <a:latin typeface="Inter"/>
                <a:ea typeface="Inter"/>
                <a:cs typeface="Inter"/>
                <a:sym typeface="Inter"/>
              </a:rPr>
              <a:t>ore price impact</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Years of proprietary feeds and networks that cut through noise</a:t>
            </a:r>
          </a:p>
          <a:p>
            <a:pPr algn="l">
              <a:lnSpc>
                <a:spcPts val="2519"/>
              </a:lnSpc>
            </a:pPr>
          </a:p>
        </p:txBody>
      </p:sp>
      <p:sp>
        <p:nvSpPr>
          <p:cNvPr name="TextBox 18" id="18"/>
          <p:cNvSpPr txBox="true"/>
          <p:nvPr/>
        </p:nvSpPr>
        <p:spPr>
          <a:xfrm rot="0">
            <a:off x="12611240" y="4158966"/>
            <a:ext cx="4122313" cy="3764280"/>
          </a:xfrm>
          <a:prstGeom prst="rect">
            <a:avLst/>
          </a:prstGeom>
        </p:spPr>
        <p:txBody>
          <a:bodyPr anchor="t" rtlCol="false" tIns="0" lIns="0" bIns="0" rIns="0">
            <a:spAutoFit/>
          </a:bodyPr>
          <a:lstStyle/>
          <a:p>
            <a:pPr algn="l" marL="388618" indent="-194309" lvl="1">
              <a:lnSpc>
                <a:spcPts val="2519"/>
              </a:lnSpc>
              <a:buFont typeface="Arial"/>
              <a:buChar char="•"/>
            </a:pPr>
            <a:r>
              <a:rPr lang="en-US" sz="1799">
                <a:solidFill>
                  <a:srgbClr val="000000"/>
                </a:solidFill>
                <a:latin typeface="Inter"/>
                <a:ea typeface="Inter"/>
                <a:cs typeface="Inter"/>
                <a:sym typeface="Inter"/>
              </a:rPr>
              <a:t>Capital allocation frameworks sized by risk, not gut feeling</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Po</a:t>
            </a:r>
            <a:r>
              <a:rPr lang="en-US" sz="1799">
                <a:solidFill>
                  <a:srgbClr val="000000"/>
                </a:solidFill>
                <a:latin typeface="Inter"/>
                <a:ea typeface="Inter"/>
                <a:cs typeface="Inter"/>
                <a:sym typeface="Inter"/>
              </a:rPr>
              <a:t>rtfolio construction designed for convexity, n</a:t>
            </a:r>
            <a:r>
              <a:rPr lang="en-US" sz="1799">
                <a:solidFill>
                  <a:srgbClr val="000000"/>
                </a:solidFill>
                <a:latin typeface="Inter"/>
                <a:ea typeface="Inter"/>
                <a:cs typeface="Inter"/>
                <a:sym typeface="Inter"/>
              </a:rPr>
              <a:t>ot linear exposure</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Catastrophic losses are engineered out by design</a:t>
            </a:r>
          </a:p>
          <a:p>
            <a:pPr algn="l">
              <a:lnSpc>
                <a:spcPts val="2519"/>
              </a:lnSpc>
            </a:pPr>
          </a:p>
          <a:p>
            <a:pPr algn="l" marL="388618" indent="-194309" lvl="1">
              <a:lnSpc>
                <a:spcPts val="2519"/>
              </a:lnSpc>
              <a:buFont typeface="Arial"/>
              <a:buChar char="•"/>
            </a:pPr>
            <a:r>
              <a:rPr lang="en-US" sz="1799">
                <a:solidFill>
                  <a:srgbClr val="000000"/>
                </a:solidFill>
                <a:latin typeface="Inter"/>
                <a:ea typeface="Inter"/>
                <a:cs typeface="Inter"/>
                <a:sym typeface="Inter"/>
              </a:rPr>
              <a:t>Small edges, repeated at scale, compound fast</a:t>
            </a:r>
          </a:p>
          <a:p>
            <a:pPr algn="l">
              <a:lnSpc>
                <a:spcPts val="251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32285" y="2785751"/>
            <a:ext cx="12223431" cy="859155"/>
          </a:xfrm>
          <a:prstGeom prst="rect">
            <a:avLst/>
          </a:prstGeom>
        </p:spPr>
        <p:txBody>
          <a:bodyPr anchor="t" rtlCol="false" tIns="0" lIns="0" bIns="0" rIns="0">
            <a:spAutoFit/>
          </a:bodyPr>
          <a:lstStyle/>
          <a:p>
            <a:pPr algn="l">
              <a:lnSpc>
                <a:spcPts val="6719"/>
              </a:lnSpc>
            </a:pPr>
            <a:r>
              <a:rPr lang="en-US" sz="4800" b="true">
                <a:solidFill>
                  <a:srgbClr val="0B081D"/>
                </a:solidFill>
                <a:latin typeface="Cabinet Grotesk Bold"/>
                <a:ea typeface="Cabinet Grotesk Bold"/>
                <a:cs typeface="Cabinet Grotesk Bold"/>
                <a:sym typeface="Cabinet Grotesk Bold"/>
              </a:rPr>
              <a:t>Why Investors Fail at Liquid Crypto: Summary </a:t>
            </a:r>
          </a:p>
        </p:txBody>
      </p:sp>
      <p:sp>
        <p:nvSpPr>
          <p:cNvPr name="TextBox 3" id="3"/>
          <p:cNvSpPr txBox="true"/>
          <p:nvPr/>
        </p:nvSpPr>
        <p:spPr>
          <a:xfrm rot="0">
            <a:off x="3032285" y="4293803"/>
            <a:ext cx="11351386" cy="2315845"/>
          </a:xfrm>
          <a:prstGeom prst="rect">
            <a:avLst/>
          </a:prstGeom>
        </p:spPr>
        <p:txBody>
          <a:bodyPr anchor="t" rtlCol="false" tIns="0" lIns="0" bIns="0" rIns="0">
            <a:spAutoFit/>
          </a:bodyPr>
          <a:lstStyle/>
          <a:p>
            <a:pPr algn="l">
              <a:lnSpc>
                <a:spcPts val="4899"/>
              </a:lnSpc>
            </a:pPr>
            <a:r>
              <a:rPr lang="en-US" sz="3499" b="true">
                <a:solidFill>
                  <a:srgbClr val="0B081D"/>
                </a:solidFill>
                <a:latin typeface="Cabinet Grotesk Bold"/>
                <a:ea typeface="Cabinet Grotesk Bold"/>
                <a:cs typeface="Cabinet Grotesk Bold"/>
                <a:sym typeface="Cabinet Grotesk Bold"/>
              </a:rPr>
              <a:t>This isn't st</a:t>
            </a:r>
            <a:r>
              <a:rPr lang="en-US" sz="3499" b="true">
                <a:solidFill>
                  <a:srgbClr val="0B081D"/>
                </a:solidFill>
                <a:latin typeface="Cabinet Grotesk Bold"/>
                <a:ea typeface="Cabinet Grotesk Bold"/>
                <a:cs typeface="Cabinet Grotesk Bold"/>
                <a:sym typeface="Cabinet Grotesk Bold"/>
              </a:rPr>
              <a:t>ocks.</a:t>
            </a:r>
            <a:r>
              <a:rPr lang="en-US" sz="3499" b="true">
                <a:solidFill>
                  <a:srgbClr val="6FC2D1"/>
                </a:solidFill>
                <a:latin typeface="Cabinet Grotesk Bold"/>
                <a:ea typeface="Cabinet Grotesk Bold"/>
                <a:cs typeface="Cabinet Grotesk Bold"/>
                <a:sym typeface="Cabinet Grotesk Bold"/>
              </a:rPr>
              <a:t> </a:t>
            </a:r>
            <a:r>
              <a:rPr lang="en-US" sz="3499" b="true">
                <a:solidFill>
                  <a:srgbClr val="5885D8"/>
                </a:solidFill>
                <a:latin typeface="Cabinet Grotesk Bold"/>
                <a:ea typeface="Cabinet Grotesk Bold"/>
                <a:cs typeface="Cabinet Grotesk Bold"/>
                <a:sym typeface="Cabinet Grotesk Bold"/>
              </a:rPr>
              <a:t>Crypto </a:t>
            </a:r>
            <a:r>
              <a:rPr lang="en-US" sz="3499" b="true">
                <a:solidFill>
                  <a:srgbClr val="5885D8"/>
                </a:solidFill>
                <a:latin typeface="Cabinet Grotesk Bold"/>
                <a:ea typeface="Cabinet Grotesk Bold"/>
                <a:cs typeface="Cabinet Grotesk Bold"/>
                <a:sym typeface="Cabinet Grotesk Bold"/>
              </a:rPr>
              <a:t>moves fast and trades 24/7.</a:t>
            </a:r>
          </a:p>
          <a:p>
            <a:pPr algn="l">
              <a:lnSpc>
                <a:spcPts val="3359"/>
              </a:lnSpc>
            </a:pPr>
            <a:r>
              <a:rPr lang="en-US" b="true" sz="2400">
                <a:solidFill>
                  <a:srgbClr val="0B081D"/>
                </a:solidFill>
                <a:latin typeface="Cabinet Grotesk Bold"/>
                <a:ea typeface="Cabinet Grotesk Bold"/>
                <a:cs typeface="Cabinet Grotesk Bold"/>
                <a:sym typeface="Cabinet Grotesk Bold"/>
              </a:rPr>
              <a:t> </a:t>
            </a:r>
          </a:p>
          <a:p>
            <a:pPr algn="l">
              <a:lnSpc>
                <a:spcPts val="3359"/>
              </a:lnSpc>
            </a:pPr>
            <a:r>
              <a:rPr lang="en-US" b="true" sz="2400">
                <a:solidFill>
                  <a:srgbClr val="0B081D"/>
                </a:solidFill>
                <a:latin typeface="Cabinet Grotesk Bold"/>
                <a:ea typeface="Cabinet Grotesk Bold"/>
                <a:cs typeface="Cabinet Grotesk Bold"/>
                <a:sym typeface="Cabinet Grotesk Bold"/>
              </a:rPr>
              <a:t>The information advantage of professionals vs. retail is insurmountable. </a:t>
            </a:r>
          </a:p>
          <a:p>
            <a:pPr algn="l">
              <a:lnSpc>
                <a:spcPts val="3359"/>
              </a:lnSpc>
            </a:pPr>
            <a:r>
              <a:rPr lang="en-US" b="true" sz="2400">
                <a:solidFill>
                  <a:srgbClr val="0B081D"/>
                </a:solidFill>
                <a:latin typeface="Cabinet Grotesk Bold"/>
                <a:ea typeface="Cabinet Grotesk Bold"/>
                <a:cs typeface="Cabinet Grotesk Bold"/>
                <a:sym typeface="Cabinet Grotesk Bold"/>
              </a:rPr>
              <a:t>You're competing against teams with decade long networks, real time monitoring, and institutional execution. </a:t>
            </a:r>
            <a:r>
              <a:rPr lang="en-US" b="true" sz="2400" strike="sngStrike">
                <a:solidFill>
                  <a:srgbClr val="96958F"/>
                </a:solidFill>
                <a:latin typeface="Cabinet Grotesk Bold"/>
                <a:ea typeface="Cabinet Grotesk Bold"/>
                <a:cs typeface="Cabinet Grotesk Bold"/>
                <a:sym typeface="Cabinet Grotesk Bold"/>
              </a:rPr>
              <a:t>You are the counterparty they want to see. You will get rinsed.</a:t>
            </a:r>
          </a:p>
        </p:txBody>
      </p:sp>
      <p:sp>
        <p:nvSpPr>
          <p:cNvPr name="Freeform 4" id="4"/>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3246120" y="-4142079"/>
            <a:ext cx="6492240" cy="6520815"/>
            <a:chOff x="0" y="0"/>
            <a:chExt cx="8656320" cy="8694420"/>
          </a:xfrm>
        </p:grpSpPr>
        <p:sp>
          <p:nvSpPr>
            <p:cNvPr name="AutoShape 6" id="6"/>
            <p:cNvSpPr/>
            <p:nvPr/>
          </p:nvSpPr>
          <p:spPr>
            <a:xfrm>
              <a:off x="0" y="8669020"/>
              <a:ext cx="8656320" cy="0"/>
            </a:xfrm>
            <a:prstGeom prst="line">
              <a:avLst/>
            </a:prstGeom>
            <a:ln cap="flat" w="50800">
              <a:solidFill>
                <a:srgbClr val="CBACC7"/>
              </a:solidFill>
              <a:prstDash val="solid"/>
              <a:headEnd type="none" len="sm" w="sm"/>
              <a:tailEnd type="none" len="sm" w="sm"/>
            </a:ln>
          </p:spPr>
        </p:sp>
        <p:sp>
          <p:nvSpPr>
            <p:cNvPr name="AutoShape 7" id="7"/>
            <p:cNvSpPr/>
            <p:nvPr/>
          </p:nvSpPr>
          <p:spPr>
            <a:xfrm flipV="true">
              <a:off x="8630920" y="0"/>
              <a:ext cx="0" cy="8656320"/>
            </a:xfrm>
            <a:prstGeom prst="line">
              <a:avLst/>
            </a:prstGeom>
            <a:ln cap="flat" w="50800">
              <a:solidFill>
                <a:srgbClr val="CBACC7"/>
              </a:solidFill>
              <a:prstDash val="solid"/>
              <a:headEnd type="none" len="sm" w="sm"/>
              <a:tailEnd type="none" len="sm" w="sm"/>
            </a:ln>
          </p:spPr>
        </p:sp>
      </p:grpSp>
      <p:grpSp>
        <p:nvGrpSpPr>
          <p:cNvPr name="Group 8" id="8"/>
          <p:cNvGrpSpPr/>
          <p:nvPr/>
        </p:nvGrpSpPr>
        <p:grpSpPr>
          <a:xfrm rot="-10800000">
            <a:off x="6642724" y="9258300"/>
            <a:ext cx="13214382" cy="6511290"/>
            <a:chOff x="0" y="0"/>
            <a:chExt cx="17619176" cy="8681720"/>
          </a:xfrm>
        </p:grpSpPr>
        <p:sp>
          <p:nvSpPr>
            <p:cNvPr name="AutoShape 9" id="9"/>
            <p:cNvSpPr/>
            <p:nvPr/>
          </p:nvSpPr>
          <p:spPr>
            <a:xfrm>
              <a:off x="0" y="8656320"/>
              <a:ext cx="17619176" cy="0"/>
            </a:xfrm>
            <a:prstGeom prst="line">
              <a:avLst/>
            </a:prstGeom>
            <a:ln cap="flat" w="50800">
              <a:solidFill>
                <a:srgbClr val="5885D8"/>
              </a:solidFill>
              <a:prstDash val="solid"/>
              <a:headEnd type="none" len="sm" w="sm"/>
              <a:tailEnd type="none" len="sm" w="sm"/>
            </a:ln>
          </p:spPr>
        </p:sp>
        <p:sp>
          <p:nvSpPr>
            <p:cNvPr name="AutoShape 10" id="10"/>
            <p:cNvSpPr/>
            <p:nvPr/>
          </p:nvSpPr>
          <p:spPr>
            <a:xfrm flipV="true">
              <a:off x="17593032" y="0"/>
              <a:ext cx="0" cy="8656320"/>
            </a:xfrm>
            <a:prstGeom prst="line">
              <a:avLst/>
            </a:prstGeom>
            <a:ln cap="flat" w="50800">
              <a:solidFill>
                <a:srgbClr val="5885D8"/>
              </a:solidFill>
              <a:prstDash val="solid"/>
              <a:headEnd type="none" len="sm" w="sm"/>
              <a:tailEnd type="none" len="sm" w="sm"/>
            </a:ln>
          </p:spPr>
        </p:sp>
      </p:grpSp>
      <p:grpSp>
        <p:nvGrpSpPr>
          <p:cNvPr name="Group 11" id="11"/>
          <p:cNvGrpSpPr/>
          <p:nvPr/>
        </p:nvGrpSpPr>
        <p:grpSpPr>
          <a:xfrm rot="5400000">
            <a:off x="11032124" y="-9131036"/>
            <a:ext cx="13214382" cy="6511290"/>
            <a:chOff x="0" y="0"/>
            <a:chExt cx="17619176" cy="8681720"/>
          </a:xfrm>
        </p:grpSpPr>
        <p:sp>
          <p:nvSpPr>
            <p:cNvPr name="AutoShape 12" id="12"/>
            <p:cNvSpPr/>
            <p:nvPr/>
          </p:nvSpPr>
          <p:spPr>
            <a:xfrm>
              <a:off x="0" y="8656320"/>
              <a:ext cx="17619176" cy="0"/>
            </a:xfrm>
            <a:prstGeom prst="line">
              <a:avLst/>
            </a:prstGeom>
            <a:ln cap="flat" w="50800">
              <a:solidFill>
                <a:srgbClr val="5885D8"/>
              </a:solidFill>
              <a:prstDash val="solid"/>
              <a:headEnd type="none" len="sm" w="sm"/>
              <a:tailEnd type="none" len="sm" w="sm"/>
            </a:ln>
          </p:spPr>
        </p:sp>
        <p:sp>
          <p:nvSpPr>
            <p:cNvPr name="AutoShape 13" id="13"/>
            <p:cNvSpPr/>
            <p:nvPr/>
          </p:nvSpPr>
          <p:spPr>
            <a:xfrm flipV="true">
              <a:off x="17593032" y="0"/>
              <a:ext cx="0" cy="8656320"/>
            </a:xfrm>
            <a:prstGeom prst="line">
              <a:avLst/>
            </a:prstGeom>
            <a:ln cap="flat" w="50800">
              <a:solidFill>
                <a:srgbClr val="5885D8"/>
              </a:solidFill>
              <a:prstDash val="solid"/>
              <a:headEnd type="none" len="sm" w="sm"/>
              <a:tailEnd type="none" len="sm" w="sm"/>
            </a:ln>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E294E"/>
        </a:solidFill>
      </p:bgPr>
    </p:bg>
    <p:spTree>
      <p:nvGrpSpPr>
        <p:cNvPr id="1" name=""/>
        <p:cNvGrpSpPr/>
        <p:nvPr/>
      </p:nvGrpSpPr>
      <p:grpSpPr>
        <a:xfrm>
          <a:off x="0" y="0"/>
          <a:ext cx="0" cy="0"/>
          <a:chOff x="0" y="0"/>
          <a:chExt cx="0" cy="0"/>
        </a:xfrm>
      </p:grpSpPr>
      <p:sp>
        <p:nvSpPr>
          <p:cNvPr name="TextBox 2" id="2"/>
          <p:cNvSpPr txBox="true"/>
          <p:nvPr/>
        </p:nvSpPr>
        <p:spPr>
          <a:xfrm rot="0">
            <a:off x="3416883" y="2785751"/>
            <a:ext cx="11454235" cy="859155"/>
          </a:xfrm>
          <a:prstGeom prst="rect">
            <a:avLst/>
          </a:prstGeom>
        </p:spPr>
        <p:txBody>
          <a:bodyPr anchor="t" rtlCol="false" tIns="0" lIns="0" bIns="0" rIns="0">
            <a:spAutoFit/>
          </a:bodyPr>
          <a:lstStyle/>
          <a:p>
            <a:pPr algn="l">
              <a:lnSpc>
                <a:spcPts val="6719"/>
              </a:lnSpc>
            </a:pPr>
            <a:r>
              <a:rPr lang="en-US" sz="4800" b="true">
                <a:solidFill>
                  <a:srgbClr val="F9F4F0"/>
                </a:solidFill>
                <a:latin typeface="Cabinet Grotesk Bold"/>
                <a:ea typeface="Cabinet Grotesk Bold"/>
                <a:cs typeface="Cabinet Grotesk Bold"/>
                <a:sym typeface="Cabinet Grotesk Bold"/>
              </a:rPr>
              <a:t>Col</a:t>
            </a:r>
            <a:r>
              <a:rPr lang="en-US" sz="4800" b="true">
                <a:solidFill>
                  <a:srgbClr val="F9F4F0"/>
                </a:solidFill>
                <a:latin typeface="Cabinet Grotesk Bold"/>
                <a:ea typeface="Cabinet Grotesk Bold"/>
                <a:cs typeface="Cabinet Grotesk Bold"/>
                <a:sym typeface="Cabinet Grotesk Bold"/>
              </a:rPr>
              <a:t>lider LV: Our Objective</a:t>
            </a:r>
          </a:p>
        </p:txBody>
      </p:sp>
      <p:sp>
        <p:nvSpPr>
          <p:cNvPr name="TextBox 3" id="3"/>
          <p:cNvSpPr txBox="true"/>
          <p:nvPr/>
        </p:nvSpPr>
        <p:spPr>
          <a:xfrm rot="0">
            <a:off x="3468307" y="4303328"/>
            <a:ext cx="11351386" cy="2491105"/>
          </a:xfrm>
          <a:prstGeom prst="rect">
            <a:avLst/>
          </a:prstGeom>
        </p:spPr>
        <p:txBody>
          <a:bodyPr anchor="t" rtlCol="false" tIns="0" lIns="0" bIns="0" rIns="0">
            <a:spAutoFit/>
          </a:bodyPr>
          <a:lstStyle/>
          <a:p>
            <a:pPr algn="l">
              <a:lnSpc>
                <a:spcPts val="3919"/>
              </a:lnSpc>
            </a:pPr>
            <a:r>
              <a:rPr lang="en-US" sz="2799" b="true">
                <a:solidFill>
                  <a:srgbClr val="6FC2D1"/>
                </a:solidFill>
                <a:latin typeface="Cabinet Grotesk Bold"/>
                <a:ea typeface="Cabinet Grotesk Bold"/>
                <a:cs typeface="Cabinet Grotesk Bold"/>
                <a:sym typeface="Cabinet Grotesk Bold"/>
              </a:rPr>
              <a:t>Generat</a:t>
            </a:r>
            <a:r>
              <a:rPr lang="en-US" sz="2799" b="true">
                <a:solidFill>
                  <a:srgbClr val="6FC2D1"/>
                </a:solidFill>
                <a:latin typeface="Cabinet Grotesk Bold"/>
                <a:ea typeface="Cabinet Grotesk Bold"/>
                <a:cs typeface="Cabinet Grotesk Bold"/>
                <a:sym typeface="Cabinet Grotesk Bold"/>
              </a:rPr>
              <a:t>e venture scale returns </a:t>
            </a:r>
            <a:r>
              <a:rPr lang="en-US" b="true" sz="2799">
                <a:solidFill>
                  <a:srgbClr val="F9F4F0"/>
                </a:solidFill>
                <a:latin typeface="Cabinet Grotesk Bold"/>
                <a:ea typeface="Cabinet Grotesk Bold"/>
                <a:cs typeface="Cabinet Grotesk Bold"/>
                <a:sym typeface="Cabinet Grotesk Bold"/>
              </a:rPr>
              <a:t>through liquid crypto markets. </a:t>
            </a:r>
          </a:p>
          <a:p>
            <a:pPr algn="l">
              <a:lnSpc>
                <a:spcPts val="3919"/>
              </a:lnSpc>
            </a:pPr>
            <a:r>
              <a:rPr lang="en-US" b="true" sz="2799">
                <a:solidFill>
                  <a:srgbClr val="F9F4F0"/>
                </a:solidFill>
                <a:latin typeface="Cabinet Grotesk Bold"/>
                <a:ea typeface="Cabinet Grotesk Bold"/>
                <a:cs typeface="Cabinet Grotesk Bold"/>
                <a:sym typeface="Cabinet Grotesk Bold"/>
              </a:rPr>
              <a:t>Capture </a:t>
            </a:r>
            <a:r>
              <a:rPr lang="en-US" sz="2799" b="true">
                <a:solidFill>
                  <a:srgbClr val="6FC2D1"/>
                </a:solidFill>
                <a:latin typeface="Cabinet Grotesk Bold"/>
                <a:ea typeface="Cabinet Grotesk Bold"/>
                <a:cs typeface="Cabinet Grotesk Bold"/>
                <a:sym typeface="Cabinet Grotesk Bold"/>
              </a:rPr>
              <a:t>explosive</a:t>
            </a:r>
            <a:r>
              <a:rPr lang="en-US" b="true" sz="2799">
                <a:solidFill>
                  <a:srgbClr val="F9F4F0"/>
                </a:solidFill>
                <a:latin typeface="Cabinet Grotesk Bold"/>
                <a:ea typeface="Cabinet Grotesk Bold"/>
                <a:cs typeface="Cabinet Grotesk Bold"/>
                <a:sym typeface="Cabinet Grotesk Bold"/>
              </a:rPr>
              <a:t> upside </a:t>
            </a:r>
            <a:r>
              <a:rPr lang="en-US" sz="2799" b="true">
                <a:solidFill>
                  <a:srgbClr val="6FC2D1"/>
                </a:solidFill>
                <a:latin typeface="Cabinet Grotesk Bold"/>
                <a:ea typeface="Cabinet Grotesk Bold"/>
                <a:cs typeface="Cabinet Grotesk Bold"/>
                <a:sym typeface="Cabinet Grotesk Bold"/>
              </a:rPr>
              <a:t>potential</a:t>
            </a:r>
            <a:r>
              <a:rPr lang="en-US" b="true" sz="2799">
                <a:solidFill>
                  <a:srgbClr val="F9F4F0"/>
                </a:solidFill>
                <a:latin typeface="Cabinet Grotesk Bold"/>
                <a:ea typeface="Cabinet Grotesk Bold"/>
                <a:cs typeface="Cabinet Grotesk Bold"/>
                <a:sym typeface="Cabinet Grotesk Bold"/>
              </a:rPr>
              <a:t> without multi-year lockups</a:t>
            </a:r>
          </a:p>
          <a:p>
            <a:pPr algn="l">
              <a:lnSpc>
                <a:spcPts val="3919"/>
              </a:lnSpc>
            </a:pPr>
          </a:p>
          <a:p>
            <a:pPr algn="l">
              <a:lnSpc>
                <a:spcPts val="3919"/>
              </a:lnSpc>
            </a:pPr>
            <a:r>
              <a:rPr lang="en-US" b="true" sz="2799">
                <a:solidFill>
                  <a:srgbClr val="F9F4F0"/>
                </a:solidFill>
                <a:latin typeface="Cabinet Grotesk Bold"/>
                <a:ea typeface="Cabinet Grotesk Bold"/>
                <a:cs typeface="Cabinet Grotesk Bold"/>
                <a:sym typeface="Cabinet Grotesk Bold"/>
              </a:rPr>
              <a:t>Enable LPs to see investments</a:t>
            </a:r>
            <a:r>
              <a:rPr lang="en-US" sz="2799" b="true">
                <a:solidFill>
                  <a:srgbClr val="6FC2D1"/>
                </a:solidFill>
                <a:latin typeface="Cabinet Grotesk Bold"/>
                <a:ea typeface="Cabinet Grotesk Bold"/>
                <a:cs typeface="Cabinet Grotesk Bold"/>
                <a:sym typeface="Cabinet Grotesk Bold"/>
              </a:rPr>
              <a:t> mature and realize returns </a:t>
            </a:r>
            <a:r>
              <a:rPr lang="en-US" b="true" sz="2799">
                <a:solidFill>
                  <a:srgbClr val="F9F4F0"/>
                </a:solidFill>
                <a:latin typeface="Cabinet Grotesk Bold"/>
                <a:ea typeface="Cabinet Grotesk Bold"/>
                <a:cs typeface="Cabinet Grotesk Bold"/>
                <a:sym typeface="Cabinet Grotesk Bold"/>
              </a:rPr>
              <a:t>while </a:t>
            </a:r>
            <a:r>
              <a:rPr lang="en-US" sz="2799" b="true">
                <a:solidFill>
                  <a:srgbClr val="6FC2D1"/>
                </a:solidFill>
                <a:latin typeface="Cabinet Grotesk Bold"/>
                <a:ea typeface="Cabinet Grotesk Bold"/>
                <a:cs typeface="Cabinet Grotesk Bold"/>
                <a:sym typeface="Cabinet Grotesk Bold"/>
              </a:rPr>
              <a:t>maintaining full flexibility</a:t>
            </a:r>
            <a:r>
              <a:rPr lang="en-US" b="true" sz="2799">
                <a:solidFill>
                  <a:srgbClr val="F9F4F0"/>
                </a:solidFill>
                <a:latin typeface="Cabinet Grotesk Bold"/>
                <a:ea typeface="Cabinet Grotesk Bold"/>
                <a:cs typeface="Cabinet Grotesk Bold"/>
                <a:sym typeface="Cabinet Grotesk Bold"/>
              </a:rPr>
              <a:t> to rebalance and adapt positions.</a:t>
            </a:r>
          </a:p>
        </p:txBody>
      </p:sp>
      <p:sp>
        <p:nvSpPr>
          <p:cNvPr name="Freeform 4" id="4"/>
          <p:cNvSpPr/>
          <p:nvPr/>
        </p:nvSpPr>
        <p:spPr>
          <a:xfrm flipH="false" flipV="false" rot="0">
            <a:off x="15940395"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5400000">
            <a:off x="13798621" y="-2856859"/>
            <a:ext cx="6492240" cy="6511290"/>
            <a:chOff x="0" y="0"/>
            <a:chExt cx="8656320" cy="8681720"/>
          </a:xfrm>
        </p:grpSpPr>
        <p:sp>
          <p:nvSpPr>
            <p:cNvPr name="AutoShape 6" id="6"/>
            <p:cNvSpPr/>
            <p:nvPr/>
          </p:nvSpPr>
          <p:spPr>
            <a:xfrm>
              <a:off x="0" y="8656320"/>
              <a:ext cx="8656320" cy="0"/>
            </a:xfrm>
            <a:prstGeom prst="line">
              <a:avLst/>
            </a:prstGeom>
            <a:ln cap="flat" w="50800">
              <a:solidFill>
                <a:srgbClr val="7F77B3"/>
              </a:solidFill>
              <a:prstDash val="solid"/>
              <a:headEnd type="none" len="sm" w="sm"/>
              <a:tailEnd type="none" len="sm" w="sm"/>
            </a:ln>
          </p:spPr>
        </p:sp>
        <p:sp>
          <p:nvSpPr>
            <p:cNvPr name="AutoShape 7" id="7"/>
            <p:cNvSpPr/>
            <p:nvPr/>
          </p:nvSpPr>
          <p:spPr>
            <a:xfrm flipV="true">
              <a:off x="8630920" y="0"/>
              <a:ext cx="0" cy="8656320"/>
            </a:xfrm>
            <a:prstGeom prst="line">
              <a:avLst/>
            </a:prstGeom>
            <a:ln cap="flat" w="50800">
              <a:solidFill>
                <a:srgbClr val="7F77B3"/>
              </a:solidFill>
              <a:prstDash val="solid"/>
              <a:headEnd type="none" len="sm" w="sm"/>
              <a:tailEnd type="none" len="sm" w="sm"/>
            </a:ln>
          </p:spPr>
        </p:sp>
      </p:grpSp>
      <p:grpSp>
        <p:nvGrpSpPr>
          <p:cNvPr name="Group 8" id="8"/>
          <p:cNvGrpSpPr/>
          <p:nvPr/>
        </p:nvGrpSpPr>
        <p:grpSpPr>
          <a:xfrm rot="0">
            <a:off x="-5098213" y="-5230158"/>
            <a:ext cx="6492240" cy="6511290"/>
            <a:chOff x="0" y="0"/>
            <a:chExt cx="8656320" cy="8681720"/>
          </a:xfrm>
        </p:grpSpPr>
        <p:sp>
          <p:nvSpPr>
            <p:cNvPr name="AutoShape 9" id="9"/>
            <p:cNvSpPr/>
            <p:nvPr/>
          </p:nvSpPr>
          <p:spPr>
            <a:xfrm>
              <a:off x="0" y="8656320"/>
              <a:ext cx="8656320" cy="0"/>
            </a:xfrm>
            <a:prstGeom prst="line">
              <a:avLst/>
            </a:prstGeom>
            <a:ln cap="flat" w="50800">
              <a:solidFill>
                <a:srgbClr val="7F77B3"/>
              </a:solidFill>
              <a:prstDash val="solid"/>
              <a:headEnd type="none" len="sm" w="sm"/>
              <a:tailEnd type="none" len="sm" w="sm"/>
            </a:ln>
          </p:spPr>
        </p:sp>
        <p:sp>
          <p:nvSpPr>
            <p:cNvPr name="AutoShape 10" id="10"/>
            <p:cNvSpPr/>
            <p:nvPr/>
          </p:nvSpPr>
          <p:spPr>
            <a:xfrm flipV="true">
              <a:off x="8630920" y="0"/>
              <a:ext cx="0" cy="8656320"/>
            </a:xfrm>
            <a:prstGeom prst="line">
              <a:avLst/>
            </a:prstGeom>
            <a:ln cap="flat" w="50800">
              <a:solidFill>
                <a:srgbClr val="7F77B3"/>
              </a:solidFill>
              <a:prstDash val="solid"/>
              <a:headEnd type="none" len="sm" w="sm"/>
              <a:tailEnd type="none" len="sm" w="sm"/>
            </a:ln>
          </p:spPr>
        </p:sp>
      </p:grpSp>
      <p:grpSp>
        <p:nvGrpSpPr>
          <p:cNvPr name="Group 11" id="11"/>
          <p:cNvGrpSpPr/>
          <p:nvPr/>
        </p:nvGrpSpPr>
        <p:grpSpPr>
          <a:xfrm rot="-5400000">
            <a:off x="-3033458" y="8368934"/>
            <a:ext cx="6492240" cy="6511290"/>
            <a:chOff x="0" y="0"/>
            <a:chExt cx="8656320" cy="8681720"/>
          </a:xfrm>
        </p:grpSpPr>
        <p:sp>
          <p:nvSpPr>
            <p:cNvPr name="AutoShape 12" id="12"/>
            <p:cNvSpPr/>
            <p:nvPr/>
          </p:nvSpPr>
          <p:spPr>
            <a:xfrm>
              <a:off x="0" y="8656320"/>
              <a:ext cx="8656320" cy="0"/>
            </a:xfrm>
            <a:prstGeom prst="line">
              <a:avLst/>
            </a:prstGeom>
            <a:ln cap="flat" w="50800">
              <a:solidFill>
                <a:srgbClr val="7F77B3"/>
              </a:solidFill>
              <a:prstDash val="solid"/>
              <a:headEnd type="none" len="sm" w="sm"/>
              <a:tailEnd type="none" len="sm" w="sm"/>
            </a:ln>
          </p:spPr>
        </p:sp>
        <p:sp>
          <p:nvSpPr>
            <p:cNvPr name="AutoShape 13" id="13"/>
            <p:cNvSpPr/>
            <p:nvPr/>
          </p:nvSpPr>
          <p:spPr>
            <a:xfrm flipV="true">
              <a:off x="8630920" y="0"/>
              <a:ext cx="0" cy="8656320"/>
            </a:xfrm>
            <a:prstGeom prst="line">
              <a:avLst/>
            </a:prstGeom>
            <a:ln cap="flat" w="50800">
              <a:solidFill>
                <a:srgbClr val="7F77B3"/>
              </a:solidFill>
              <a:prstDash val="solid"/>
              <a:headEnd type="none" len="sm" w="sm"/>
              <a:tailEnd type="none" len="sm" w="sm"/>
            </a:ln>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7473696" y="1193386"/>
          <a:ext cx="9914646" cy="7900228"/>
        </p:xfrm>
        <a:graphic>
          <a:graphicData uri="http://schemas.openxmlformats.org/drawingml/2006/table">
            <a:tbl>
              <a:tblPr/>
              <a:tblGrid>
                <a:gridCol w="1670304"/>
                <a:gridCol w="2295555"/>
                <a:gridCol w="1982929"/>
                <a:gridCol w="2432318"/>
                <a:gridCol w="1533540"/>
              </a:tblGrid>
              <a:tr h="1580046">
                <a:tc gridSpan="4">
                  <a:txBody>
                    <a:bodyPr anchor="t" rtlCol="false"/>
                    <a:lstStyle/>
                    <a:p>
                      <a:pPr algn="l">
                        <a:lnSpc>
                          <a:spcPts val="2799"/>
                        </a:lnSpc>
                        <a:defRPr/>
                      </a:pPr>
                      <a:r>
                        <a:rPr lang="en-US" sz="1999">
                          <a:solidFill>
                            <a:srgbClr val="000000"/>
                          </a:solidFill>
                          <a:latin typeface="Inter"/>
                          <a:ea typeface="Inter"/>
                          <a:cs typeface="Inter"/>
                          <a:sym typeface="Inter"/>
                        </a:rPr>
                        <a:t>We’ve honed and built a vast, high fidelity information network </a:t>
                      </a:r>
                      <a:endParaRPr lang="en-US" sz="1100"/>
                    </a:p>
                    <a:p>
                      <a:pPr algn="l">
                        <a:lnSpc>
                          <a:spcPts val="2799"/>
                        </a:lnSpc>
                      </a:pPr>
                      <a:r>
                        <a:rPr lang="en-US" sz="1999">
                          <a:solidFill>
                            <a:srgbClr val="000000"/>
                          </a:solidFill>
                          <a:latin typeface="Inter"/>
                          <a:ea typeface="Inter"/>
                          <a:cs typeface="Inter"/>
                          <a:sym typeface="Inter"/>
                        </a:rPr>
                        <a:t>across the entire crypto trading landscape</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hMerge="true">
                  <a:txBody>
                    <a:bodyPr anchor="t" rtlCol="false"/>
                    <a:lstStyle/>
                    <a:p>
                      <a:pPr algn="l">
                        <a:lnSpc>
                          <a:spcPts val="2799"/>
                        </a:lnSpc>
                        <a:defRPr/>
                      </a:pPr>
                      <a:r>
                        <a:rPr lang="en-US" sz="1999">
                          <a:solidFill>
                            <a:srgbClr val="000000"/>
                          </a:solidFill>
                          <a:latin typeface="Inter"/>
                          <a:ea typeface="Inter"/>
                          <a:cs typeface="Inter"/>
                          <a:sym typeface="Inter"/>
                        </a:rPr>
                        <a:t>We’ve honed and built a vast, high fidelity information network </a:t>
                      </a:r>
                      <a:endParaRPr lang="en-US" sz="1100"/>
                    </a:p>
                    <a:p>
                      <a:pPr algn="l">
                        <a:lnSpc>
                          <a:spcPts val="2799"/>
                        </a:lnSpc>
                      </a:pPr>
                      <a:r>
                        <a:rPr lang="en-US" sz="1999">
                          <a:solidFill>
                            <a:srgbClr val="000000"/>
                          </a:solidFill>
                          <a:latin typeface="Inter"/>
                          <a:ea typeface="Inter"/>
                          <a:cs typeface="Inter"/>
                          <a:sym typeface="Inter"/>
                        </a:rPr>
                        <a:t>across the entire crypto trading landscape</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hMerge="true">
                  <a:txBody>
                    <a:bodyPr anchor="t" rtlCol="false"/>
                    <a:lstStyle/>
                    <a:p>
                      <a:pPr algn="l">
                        <a:lnSpc>
                          <a:spcPts val="2799"/>
                        </a:lnSpc>
                        <a:defRPr/>
                      </a:pPr>
                      <a:r>
                        <a:rPr lang="en-US" sz="1999">
                          <a:solidFill>
                            <a:srgbClr val="000000"/>
                          </a:solidFill>
                          <a:latin typeface="Inter"/>
                          <a:ea typeface="Inter"/>
                          <a:cs typeface="Inter"/>
                          <a:sym typeface="Inter"/>
                        </a:rPr>
                        <a:t>We’ve honed and built a vast, high fidelity information network </a:t>
                      </a:r>
                      <a:endParaRPr lang="en-US" sz="1100"/>
                    </a:p>
                    <a:p>
                      <a:pPr algn="l">
                        <a:lnSpc>
                          <a:spcPts val="2799"/>
                        </a:lnSpc>
                      </a:pPr>
                      <a:r>
                        <a:rPr lang="en-US" sz="1999">
                          <a:solidFill>
                            <a:srgbClr val="000000"/>
                          </a:solidFill>
                          <a:latin typeface="Inter"/>
                          <a:ea typeface="Inter"/>
                          <a:cs typeface="Inter"/>
                          <a:sym typeface="Inter"/>
                        </a:rPr>
                        <a:t>across the entire crypto trading landscape</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hMerge="true">
                  <a:txBody>
                    <a:bodyPr anchor="t" rtlCol="false"/>
                    <a:lstStyle/>
                    <a:p>
                      <a:pPr algn="l">
                        <a:lnSpc>
                          <a:spcPts val="2799"/>
                        </a:lnSpc>
                        <a:defRPr/>
                      </a:pPr>
                      <a:r>
                        <a:rPr lang="en-US" sz="1999">
                          <a:solidFill>
                            <a:srgbClr val="000000"/>
                          </a:solidFill>
                          <a:latin typeface="Inter"/>
                          <a:ea typeface="Inter"/>
                          <a:cs typeface="Inter"/>
                          <a:sym typeface="Inter"/>
                        </a:rPr>
                        <a:t>We’ve honed and built a vast, high fidelity information network </a:t>
                      </a:r>
                      <a:endParaRPr lang="en-US" sz="1100"/>
                    </a:p>
                    <a:p>
                      <a:pPr algn="l">
                        <a:lnSpc>
                          <a:spcPts val="2799"/>
                        </a:lnSpc>
                      </a:pPr>
                      <a:r>
                        <a:rPr lang="en-US" sz="1999">
                          <a:solidFill>
                            <a:srgbClr val="000000"/>
                          </a:solidFill>
                          <a:latin typeface="Inter"/>
                          <a:ea typeface="Inter"/>
                          <a:cs typeface="Inter"/>
                          <a:sym typeface="Inter"/>
                        </a:rPr>
                        <a:t>across the entire crypto trading landscape</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1580046">
                <a:tc gridSpan="4">
                  <a:txBody>
                    <a:bodyPr anchor="t" rtlCol="false"/>
                    <a:lstStyle/>
                    <a:p>
                      <a:pPr algn="l">
                        <a:lnSpc>
                          <a:spcPts val="2799"/>
                        </a:lnSpc>
                        <a:defRPr/>
                      </a:pPr>
                      <a:r>
                        <a:rPr lang="en-US" sz="1999">
                          <a:solidFill>
                            <a:srgbClr val="000000"/>
                          </a:solidFill>
                          <a:latin typeface="Inter"/>
                          <a:ea typeface="Inter"/>
                          <a:cs typeface="Inter"/>
                          <a:sym typeface="Inter"/>
                        </a:rPr>
                        <a:t>From other liquid fund managers, to whales and HWNIs, to market makers and OTC desks, to the most influential KOLs and “anon” traders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From other liquid fund managers, to whales and HWNIs, to market makers and OTC desks, to the most influential KOLs and “anon” traders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From other liquid fund managers, to whales and HWNIs, to market makers and OTC desks, to the most influential KOLs and “anon” traders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From other liquid fund managers, to whales and HWNIs, to market makers and OTC desks, to the most influential KOLs and “anon” traders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580046">
                <a:tc gridSpan="4">
                  <a:txBody>
                    <a:bodyPr anchor="t" rtlCol="false"/>
                    <a:lstStyle/>
                    <a:p>
                      <a:pPr algn="l">
                        <a:lnSpc>
                          <a:spcPts val="2799"/>
                        </a:lnSpc>
                        <a:defRPr/>
                      </a:pPr>
                      <a:r>
                        <a:rPr lang="en-US" sz="1999">
                          <a:solidFill>
                            <a:srgbClr val="000000"/>
                          </a:solidFill>
                          <a:latin typeface="Inter"/>
                          <a:ea typeface="Inter"/>
                          <a:cs typeface="Inter"/>
                          <a:sym typeface="Inter"/>
                        </a:rPr>
                        <a:t>We catch events, news, narrative shifts and even calamities </a:t>
                      </a:r>
                      <a:endParaRPr lang="en-US" sz="1100"/>
                    </a:p>
                    <a:p>
                      <a:pPr algn="l">
                        <a:lnSpc>
                          <a:spcPts val="2799"/>
                        </a:lnSpc>
                      </a:pPr>
                      <a:r>
                        <a:rPr lang="en-US" sz="1999">
                          <a:solidFill>
                            <a:srgbClr val="000000"/>
                          </a:solidFill>
                          <a:latin typeface="Inter"/>
                          <a:ea typeface="Inter"/>
                          <a:cs typeface="Inter"/>
                          <a:sym typeface="Inter"/>
                        </a:rPr>
                        <a:t>as soon or even before they happen</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We catch events, news, narrative shifts and even calamities </a:t>
                      </a:r>
                      <a:endParaRPr lang="en-US" sz="1100"/>
                    </a:p>
                    <a:p>
                      <a:pPr algn="l">
                        <a:lnSpc>
                          <a:spcPts val="2799"/>
                        </a:lnSpc>
                      </a:pPr>
                      <a:r>
                        <a:rPr lang="en-US" sz="1999">
                          <a:solidFill>
                            <a:srgbClr val="000000"/>
                          </a:solidFill>
                          <a:latin typeface="Inter"/>
                          <a:ea typeface="Inter"/>
                          <a:cs typeface="Inter"/>
                          <a:sym typeface="Inter"/>
                        </a:rPr>
                        <a:t>as soon or even before they happen</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We catch events, news, narrative shifts and even calamities </a:t>
                      </a:r>
                      <a:endParaRPr lang="en-US" sz="1100"/>
                    </a:p>
                    <a:p>
                      <a:pPr algn="l">
                        <a:lnSpc>
                          <a:spcPts val="2799"/>
                        </a:lnSpc>
                      </a:pPr>
                      <a:r>
                        <a:rPr lang="en-US" sz="1999">
                          <a:solidFill>
                            <a:srgbClr val="000000"/>
                          </a:solidFill>
                          <a:latin typeface="Inter"/>
                          <a:ea typeface="Inter"/>
                          <a:cs typeface="Inter"/>
                          <a:sym typeface="Inter"/>
                        </a:rPr>
                        <a:t>as soon or even before they happen</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We catch events, news, narrative shifts and even calamities </a:t>
                      </a:r>
                      <a:endParaRPr lang="en-US" sz="1100"/>
                    </a:p>
                    <a:p>
                      <a:pPr algn="l">
                        <a:lnSpc>
                          <a:spcPts val="2799"/>
                        </a:lnSpc>
                      </a:pPr>
                      <a:r>
                        <a:rPr lang="en-US" sz="1999">
                          <a:solidFill>
                            <a:srgbClr val="000000"/>
                          </a:solidFill>
                          <a:latin typeface="Inter"/>
                          <a:ea typeface="Inter"/>
                          <a:cs typeface="Inter"/>
                          <a:sym typeface="Inter"/>
                        </a:rPr>
                        <a:t>as soon or even before they happen</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1580046">
                <a:tc gridSpan="4">
                  <a:txBody>
                    <a:bodyPr anchor="t" rtlCol="false"/>
                    <a:lstStyle/>
                    <a:p>
                      <a:pPr algn="l">
                        <a:lnSpc>
                          <a:spcPts val="2799"/>
                        </a:lnSpc>
                        <a:defRPr/>
                      </a:pPr>
                      <a:r>
                        <a:rPr lang="en-US" sz="1999">
                          <a:solidFill>
                            <a:srgbClr val="000000"/>
                          </a:solidFill>
                          <a:latin typeface="Inter"/>
                          <a:ea typeface="Inter"/>
                          <a:cs typeface="Inter"/>
                          <a:sym typeface="Inter"/>
                        </a:rPr>
                        <a:t>We are five partners, each with our own rabbit hole deeply </a:t>
                      </a:r>
                      <a:endParaRPr lang="en-US" sz="1100"/>
                    </a:p>
                    <a:p>
                      <a:pPr algn="l">
                        <a:lnSpc>
                          <a:spcPts val="2799"/>
                        </a:lnSpc>
                      </a:pPr>
                      <a:r>
                        <a:rPr lang="en-US" sz="1999">
                          <a:solidFill>
                            <a:srgbClr val="000000"/>
                          </a:solidFill>
                          <a:latin typeface="Inter"/>
                          <a:ea typeface="Inter"/>
                          <a:cs typeface="Inter"/>
                          <a:sym typeface="Inter"/>
                        </a:rPr>
                        <a:t>immersed in different corners of crypto.</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We are five partners, each with our own rabbit hole deeply </a:t>
                      </a:r>
                      <a:endParaRPr lang="en-US" sz="1100"/>
                    </a:p>
                    <a:p>
                      <a:pPr algn="l">
                        <a:lnSpc>
                          <a:spcPts val="2799"/>
                        </a:lnSpc>
                      </a:pPr>
                      <a:r>
                        <a:rPr lang="en-US" sz="1999">
                          <a:solidFill>
                            <a:srgbClr val="000000"/>
                          </a:solidFill>
                          <a:latin typeface="Inter"/>
                          <a:ea typeface="Inter"/>
                          <a:cs typeface="Inter"/>
                          <a:sym typeface="Inter"/>
                        </a:rPr>
                        <a:t>immersed in different corners of crypto.</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We are five partners, each with our own rabbit hole deeply </a:t>
                      </a:r>
                      <a:endParaRPr lang="en-US" sz="1100"/>
                    </a:p>
                    <a:p>
                      <a:pPr algn="l">
                        <a:lnSpc>
                          <a:spcPts val="2799"/>
                        </a:lnSpc>
                      </a:pPr>
                      <a:r>
                        <a:rPr lang="en-US" sz="1999">
                          <a:solidFill>
                            <a:srgbClr val="000000"/>
                          </a:solidFill>
                          <a:latin typeface="Inter"/>
                          <a:ea typeface="Inter"/>
                          <a:cs typeface="Inter"/>
                          <a:sym typeface="Inter"/>
                        </a:rPr>
                        <a:t>immersed in different corners of crypto.</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We are five partners, each with our own rabbit hole deeply </a:t>
                      </a:r>
                      <a:endParaRPr lang="en-US" sz="1100"/>
                    </a:p>
                    <a:p>
                      <a:pPr algn="l">
                        <a:lnSpc>
                          <a:spcPts val="2799"/>
                        </a:lnSpc>
                      </a:pPr>
                      <a:r>
                        <a:rPr lang="en-US" sz="1999">
                          <a:solidFill>
                            <a:srgbClr val="000000"/>
                          </a:solidFill>
                          <a:latin typeface="Inter"/>
                          <a:ea typeface="Inter"/>
                          <a:cs typeface="Inter"/>
                          <a:sym typeface="Inter"/>
                        </a:rPr>
                        <a:t>immersed in different corners of crypto.</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580046">
                <a:tc gridSpan="4">
                  <a:txBody>
                    <a:bodyPr anchor="t" rtlCol="false"/>
                    <a:lstStyle/>
                    <a:p>
                      <a:pPr algn="l">
                        <a:lnSpc>
                          <a:spcPts val="2799"/>
                        </a:lnSpc>
                        <a:defRPr/>
                      </a:pPr>
                      <a:r>
                        <a:rPr lang="en-US" sz="1999">
                          <a:solidFill>
                            <a:srgbClr val="000000"/>
                          </a:solidFill>
                          <a:latin typeface="Inter"/>
                          <a:ea typeface="Inter"/>
                          <a:cs typeface="Inter"/>
                          <a:sym typeface="Inter"/>
                        </a:rPr>
                        <a:t>Together, we cover the full spectrum of the ecosystem, complementing one another and amplifying collective intelligence.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Together, we cover the full spectrum of the ecosystem, complementing one another and amplifying collective intelligence.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Together, we cover the full spectrum of the ecosystem, complementing one another and amplifying collective intelligence.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Together, we cover the full spectrum of the ecosystem, complementing one another and amplifying collective intelligence.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8080889" y="1763218"/>
            <a:ext cx="478882" cy="478882"/>
          </a:xfrm>
          <a:custGeom>
            <a:avLst/>
            <a:gdLst/>
            <a:ahLst/>
            <a:cxnLst/>
            <a:rect r="r" b="b" t="t" l="l"/>
            <a:pathLst>
              <a:path h="478882" w="478882">
                <a:moveTo>
                  <a:pt x="0" y="0"/>
                </a:moveTo>
                <a:lnTo>
                  <a:pt x="478882" y="0"/>
                </a:lnTo>
                <a:lnTo>
                  <a:pt x="478882" y="478882"/>
                </a:lnTo>
                <a:lnTo>
                  <a:pt x="0" y="4788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080889" y="3300951"/>
            <a:ext cx="478882" cy="478882"/>
          </a:xfrm>
          <a:custGeom>
            <a:avLst/>
            <a:gdLst/>
            <a:ahLst/>
            <a:cxnLst/>
            <a:rect r="r" b="b" t="t" l="l"/>
            <a:pathLst>
              <a:path h="478882" w="478882">
                <a:moveTo>
                  <a:pt x="0" y="0"/>
                </a:moveTo>
                <a:lnTo>
                  <a:pt x="478882" y="0"/>
                </a:lnTo>
                <a:lnTo>
                  <a:pt x="478882" y="478882"/>
                </a:lnTo>
                <a:lnTo>
                  <a:pt x="0" y="4788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080889" y="4837108"/>
            <a:ext cx="478882" cy="478882"/>
          </a:xfrm>
          <a:custGeom>
            <a:avLst/>
            <a:gdLst/>
            <a:ahLst/>
            <a:cxnLst/>
            <a:rect r="r" b="b" t="t" l="l"/>
            <a:pathLst>
              <a:path h="478882" w="478882">
                <a:moveTo>
                  <a:pt x="0" y="0"/>
                </a:moveTo>
                <a:lnTo>
                  <a:pt x="478882" y="0"/>
                </a:lnTo>
                <a:lnTo>
                  <a:pt x="478882" y="478882"/>
                </a:lnTo>
                <a:lnTo>
                  <a:pt x="0" y="4788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8080889" y="6447995"/>
            <a:ext cx="459792" cy="459792"/>
          </a:xfrm>
          <a:custGeom>
            <a:avLst/>
            <a:gdLst/>
            <a:ahLst/>
            <a:cxnLst/>
            <a:rect r="r" b="b" t="t" l="l"/>
            <a:pathLst>
              <a:path h="459792" w="459792">
                <a:moveTo>
                  <a:pt x="0" y="0"/>
                </a:moveTo>
                <a:lnTo>
                  <a:pt x="459791" y="0"/>
                </a:lnTo>
                <a:lnTo>
                  <a:pt x="459791" y="459792"/>
                </a:lnTo>
                <a:lnTo>
                  <a:pt x="0" y="4597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8080889" y="8041262"/>
            <a:ext cx="478882" cy="478882"/>
          </a:xfrm>
          <a:custGeom>
            <a:avLst/>
            <a:gdLst/>
            <a:ahLst/>
            <a:cxnLst/>
            <a:rect r="r" b="b" t="t" l="l"/>
            <a:pathLst>
              <a:path h="478882" w="478882">
                <a:moveTo>
                  <a:pt x="0" y="0"/>
                </a:moveTo>
                <a:lnTo>
                  <a:pt x="478882" y="0"/>
                </a:lnTo>
                <a:lnTo>
                  <a:pt x="478882" y="478882"/>
                </a:lnTo>
                <a:lnTo>
                  <a:pt x="0" y="4788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028700" y="895350"/>
            <a:ext cx="3355256" cy="1706880"/>
          </a:xfrm>
          <a:prstGeom prst="rect">
            <a:avLst/>
          </a:prstGeom>
        </p:spPr>
        <p:txBody>
          <a:bodyPr anchor="t" rtlCol="false" tIns="0" lIns="0" bIns="0" rIns="0">
            <a:spAutoFit/>
          </a:bodyPr>
          <a:lstStyle/>
          <a:p>
            <a:pPr algn="l">
              <a:lnSpc>
                <a:spcPts val="6719"/>
              </a:lnSpc>
            </a:pPr>
            <a:r>
              <a:rPr lang="en-US" sz="4800" b="true">
                <a:solidFill>
                  <a:srgbClr val="5885D8"/>
                </a:solidFill>
                <a:latin typeface="Cabinet Grotesk Bold"/>
                <a:ea typeface="Cabinet Grotesk Bold"/>
                <a:cs typeface="Cabinet Grotesk Bold"/>
                <a:sym typeface="Cabinet Grotesk Bold"/>
              </a:rPr>
              <a:t>Our Edge: </a:t>
            </a:r>
          </a:p>
          <a:p>
            <a:pPr algn="l">
              <a:lnSpc>
                <a:spcPts val="6719"/>
              </a:lnSpc>
            </a:pPr>
            <a:r>
              <a:rPr lang="en-US" sz="4800" b="true">
                <a:solidFill>
                  <a:srgbClr val="000000"/>
                </a:solidFill>
                <a:latin typeface="Cabinet Grotesk Bold"/>
                <a:ea typeface="Cabinet Grotesk Bold"/>
                <a:cs typeface="Cabinet Grotesk Bold"/>
                <a:sym typeface="Cabinet Grotesk Bold"/>
              </a:rPr>
              <a:t>The network</a:t>
            </a:r>
          </a:p>
        </p:txBody>
      </p:sp>
      <p:sp>
        <p:nvSpPr>
          <p:cNvPr name="TextBox 10" id="10"/>
          <p:cNvSpPr txBox="true"/>
          <p:nvPr/>
        </p:nvSpPr>
        <p:spPr>
          <a:xfrm rot="0">
            <a:off x="1028700" y="3109282"/>
            <a:ext cx="4224778" cy="1005205"/>
          </a:xfrm>
          <a:prstGeom prst="rect">
            <a:avLst/>
          </a:prstGeom>
        </p:spPr>
        <p:txBody>
          <a:bodyPr anchor="t" rtlCol="false" tIns="0" lIns="0" bIns="0" rIns="0">
            <a:spAutoFit/>
          </a:bodyPr>
          <a:lstStyle/>
          <a:p>
            <a:pPr algn="l">
              <a:lnSpc>
                <a:spcPts val="3919"/>
              </a:lnSpc>
            </a:pPr>
            <a:r>
              <a:rPr lang="en-US" sz="2799" b="true">
                <a:solidFill>
                  <a:srgbClr val="000000"/>
                </a:solidFill>
                <a:latin typeface="Cabinet Grotesk Bold"/>
                <a:ea typeface="Cabinet Grotesk Bold"/>
                <a:cs typeface="Cabinet Grotesk Bold"/>
                <a:sym typeface="Cabinet Grotesk Bold"/>
              </a:rPr>
              <a:t>A </a:t>
            </a:r>
            <a:r>
              <a:rPr lang="en-US" b="true" sz="2799">
                <a:solidFill>
                  <a:srgbClr val="000000"/>
                </a:solidFill>
                <a:latin typeface="Cabinet Grotesk Bold"/>
                <a:ea typeface="Cabinet Grotesk Bold"/>
                <a:cs typeface="Cabinet Grotesk Bold"/>
                <a:sym typeface="Cabinet Grotesk Bold"/>
              </a:rPr>
              <a:t>thousand ears to a thousand grounds: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7473696" y="1193386"/>
          <a:ext cx="9914646" cy="8064914"/>
        </p:xfrm>
        <a:graphic>
          <a:graphicData uri="http://schemas.openxmlformats.org/drawingml/2006/table">
            <a:tbl>
              <a:tblPr/>
              <a:tblGrid>
                <a:gridCol w="1670304"/>
                <a:gridCol w="2295555"/>
                <a:gridCol w="1982929"/>
                <a:gridCol w="2432318"/>
                <a:gridCol w="1533540"/>
              </a:tblGrid>
              <a:tr h="2016229">
                <a:tc gridSpan="4">
                  <a:txBody>
                    <a:bodyPr anchor="t" rtlCol="false"/>
                    <a:lstStyle/>
                    <a:p>
                      <a:pPr algn="l">
                        <a:lnSpc>
                          <a:spcPts val="2799"/>
                        </a:lnSpc>
                        <a:defRPr/>
                      </a:pPr>
                      <a:r>
                        <a:rPr lang="en-US" sz="1999">
                          <a:solidFill>
                            <a:srgbClr val="000000"/>
                          </a:solidFill>
                          <a:latin typeface="Inter"/>
                          <a:ea typeface="Inter"/>
                          <a:cs typeface="Inter"/>
                          <a:sym typeface="Inter"/>
                        </a:rPr>
                        <a:t>New launches are riddled with information asymmetry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hMerge="true">
                  <a:txBody>
                    <a:bodyPr anchor="t" rtlCol="false"/>
                    <a:lstStyle/>
                    <a:p>
                      <a:pPr algn="l">
                        <a:lnSpc>
                          <a:spcPts val="2799"/>
                        </a:lnSpc>
                        <a:defRPr/>
                      </a:pPr>
                      <a:r>
                        <a:rPr lang="en-US" sz="1999">
                          <a:solidFill>
                            <a:srgbClr val="000000"/>
                          </a:solidFill>
                          <a:latin typeface="Inter"/>
                          <a:ea typeface="Inter"/>
                          <a:cs typeface="Inter"/>
                          <a:sym typeface="Inter"/>
                        </a:rPr>
                        <a:t>New launches are riddled with information asymmetry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hMerge="true">
                  <a:txBody>
                    <a:bodyPr anchor="t" rtlCol="false"/>
                    <a:lstStyle/>
                    <a:p>
                      <a:pPr algn="l">
                        <a:lnSpc>
                          <a:spcPts val="2799"/>
                        </a:lnSpc>
                        <a:defRPr/>
                      </a:pPr>
                      <a:r>
                        <a:rPr lang="en-US" sz="1999">
                          <a:solidFill>
                            <a:srgbClr val="000000"/>
                          </a:solidFill>
                          <a:latin typeface="Inter"/>
                          <a:ea typeface="Inter"/>
                          <a:cs typeface="Inter"/>
                          <a:sym typeface="Inter"/>
                        </a:rPr>
                        <a:t>New launches are riddled with information asymmetry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hMerge="true">
                  <a:txBody>
                    <a:bodyPr anchor="t" rtlCol="false"/>
                    <a:lstStyle/>
                    <a:p>
                      <a:pPr algn="l">
                        <a:lnSpc>
                          <a:spcPts val="2799"/>
                        </a:lnSpc>
                        <a:defRPr/>
                      </a:pPr>
                      <a:r>
                        <a:rPr lang="en-US" sz="1999">
                          <a:solidFill>
                            <a:srgbClr val="000000"/>
                          </a:solidFill>
                          <a:latin typeface="Inter"/>
                          <a:ea typeface="Inter"/>
                          <a:cs typeface="Inter"/>
                          <a:sym typeface="Inter"/>
                        </a:rPr>
                        <a:t>New launches are riddled with information asymmetry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2016229">
                <a:tc gridSpan="4">
                  <a:txBody>
                    <a:bodyPr anchor="t" rtlCol="false"/>
                    <a:lstStyle/>
                    <a:p>
                      <a:pPr algn="l">
                        <a:lnSpc>
                          <a:spcPts val="2799"/>
                        </a:lnSpc>
                        <a:defRPr/>
                      </a:pPr>
                      <a:r>
                        <a:rPr lang="en-US" sz="1999">
                          <a:solidFill>
                            <a:srgbClr val="000000"/>
                          </a:solidFill>
                          <a:latin typeface="Inter"/>
                          <a:ea typeface="Inter"/>
                          <a:cs typeface="Inter"/>
                          <a:sym typeface="Inter"/>
                        </a:rPr>
                        <a:t>Metas quickly form and dissipate around shifting narratives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Metas quickly form and dissipate around shifting narratives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Metas quickly form and dissipate around shifting narratives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Metas quickly form and dissipate around shifting narratives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2016229">
                <a:tc gridSpan="4">
                  <a:txBody>
                    <a:bodyPr anchor="t" rtlCol="false"/>
                    <a:lstStyle/>
                    <a:p>
                      <a:pPr algn="l">
                        <a:lnSpc>
                          <a:spcPts val="2799"/>
                        </a:lnSpc>
                        <a:defRPr/>
                      </a:pPr>
                      <a:r>
                        <a:rPr lang="en-US" sz="1999">
                          <a:solidFill>
                            <a:srgbClr val="000000"/>
                          </a:solidFill>
                          <a:latin typeface="Inter"/>
                          <a:ea typeface="Inter"/>
                          <a:cs typeface="Inter"/>
                          <a:sym typeface="Inter"/>
                        </a:rPr>
                        <a:t>Governance forums, where integral business decisions</a:t>
                      </a:r>
                      <a:endParaRPr lang="en-US" sz="1100"/>
                    </a:p>
                    <a:p>
                      <a:pPr algn="l">
                        <a:lnSpc>
                          <a:spcPts val="2799"/>
                        </a:lnSpc>
                      </a:pPr>
                      <a:r>
                        <a:rPr lang="en-US" sz="1999">
                          <a:solidFill>
                            <a:srgbClr val="000000"/>
                          </a:solidFill>
                          <a:latin typeface="Inter"/>
                          <a:ea typeface="Inter"/>
                          <a:cs typeface="Inter"/>
                          <a:sym typeface="Inter"/>
                        </a:rPr>
                        <a:t>are being made, are often criminally overlooked</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Governance forums, where integral business decisions</a:t>
                      </a:r>
                      <a:endParaRPr lang="en-US" sz="1100"/>
                    </a:p>
                    <a:p>
                      <a:pPr algn="l">
                        <a:lnSpc>
                          <a:spcPts val="2799"/>
                        </a:lnSpc>
                      </a:pPr>
                      <a:r>
                        <a:rPr lang="en-US" sz="1999">
                          <a:solidFill>
                            <a:srgbClr val="000000"/>
                          </a:solidFill>
                          <a:latin typeface="Inter"/>
                          <a:ea typeface="Inter"/>
                          <a:cs typeface="Inter"/>
                          <a:sym typeface="Inter"/>
                        </a:rPr>
                        <a:t>are being made, are often criminally overlooked</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Governance forums, where integral business decisions</a:t>
                      </a:r>
                      <a:endParaRPr lang="en-US" sz="1100"/>
                    </a:p>
                    <a:p>
                      <a:pPr algn="l">
                        <a:lnSpc>
                          <a:spcPts val="2799"/>
                        </a:lnSpc>
                      </a:pPr>
                      <a:r>
                        <a:rPr lang="en-US" sz="1999">
                          <a:solidFill>
                            <a:srgbClr val="000000"/>
                          </a:solidFill>
                          <a:latin typeface="Inter"/>
                          <a:ea typeface="Inter"/>
                          <a:cs typeface="Inter"/>
                          <a:sym typeface="Inter"/>
                        </a:rPr>
                        <a:t>are being made, are often criminally overlooked</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Governance forums, where integral business decisions</a:t>
                      </a:r>
                      <a:endParaRPr lang="en-US" sz="1100"/>
                    </a:p>
                    <a:p>
                      <a:pPr algn="l">
                        <a:lnSpc>
                          <a:spcPts val="2799"/>
                        </a:lnSpc>
                      </a:pPr>
                      <a:r>
                        <a:rPr lang="en-US" sz="1999">
                          <a:solidFill>
                            <a:srgbClr val="000000"/>
                          </a:solidFill>
                          <a:latin typeface="Inter"/>
                          <a:ea typeface="Inter"/>
                          <a:cs typeface="Inter"/>
                          <a:sym typeface="Inter"/>
                        </a:rPr>
                        <a:t>are being made, are often criminally overlooked</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9F4F0"/>
                    </a:solidFill>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2016229">
                <a:tc gridSpan="4">
                  <a:txBody>
                    <a:bodyPr anchor="t" rtlCol="false"/>
                    <a:lstStyle/>
                    <a:p>
                      <a:pPr algn="l">
                        <a:lnSpc>
                          <a:spcPts val="2799"/>
                        </a:lnSpc>
                        <a:defRPr/>
                      </a:pPr>
                      <a:r>
                        <a:rPr lang="en-US" sz="1999">
                          <a:solidFill>
                            <a:srgbClr val="000000"/>
                          </a:solidFill>
                          <a:latin typeface="Inter"/>
                          <a:ea typeface="Inter"/>
                          <a:cs typeface="Inter"/>
                          <a:sym typeface="Inter"/>
                        </a:rPr>
                        <a:t>Onchain flows tell the story in real-time, before it </a:t>
                      </a:r>
                      <a:endParaRPr lang="en-US" sz="1100"/>
                    </a:p>
                    <a:p>
                      <a:pPr algn="l">
                        <a:lnSpc>
                          <a:spcPts val="2799"/>
                        </a:lnSpc>
                      </a:pPr>
                      <a:r>
                        <a:rPr lang="en-US" sz="1999">
                          <a:solidFill>
                            <a:srgbClr val="000000"/>
                          </a:solidFill>
                          <a:latin typeface="Inter"/>
                          <a:ea typeface="Inter"/>
                          <a:cs typeface="Inter"/>
                          <a:sym typeface="Inter"/>
                        </a:rPr>
                        <a:t>reaches social media</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Onchain flows tell the story in real-time, before it </a:t>
                      </a:r>
                      <a:endParaRPr lang="en-US" sz="1100"/>
                    </a:p>
                    <a:p>
                      <a:pPr algn="l">
                        <a:lnSpc>
                          <a:spcPts val="2799"/>
                        </a:lnSpc>
                      </a:pPr>
                      <a:r>
                        <a:rPr lang="en-US" sz="1999">
                          <a:solidFill>
                            <a:srgbClr val="000000"/>
                          </a:solidFill>
                          <a:latin typeface="Inter"/>
                          <a:ea typeface="Inter"/>
                          <a:cs typeface="Inter"/>
                          <a:sym typeface="Inter"/>
                        </a:rPr>
                        <a:t>reaches social media</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Onchain flows tell the story in real-time, before it </a:t>
                      </a:r>
                      <a:endParaRPr lang="en-US" sz="1100"/>
                    </a:p>
                    <a:p>
                      <a:pPr algn="l">
                        <a:lnSpc>
                          <a:spcPts val="2799"/>
                        </a:lnSpc>
                      </a:pPr>
                      <a:r>
                        <a:rPr lang="en-US" sz="1999">
                          <a:solidFill>
                            <a:srgbClr val="000000"/>
                          </a:solidFill>
                          <a:latin typeface="Inter"/>
                          <a:ea typeface="Inter"/>
                          <a:cs typeface="Inter"/>
                          <a:sym typeface="Inter"/>
                        </a:rPr>
                        <a:t>reaches social media</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hMerge="true">
                  <a:txBody>
                    <a:bodyPr anchor="t" rtlCol="false"/>
                    <a:lstStyle/>
                    <a:p>
                      <a:pPr algn="l">
                        <a:lnSpc>
                          <a:spcPts val="2799"/>
                        </a:lnSpc>
                        <a:defRPr/>
                      </a:pPr>
                      <a:r>
                        <a:rPr lang="en-US" sz="1999">
                          <a:solidFill>
                            <a:srgbClr val="000000"/>
                          </a:solidFill>
                          <a:latin typeface="Inter"/>
                          <a:ea typeface="Inter"/>
                          <a:cs typeface="Inter"/>
                          <a:sym typeface="Inter"/>
                        </a:rPr>
                        <a:t>Onchain flows tell the story in real-time, before it </a:t>
                      </a:r>
                      <a:endParaRPr lang="en-US" sz="1100"/>
                    </a:p>
                    <a:p>
                      <a:pPr algn="l">
                        <a:lnSpc>
                          <a:spcPts val="2799"/>
                        </a:lnSpc>
                      </a:pPr>
                      <a:r>
                        <a:rPr lang="en-US" sz="1999">
                          <a:solidFill>
                            <a:srgbClr val="000000"/>
                          </a:solidFill>
                          <a:latin typeface="Inter"/>
                          <a:ea typeface="Inter"/>
                          <a:cs typeface="Inter"/>
                          <a:sym typeface="Inter"/>
                        </a:rPr>
                        <a:t>reaches social media</a:t>
                      </a: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2240"/>
                        </a:lnSpc>
                        <a:defRPr/>
                      </a:pP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bl>
          </a:graphicData>
        </a:graphic>
      </p:graphicFrame>
      <p:sp>
        <p:nvSpPr>
          <p:cNvPr name="Freeform 4" id="4"/>
          <p:cNvSpPr/>
          <p:nvPr/>
        </p:nvSpPr>
        <p:spPr>
          <a:xfrm flipH="false" flipV="false" rot="0">
            <a:off x="8174931" y="8021396"/>
            <a:ext cx="480090" cy="480090"/>
          </a:xfrm>
          <a:custGeom>
            <a:avLst/>
            <a:gdLst/>
            <a:ahLst/>
            <a:cxnLst/>
            <a:rect r="r" b="b" t="t" l="l"/>
            <a:pathLst>
              <a:path h="480090" w="480090">
                <a:moveTo>
                  <a:pt x="0" y="0"/>
                </a:moveTo>
                <a:lnTo>
                  <a:pt x="480090" y="0"/>
                </a:lnTo>
                <a:lnTo>
                  <a:pt x="480090" y="480089"/>
                </a:lnTo>
                <a:lnTo>
                  <a:pt x="0" y="4800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76139" y="5979793"/>
            <a:ext cx="478882" cy="478882"/>
          </a:xfrm>
          <a:custGeom>
            <a:avLst/>
            <a:gdLst/>
            <a:ahLst/>
            <a:cxnLst/>
            <a:rect r="r" b="b" t="t" l="l"/>
            <a:pathLst>
              <a:path h="478882" w="478882">
                <a:moveTo>
                  <a:pt x="0" y="0"/>
                </a:moveTo>
                <a:lnTo>
                  <a:pt x="478882" y="0"/>
                </a:lnTo>
                <a:lnTo>
                  <a:pt x="478882" y="478882"/>
                </a:lnTo>
                <a:lnTo>
                  <a:pt x="0" y="4788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174931" y="3995341"/>
            <a:ext cx="480090" cy="480090"/>
          </a:xfrm>
          <a:custGeom>
            <a:avLst/>
            <a:gdLst/>
            <a:ahLst/>
            <a:cxnLst/>
            <a:rect r="r" b="b" t="t" l="l"/>
            <a:pathLst>
              <a:path h="480090" w="480090">
                <a:moveTo>
                  <a:pt x="0" y="0"/>
                </a:moveTo>
                <a:lnTo>
                  <a:pt x="480090" y="0"/>
                </a:lnTo>
                <a:lnTo>
                  <a:pt x="480090" y="480090"/>
                </a:lnTo>
                <a:lnTo>
                  <a:pt x="0" y="4800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8174931" y="1937354"/>
            <a:ext cx="553037" cy="553037"/>
          </a:xfrm>
          <a:custGeom>
            <a:avLst/>
            <a:gdLst/>
            <a:ahLst/>
            <a:cxnLst/>
            <a:rect r="r" b="b" t="t" l="l"/>
            <a:pathLst>
              <a:path h="553037" w="553037">
                <a:moveTo>
                  <a:pt x="0" y="0"/>
                </a:moveTo>
                <a:lnTo>
                  <a:pt x="553037" y="0"/>
                </a:lnTo>
                <a:lnTo>
                  <a:pt x="553037" y="553037"/>
                </a:lnTo>
                <a:lnTo>
                  <a:pt x="0" y="55303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028700" y="895350"/>
            <a:ext cx="5714649" cy="4250055"/>
          </a:xfrm>
          <a:prstGeom prst="rect">
            <a:avLst/>
          </a:prstGeom>
        </p:spPr>
        <p:txBody>
          <a:bodyPr anchor="t" rtlCol="false" tIns="0" lIns="0" bIns="0" rIns="0">
            <a:spAutoFit/>
          </a:bodyPr>
          <a:lstStyle/>
          <a:p>
            <a:pPr algn="l">
              <a:lnSpc>
                <a:spcPts val="6719"/>
              </a:lnSpc>
            </a:pPr>
            <a:r>
              <a:rPr lang="en-US" sz="4800" b="true">
                <a:solidFill>
                  <a:srgbClr val="5885D8"/>
                </a:solidFill>
                <a:latin typeface="Cabinet Grotesk Bold"/>
                <a:ea typeface="Cabinet Grotesk Bold"/>
                <a:cs typeface="Cabinet Grotesk Bold"/>
                <a:sym typeface="Cabinet Grotesk Bold"/>
              </a:rPr>
              <a:t>Our Edge:</a:t>
            </a:r>
            <a:r>
              <a:rPr lang="en-US" sz="4800" b="true">
                <a:solidFill>
                  <a:srgbClr val="000000"/>
                </a:solidFill>
                <a:latin typeface="Cabinet Grotesk Bold"/>
                <a:ea typeface="Cabinet Grotesk Bold"/>
                <a:cs typeface="Cabinet Grotesk Bold"/>
                <a:sym typeface="Cabinet Grotesk Bold"/>
              </a:rPr>
              <a:t> Information </a:t>
            </a:r>
          </a:p>
          <a:p>
            <a:pPr algn="l">
              <a:lnSpc>
                <a:spcPts val="6719"/>
              </a:lnSpc>
            </a:pPr>
            <a:r>
              <a:rPr lang="en-US" sz="4800" b="true">
                <a:solidFill>
                  <a:srgbClr val="000000"/>
                </a:solidFill>
                <a:latin typeface="Cabinet Grotesk Bold"/>
                <a:ea typeface="Cabinet Grotesk Bold"/>
                <a:cs typeface="Cabinet Grotesk Bold"/>
                <a:sym typeface="Cabinet Grotesk Bold"/>
              </a:rPr>
              <a:t>Asymmetry</a:t>
            </a:r>
          </a:p>
          <a:p>
            <a:pPr algn="l">
              <a:lnSpc>
                <a:spcPts val="6719"/>
              </a:lnSpc>
            </a:pPr>
          </a:p>
          <a:p>
            <a:pPr algn="l">
              <a:lnSpc>
                <a:spcPts val="6719"/>
              </a:lnSpc>
            </a:pPr>
          </a:p>
        </p:txBody>
      </p:sp>
      <p:sp>
        <p:nvSpPr>
          <p:cNvPr name="TextBox 9" id="9"/>
          <p:cNvSpPr txBox="true"/>
          <p:nvPr/>
        </p:nvSpPr>
        <p:spPr>
          <a:xfrm rot="0">
            <a:off x="1028700" y="4004866"/>
            <a:ext cx="5493523" cy="1995805"/>
          </a:xfrm>
          <a:prstGeom prst="rect">
            <a:avLst/>
          </a:prstGeom>
        </p:spPr>
        <p:txBody>
          <a:bodyPr anchor="t" rtlCol="false" tIns="0" lIns="0" bIns="0" rIns="0">
            <a:spAutoFit/>
          </a:bodyPr>
          <a:lstStyle/>
          <a:p>
            <a:pPr algn="l">
              <a:lnSpc>
                <a:spcPts val="3919"/>
              </a:lnSpc>
            </a:pPr>
            <a:r>
              <a:rPr lang="en-US" sz="2799" b="true">
                <a:solidFill>
                  <a:srgbClr val="000000"/>
                </a:solidFill>
                <a:latin typeface="Cabinet Grotesk Bold"/>
                <a:ea typeface="Cabinet Grotesk Bold"/>
                <a:cs typeface="Cabinet Grotesk Bold"/>
                <a:sym typeface="Cabinet Grotesk Bold"/>
              </a:rPr>
              <a:t>Explosive, hig</a:t>
            </a:r>
            <a:r>
              <a:rPr lang="en-US" b="true" sz="2799">
                <a:solidFill>
                  <a:srgbClr val="000000"/>
                </a:solidFill>
                <a:latin typeface="Cabinet Grotesk Bold"/>
                <a:ea typeface="Cabinet Grotesk Bold"/>
                <a:cs typeface="Cabinet Grotesk Bold"/>
                <a:sym typeface="Cabinet Grotesk Bold"/>
              </a:rPr>
              <a:t>hly volatile momentum trades offer extreme risk reward scenarios</a:t>
            </a:r>
          </a:p>
          <a:p>
            <a:pPr algn="l">
              <a:lnSpc>
                <a:spcPts val="391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895350"/>
            <a:ext cx="10573413" cy="859155"/>
          </a:xfrm>
          <a:prstGeom prst="rect">
            <a:avLst/>
          </a:prstGeom>
        </p:spPr>
        <p:txBody>
          <a:bodyPr anchor="t" rtlCol="false" tIns="0" lIns="0" bIns="0" rIns="0">
            <a:spAutoFit/>
          </a:bodyPr>
          <a:lstStyle/>
          <a:p>
            <a:pPr algn="l">
              <a:lnSpc>
                <a:spcPts val="6719"/>
              </a:lnSpc>
            </a:pPr>
            <a:r>
              <a:rPr lang="en-US" sz="4800" b="true">
                <a:solidFill>
                  <a:srgbClr val="5885D8"/>
                </a:solidFill>
                <a:latin typeface="Cabinet Grotesk Bold"/>
                <a:ea typeface="Cabinet Grotesk Bold"/>
                <a:cs typeface="Cabinet Grotesk Bold"/>
                <a:sym typeface="Cabinet Grotesk Bold"/>
              </a:rPr>
              <a:t>Our Edge:</a:t>
            </a:r>
            <a:r>
              <a:rPr lang="en-US" sz="4800" b="true">
                <a:solidFill>
                  <a:srgbClr val="000000"/>
                </a:solidFill>
                <a:latin typeface="Cabinet Grotesk Bold"/>
                <a:ea typeface="Cabinet Grotesk Bold"/>
                <a:cs typeface="Cabinet Grotesk Bold"/>
                <a:sym typeface="Cabinet Grotesk Bold"/>
              </a:rPr>
              <a:t> Dynamic Risk Management</a:t>
            </a:r>
          </a:p>
        </p:txBody>
      </p:sp>
      <p:grpSp>
        <p:nvGrpSpPr>
          <p:cNvPr name="Group 4" id="4"/>
          <p:cNvGrpSpPr/>
          <p:nvPr/>
        </p:nvGrpSpPr>
        <p:grpSpPr>
          <a:xfrm rot="0">
            <a:off x="1028700" y="5698658"/>
            <a:ext cx="5173807" cy="2970579"/>
            <a:chOff x="0" y="0"/>
            <a:chExt cx="1362649" cy="782375"/>
          </a:xfrm>
        </p:grpSpPr>
        <p:sp>
          <p:nvSpPr>
            <p:cNvPr name="Freeform 5" id="5"/>
            <p:cNvSpPr/>
            <p:nvPr/>
          </p:nvSpPr>
          <p:spPr>
            <a:xfrm flipH="false" flipV="false" rot="0">
              <a:off x="0" y="0"/>
              <a:ext cx="1362649" cy="782375"/>
            </a:xfrm>
            <a:custGeom>
              <a:avLst/>
              <a:gdLst/>
              <a:ahLst/>
              <a:cxnLst/>
              <a:rect r="r" b="b" t="t" l="l"/>
              <a:pathLst>
                <a:path h="782375" w="1362649">
                  <a:moveTo>
                    <a:pt x="0" y="0"/>
                  </a:moveTo>
                  <a:lnTo>
                    <a:pt x="1362649" y="0"/>
                  </a:lnTo>
                  <a:lnTo>
                    <a:pt x="1362649" y="782375"/>
                  </a:lnTo>
                  <a:lnTo>
                    <a:pt x="0" y="782375"/>
                  </a:lnTo>
                  <a:close/>
                </a:path>
              </a:pathLst>
            </a:custGeom>
            <a:solidFill>
              <a:srgbClr val="FFFFFF"/>
            </a:solidFill>
          </p:spPr>
        </p:sp>
        <p:sp>
          <p:nvSpPr>
            <p:cNvPr name="TextBox 6" id="6"/>
            <p:cNvSpPr txBox="true"/>
            <p:nvPr/>
          </p:nvSpPr>
          <p:spPr>
            <a:xfrm>
              <a:off x="0" y="-38100"/>
              <a:ext cx="1362649" cy="82047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6560379" y="5698658"/>
            <a:ext cx="5173807" cy="2970579"/>
            <a:chOff x="0" y="0"/>
            <a:chExt cx="1362649" cy="782375"/>
          </a:xfrm>
        </p:grpSpPr>
        <p:sp>
          <p:nvSpPr>
            <p:cNvPr name="Freeform 8" id="8"/>
            <p:cNvSpPr/>
            <p:nvPr/>
          </p:nvSpPr>
          <p:spPr>
            <a:xfrm flipH="false" flipV="false" rot="0">
              <a:off x="0" y="0"/>
              <a:ext cx="1362649" cy="782375"/>
            </a:xfrm>
            <a:custGeom>
              <a:avLst/>
              <a:gdLst/>
              <a:ahLst/>
              <a:cxnLst/>
              <a:rect r="r" b="b" t="t" l="l"/>
              <a:pathLst>
                <a:path h="782375" w="1362649">
                  <a:moveTo>
                    <a:pt x="0" y="0"/>
                  </a:moveTo>
                  <a:lnTo>
                    <a:pt x="1362649" y="0"/>
                  </a:lnTo>
                  <a:lnTo>
                    <a:pt x="1362649" y="782375"/>
                  </a:lnTo>
                  <a:lnTo>
                    <a:pt x="0" y="782375"/>
                  </a:lnTo>
                  <a:close/>
                </a:path>
              </a:pathLst>
            </a:custGeom>
            <a:solidFill>
              <a:srgbClr val="FFFFFF"/>
            </a:solidFill>
          </p:spPr>
        </p:sp>
        <p:sp>
          <p:nvSpPr>
            <p:cNvPr name="TextBox 9" id="9"/>
            <p:cNvSpPr txBox="true"/>
            <p:nvPr/>
          </p:nvSpPr>
          <p:spPr>
            <a:xfrm>
              <a:off x="0" y="-38100"/>
              <a:ext cx="1362649" cy="82047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2085493" y="5698658"/>
            <a:ext cx="5173807" cy="2970579"/>
            <a:chOff x="0" y="0"/>
            <a:chExt cx="1362649" cy="782375"/>
          </a:xfrm>
        </p:grpSpPr>
        <p:sp>
          <p:nvSpPr>
            <p:cNvPr name="Freeform 11" id="11"/>
            <p:cNvSpPr/>
            <p:nvPr/>
          </p:nvSpPr>
          <p:spPr>
            <a:xfrm flipH="false" flipV="false" rot="0">
              <a:off x="0" y="0"/>
              <a:ext cx="1362649" cy="782375"/>
            </a:xfrm>
            <a:custGeom>
              <a:avLst/>
              <a:gdLst/>
              <a:ahLst/>
              <a:cxnLst/>
              <a:rect r="r" b="b" t="t" l="l"/>
              <a:pathLst>
                <a:path h="782375" w="1362649">
                  <a:moveTo>
                    <a:pt x="0" y="0"/>
                  </a:moveTo>
                  <a:lnTo>
                    <a:pt x="1362649" y="0"/>
                  </a:lnTo>
                  <a:lnTo>
                    <a:pt x="1362649" y="782375"/>
                  </a:lnTo>
                  <a:lnTo>
                    <a:pt x="0" y="782375"/>
                  </a:lnTo>
                  <a:close/>
                </a:path>
              </a:pathLst>
            </a:custGeom>
            <a:solidFill>
              <a:srgbClr val="FFFFFF"/>
            </a:solidFill>
          </p:spPr>
        </p:sp>
        <p:sp>
          <p:nvSpPr>
            <p:cNvPr name="TextBox 12" id="12"/>
            <p:cNvSpPr txBox="true"/>
            <p:nvPr/>
          </p:nvSpPr>
          <p:spPr>
            <a:xfrm>
              <a:off x="0" y="-38100"/>
              <a:ext cx="1362649" cy="82047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28700" y="2395894"/>
            <a:ext cx="5173807" cy="2970579"/>
            <a:chOff x="0" y="0"/>
            <a:chExt cx="1362649" cy="782375"/>
          </a:xfrm>
        </p:grpSpPr>
        <p:sp>
          <p:nvSpPr>
            <p:cNvPr name="Freeform 14" id="14"/>
            <p:cNvSpPr/>
            <p:nvPr/>
          </p:nvSpPr>
          <p:spPr>
            <a:xfrm flipH="false" flipV="false" rot="0">
              <a:off x="0" y="0"/>
              <a:ext cx="1362649" cy="782375"/>
            </a:xfrm>
            <a:custGeom>
              <a:avLst/>
              <a:gdLst/>
              <a:ahLst/>
              <a:cxnLst/>
              <a:rect r="r" b="b" t="t" l="l"/>
              <a:pathLst>
                <a:path h="782375" w="1362649">
                  <a:moveTo>
                    <a:pt x="0" y="0"/>
                  </a:moveTo>
                  <a:lnTo>
                    <a:pt x="1362649" y="0"/>
                  </a:lnTo>
                  <a:lnTo>
                    <a:pt x="1362649" y="782375"/>
                  </a:lnTo>
                  <a:lnTo>
                    <a:pt x="0" y="782375"/>
                  </a:lnTo>
                  <a:close/>
                </a:path>
              </a:pathLst>
            </a:custGeom>
            <a:solidFill>
              <a:srgbClr val="FFFFFF"/>
            </a:solidFill>
          </p:spPr>
        </p:sp>
        <p:sp>
          <p:nvSpPr>
            <p:cNvPr name="TextBox 15" id="15"/>
            <p:cNvSpPr txBox="true"/>
            <p:nvPr/>
          </p:nvSpPr>
          <p:spPr>
            <a:xfrm>
              <a:off x="0" y="-38100"/>
              <a:ext cx="1362649" cy="82047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6557097" y="2395894"/>
            <a:ext cx="5173807" cy="2970579"/>
            <a:chOff x="0" y="0"/>
            <a:chExt cx="1362649" cy="782375"/>
          </a:xfrm>
        </p:grpSpPr>
        <p:sp>
          <p:nvSpPr>
            <p:cNvPr name="Freeform 17" id="17"/>
            <p:cNvSpPr/>
            <p:nvPr/>
          </p:nvSpPr>
          <p:spPr>
            <a:xfrm flipH="false" flipV="false" rot="0">
              <a:off x="0" y="0"/>
              <a:ext cx="1362649" cy="782375"/>
            </a:xfrm>
            <a:custGeom>
              <a:avLst/>
              <a:gdLst/>
              <a:ahLst/>
              <a:cxnLst/>
              <a:rect r="r" b="b" t="t" l="l"/>
              <a:pathLst>
                <a:path h="782375" w="1362649">
                  <a:moveTo>
                    <a:pt x="0" y="0"/>
                  </a:moveTo>
                  <a:lnTo>
                    <a:pt x="1362649" y="0"/>
                  </a:lnTo>
                  <a:lnTo>
                    <a:pt x="1362649" y="782375"/>
                  </a:lnTo>
                  <a:lnTo>
                    <a:pt x="0" y="782375"/>
                  </a:lnTo>
                  <a:close/>
                </a:path>
              </a:pathLst>
            </a:custGeom>
            <a:solidFill>
              <a:srgbClr val="FFFFFF"/>
            </a:solidFill>
          </p:spPr>
        </p:sp>
        <p:sp>
          <p:nvSpPr>
            <p:cNvPr name="TextBox 18" id="18"/>
            <p:cNvSpPr txBox="true"/>
            <p:nvPr/>
          </p:nvSpPr>
          <p:spPr>
            <a:xfrm>
              <a:off x="0" y="-38100"/>
              <a:ext cx="1362649" cy="82047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2085493" y="2395894"/>
            <a:ext cx="5173807" cy="2970579"/>
            <a:chOff x="0" y="0"/>
            <a:chExt cx="1362649" cy="782375"/>
          </a:xfrm>
        </p:grpSpPr>
        <p:sp>
          <p:nvSpPr>
            <p:cNvPr name="Freeform 20" id="20"/>
            <p:cNvSpPr/>
            <p:nvPr/>
          </p:nvSpPr>
          <p:spPr>
            <a:xfrm flipH="false" flipV="false" rot="0">
              <a:off x="0" y="0"/>
              <a:ext cx="1362649" cy="782375"/>
            </a:xfrm>
            <a:custGeom>
              <a:avLst/>
              <a:gdLst/>
              <a:ahLst/>
              <a:cxnLst/>
              <a:rect r="r" b="b" t="t" l="l"/>
              <a:pathLst>
                <a:path h="782375" w="1362649">
                  <a:moveTo>
                    <a:pt x="0" y="0"/>
                  </a:moveTo>
                  <a:lnTo>
                    <a:pt x="1362649" y="0"/>
                  </a:lnTo>
                  <a:lnTo>
                    <a:pt x="1362649" y="782375"/>
                  </a:lnTo>
                  <a:lnTo>
                    <a:pt x="0" y="782375"/>
                  </a:lnTo>
                  <a:close/>
                </a:path>
              </a:pathLst>
            </a:custGeom>
            <a:solidFill>
              <a:srgbClr val="FFFFFF"/>
            </a:solidFill>
          </p:spPr>
        </p:sp>
        <p:sp>
          <p:nvSpPr>
            <p:cNvPr name="TextBox 21" id="21"/>
            <p:cNvSpPr txBox="true"/>
            <p:nvPr/>
          </p:nvSpPr>
          <p:spPr>
            <a:xfrm>
              <a:off x="0" y="-38100"/>
              <a:ext cx="1362649" cy="82047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629181" y="3006788"/>
            <a:ext cx="3972845" cy="1682115"/>
          </a:xfrm>
          <a:prstGeom prst="rect">
            <a:avLst/>
          </a:prstGeom>
        </p:spPr>
        <p:txBody>
          <a:bodyPr anchor="t" rtlCol="false" tIns="0" lIns="0" bIns="0" rIns="0">
            <a:spAutoFit/>
          </a:bodyPr>
          <a:lstStyle/>
          <a:p>
            <a:pPr algn="l">
              <a:lnSpc>
                <a:spcPts val="3360"/>
              </a:lnSpc>
            </a:pPr>
            <a:r>
              <a:rPr lang="en-US" sz="2400" b="true">
                <a:solidFill>
                  <a:srgbClr val="5885D8"/>
                </a:solidFill>
                <a:latin typeface="Cabinet Grotesk Bold"/>
                <a:ea typeface="Cabinet Grotesk Bold"/>
                <a:cs typeface="Cabinet Grotesk Bold"/>
                <a:sym typeface="Cabinet Grotesk Bold"/>
              </a:rPr>
              <a:t>Constant monitoring: </a:t>
            </a:r>
            <a:r>
              <a:rPr lang="en-US" sz="2400">
                <a:solidFill>
                  <a:srgbClr val="0B081D"/>
                </a:solidFill>
                <a:latin typeface="Cabinet Grotesk"/>
                <a:ea typeface="Cabinet Grotesk"/>
                <a:cs typeface="Cabinet Grotesk"/>
                <a:sym typeface="Cabinet Grotesk"/>
              </a:rPr>
              <a:t>flows, volume, open interest, wallet tracking, tokenomics, governance</a:t>
            </a:r>
          </a:p>
        </p:txBody>
      </p:sp>
      <p:sp>
        <p:nvSpPr>
          <p:cNvPr name="TextBox 23" id="23"/>
          <p:cNvSpPr txBox="true"/>
          <p:nvPr/>
        </p:nvSpPr>
        <p:spPr>
          <a:xfrm rot="0">
            <a:off x="1629181" y="6519102"/>
            <a:ext cx="3972845" cy="1263015"/>
          </a:xfrm>
          <a:prstGeom prst="rect">
            <a:avLst/>
          </a:prstGeom>
        </p:spPr>
        <p:txBody>
          <a:bodyPr anchor="t" rtlCol="false" tIns="0" lIns="0" bIns="0" rIns="0">
            <a:spAutoFit/>
          </a:bodyPr>
          <a:lstStyle/>
          <a:p>
            <a:pPr algn="l">
              <a:lnSpc>
                <a:spcPts val="3360"/>
              </a:lnSpc>
            </a:pPr>
            <a:r>
              <a:rPr lang="en-US" sz="2400">
                <a:solidFill>
                  <a:srgbClr val="0B081D"/>
                </a:solidFill>
                <a:latin typeface="Cabinet Grotesk"/>
                <a:ea typeface="Cabinet Grotesk"/>
                <a:cs typeface="Cabinet Grotesk"/>
                <a:sym typeface="Cabinet Grotesk"/>
              </a:rPr>
              <a:t>Position sizing </a:t>
            </a:r>
            <a:r>
              <a:rPr lang="en-US" sz="2400" b="true">
                <a:solidFill>
                  <a:srgbClr val="5885D8"/>
                </a:solidFill>
                <a:latin typeface="Cabinet Grotesk Bold"/>
                <a:ea typeface="Cabinet Grotesk Bold"/>
                <a:cs typeface="Cabinet Grotesk Bold"/>
                <a:sym typeface="Cabinet Grotesk Bold"/>
              </a:rPr>
              <a:t>calibrated to risk/reward</a:t>
            </a:r>
            <a:r>
              <a:rPr lang="en-US" sz="2400">
                <a:solidFill>
                  <a:srgbClr val="0B081D"/>
                </a:solidFill>
                <a:latin typeface="Cabinet Grotesk"/>
                <a:ea typeface="Cabinet Grotesk"/>
                <a:cs typeface="Cabinet Grotesk"/>
                <a:sym typeface="Cabinet Grotesk"/>
              </a:rPr>
              <a:t> within portfolio context</a:t>
            </a:r>
          </a:p>
        </p:txBody>
      </p:sp>
      <p:sp>
        <p:nvSpPr>
          <p:cNvPr name="TextBox 24" id="24"/>
          <p:cNvSpPr txBox="true"/>
          <p:nvPr/>
        </p:nvSpPr>
        <p:spPr>
          <a:xfrm rot="0">
            <a:off x="7160860" y="3006788"/>
            <a:ext cx="3972845" cy="1682115"/>
          </a:xfrm>
          <a:prstGeom prst="rect">
            <a:avLst/>
          </a:prstGeom>
        </p:spPr>
        <p:txBody>
          <a:bodyPr anchor="t" rtlCol="false" tIns="0" lIns="0" bIns="0" rIns="0">
            <a:spAutoFit/>
          </a:bodyPr>
          <a:lstStyle/>
          <a:p>
            <a:pPr algn="l">
              <a:lnSpc>
                <a:spcPts val="3360"/>
              </a:lnSpc>
            </a:pPr>
            <a:r>
              <a:rPr lang="en-US" sz="2400">
                <a:solidFill>
                  <a:srgbClr val="0B081D"/>
                </a:solidFill>
                <a:latin typeface="Cabinet Grotesk"/>
                <a:ea typeface="Cabinet Grotesk"/>
                <a:cs typeface="Cabinet Grotesk"/>
                <a:sym typeface="Cabinet Grotesk"/>
              </a:rPr>
              <a:t>Constant, near</a:t>
            </a:r>
            <a:r>
              <a:rPr lang="en-US" sz="2400" b="true">
                <a:solidFill>
                  <a:srgbClr val="5885D8"/>
                </a:solidFill>
                <a:latin typeface="Cabinet Grotesk Bold"/>
                <a:ea typeface="Cabinet Grotesk Bold"/>
                <a:cs typeface="Cabinet Grotesk Bold"/>
                <a:sym typeface="Cabinet Grotesk Bold"/>
              </a:rPr>
              <a:t> real time re underwriting</a:t>
            </a:r>
            <a:r>
              <a:rPr lang="en-US" sz="2400">
                <a:solidFill>
                  <a:srgbClr val="0B081D"/>
                </a:solidFill>
                <a:latin typeface="Cabinet Grotesk"/>
                <a:ea typeface="Cabinet Grotesk"/>
                <a:cs typeface="Cabinet Grotesk"/>
                <a:sym typeface="Cabinet Grotesk"/>
              </a:rPr>
              <a:t> based on evolving information and trading flows</a:t>
            </a:r>
          </a:p>
        </p:txBody>
      </p:sp>
      <p:sp>
        <p:nvSpPr>
          <p:cNvPr name="TextBox 25" id="25"/>
          <p:cNvSpPr txBox="true"/>
          <p:nvPr/>
        </p:nvSpPr>
        <p:spPr>
          <a:xfrm rot="0">
            <a:off x="7157577" y="6519102"/>
            <a:ext cx="3972845" cy="1263015"/>
          </a:xfrm>
          <a:prstGeom prst="rect">
            <a:avLst/>
          </a:prstGeom>
        </p:spPr>
        <p:txBody>
          <a:bodyPr anchor="t" rtlCol="false" tIns="0" lIns="0" bIns="0" rIns="0">
            <a:spAutoFit/>
          </a:bodyPr>
          <a:lstStyle/>
          <a:p>
            <a:pPr algn="l">
              <a:lnSpc>
                <a:spcPts val="3360"/>
              </a:lnSpc>
            </a:pPr>
            <a:r>
              <a:rPr lang="en-US" sz="2400">
                <a:solidFill>
                  <a:srgbClr val="0B081D"/>
                </a:solidFill>
                <a:latin typeface="Cabinet Grotesk"/>
                <a:ea typeface="Cabinet Grotesk"/>
                <a:cs typeface="Cabinet Grotesk"/>
                <a:sym typeface="Cabinet Grotesk"/>
              </a:rPr>
              <a:t>Derivative hedging and </a:t>
            </a:r>
            <a:r>
              <a:rPr lang="en-US" sz="2400" b="true">
                <a:solidFill>
                  <a:srgbClr val="5885D8"/>
                </a:solidFill>
                <a:latin typeface="Cabinet Grotesk Bold"/>
                <a:ea typeface="Cabinet Grotesk Bold"/>
                <a:cs typeface="Cabinet Grotesk Bold"/>
                <a:sym typeface="Cabinet Grotesk Bold"/>
              </a:rPr>
              <a:t>sophisticated execution</a:t>
            </a:r>
            <a:r>
              <a:rPr lang="en-US" sz="2400" b="true">
                <a:solidFill>
                  <a:srgbClr val="0B081D"/>
                </a:solidFill>
                <a:latin typeface="Cabinet Grotesk Bold"/>
                <a:ea typeface="Cabinet Grotesk Bold"/>
                <a:cs typeface="Cabinet Grotesk Bold"/>
                <a:sym typeface="Cabinet Grotesk Bold"/>
              </a:rPr>
              <a:t> </a:t>
            </a:r>
            <a:r>
              <a:rPr lang="en-US" sz="2400">
                <a:solidFill>
                  <a:srgbClr val="0B081D"/>
                </a:solidFill>
                <a:latin typeface="Cabinet Grotesk"/>
                <a:ea typeface="Cabinet Grotesk"/>
                <a:cs typeface="Cabinet Grotesk"/>
                <a:sym typeface="Cabinet Grotesk"/>
              </a:rPr>
              <a:t>through OTC relationships</a:t>
            </a:r>
          </a:p>
        </p:txBody>
      </p:sp>
      <p:sp>
        <p:nvSpPr>
          <p:cNvPr name="TextBox 26" id="26"/>
          <p:cNvSpPr txBox="true"/>
          <p:nvPr/>
        </p:nvSpPr>
        <p:spPr>
          <a:xfrm rot="0">
            <a:off x="12692928" y="3216338"/>
            <a:ext cx="3972845" cy="1263015"/>
          </a:xfrm>
          <a:prstGeom prst="rect">
            <a:avLst/>
          </a:prstGeom>
        </p:spPr>
        <p:txBody>
          <a:bodyPr anchor="t" rtlCol="false" tIns="0" lIns="0" bIns="0" rIns="0">
            <a:spAutoFit/>
          </a:bodyPr>
          <a:lstStyle/>
          <a:p>
            <a:pPr algn="l">
              <a:lnSpc>
                <a:spcPts val="3360"/>
              </a:lnSpc>
            </a:pPr>
            <a:r>
              <a:rPr lang="en-US" sz="2400">
                <a:solidFill>
                  <a:srgbClr val="0B081D"/>
                </a:solidFill>
                <a:latin typeface="Cabinet Grotesk"/>
                <a:ea typeface="Cabinet Grotesk"/>
                <a:cs typeface="Cabinet Grotesk"/>
                <a:sym typeface="Cabinet Grotesk"/>
              </a:rPr>
              <a:t>Front running narrative formation and</a:t>
            </a:r>
            <a:r>
              <a:rPr lang="en-US" sz="2400" b="true">
                <a:solidFill>
                  <a:srgbClr val="0B081D"/>
                </a:solidFill>
                <a:latin typeface="Cabinet Grotesk Bold"/>
                <a:ea typeface="Cabinet Grotesk Bold"/>
                <a:cs typeface="Cabinet Grotesk Bold"/>
                <a:sym typeface="Cabinet Grotesk Bold"/>
              </a:rPr>
              <a:t> </a:t>
            </a:r>
            <a:r>
              <a:rPr lang="en-US" sz="2400" b="true">
                <a:solidFill>
                  <a:srgbClr val="5885D8"/>
                </a:solidFill>
                <a:latin typeface="Cabinet Grotesk Bold"/>
                <a:ea typeface="Cabinet Grotesk Bold"/>
                <a:cs typeface="Cabinet Grotesk Bold"/>
                <a:sym typeface="Cabinet Grotesk Bold"/>
              </a:rPr>
              <a:t>selling into strength</a:t>
            </a:r>
          </a:p>
        </p:txBody>
      </p:sp>
      <p:sp>
        <p:nvSpPr>
          <p:cNvPr name="TextBox 27" id="27"/>
          <p:cNvSpPr txBox="true"/>
          <p:nvPr/>
        </p:nvSpPr>
        <p:spPr>
          <a:xfrm rot="0">
            <a:off x="12513811" y="6309552"/>
            <a:ext cx="4331079" cy="1682115"/>
          </a:xfrm>
          <a:prstGeom prst="rect">
            <a:avLst/>
          </a:prstGeom>
        </p:spPr>
        <p:txBody>
          <a:bodyPr anchor="t" rtlCol="false" tIns="0" lIns="0" bIns="0" rIns="0">
            <a:spAutoFit/>
          </a:bodyPr>
          <a:lstStyle/>
          <a:p>
            <a:pPr algn="l">
              <a:lnSpc>
                <a:spcPts val="3360"/>
              </a:lnSpc>
            </a:pPr>
            <a:r>
              <a:rPr lang="en-US" sz="2400" b="true">
                <a:solidFill>
                  <a:srgbClr val="5885D8"/>
                </a:solidFill>
                <a:latin typeface="Cabinet Grotesk Bold"/>
                <a:ea typeface="Cabinet Grotesk Bold"/>
                <a:cs typeface="Cabinet Grotesk Bold"/>
                <a:sym typeface="Cabinet Grotesk Bold"/>
              </a:rPr>
              <a:t>Maintaining</a:t>
            </a:r>
            <a:r>
              <a:rPr lang="en-US" sz="2400">
                <a:solidFill>
                  <a:srgbClr val="5885D8"/>
                </a:solidFill>
                <a:latin typeface="Cabinet Grotesk"/>
                <a:ea typeface="Cabinet Grotesk"/>
                <a:cs typeface="Cabinet Grotesk"/>
                <a:sym typeface="Cabinet Grotesk"/>
              </a:rPr>
              <a:t> </a:t>
            </a:r>
            <a:r>
              <a:rPr lang="en-US" sz="2400" b="true">
                <a:solidFill>
                  <a:srgbClr val="5885D8"/>
                </a:solidFill>
                <a:latin typeface="Cabinet Grotesk Bold"/>
                <a:ea typeface="Cabinet Grotesk Bold"/>
                <a:cs typeface="Cabinet Grotesk Bold"/>
                <a:sym typeface="Cabinet Grotesk Bold"/>
              </a:rPr>
              <a:t>high information advantage </a:t>
            </a:r>
            <a:r>
              <a:rPr lang="en-US" sz="2400">
                <a:solidFill>
                  <a:srgbClr val="0B081D"/>
                </a:solidFill>
                <a:latin typeface="Cabinet Grotesk"/>
                <a:ea typeface="Cabinet Grotesk"/>
                <a:cs typeface="Cabinet Grotesk"/>
                <a:sym typeface="Cabinet Grotesk"/>
              </a:rPr>
              <a:t>through unique and extensive  PM / trader / whale networks cultivated over years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14217" y="0"/>
            <a:ext cx="8173783" cy="10287000"/>
            <a:chOff x="0" y="0"/>
            <a:chExt cx="2152766" cy="2709333"/>
          </a:xfrm>
        </p:grpSpPr>
        <p:sp>
          <p:nvSpPr>
            <p:cNvPr name="Freeform 4" id="4"/>
            <p:cNvSpPr/>
            <p:nvPr/>
          </p:nvSpPr>
          <p:spPr>
            <a:xfrm flipH="false" flipV="false" rot="0">
              <a:off x="0" y="0"/>
              <a:ext cx="2152766" cy="2709333"/>
            </a:xfrm>
            <a:custGeom>
              <a:avLst/>
              <a:gdLst/>
              <a:ahLst/>
              <a:cxnLst/>
              <a:rect r="r" b="b" t="t" l="l"/>
              <a:pathLst>
                <a:path h="2709333" w="2152766">
                  <a:moveTo>
                    <a:pt x="0" y="0"/>
                  </a:moveTo>
                  <a:lnTo>
                    <a:pt x="2152766" y="0"/>
                  </a:lnTo>
                  <a:lnTo>
                    <a:pt x="2152766" y="2709333"/>
                  </a:lnTo>
                  <a:lnTo>
                    <a:pt x="0" y="2709333"/>
                  </a:lnTo>
                  <a:close/>
                </a:path>
              </a:pathLst>
            </a:custGeom>
            <a:solidFill>
              <a:srgbClr val="FFFFFF"/>
            </a:solidFill>
          </p:spPr>
        </p:sp>
        <p:sp>
          <p:nvSpPr>
            <p:cNvPr name="TextBox 5" id="5"/>
            <p:cNvSpPr txBox="true"/>
            <p:nvPr/>
          </p:nvSpPr>
          <p:spPr>
            <a:xfrm>
              <a:off x="0" y="-38100"/>
              <a:ext cx="2152766" cy="274743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895350"/>
            <a:ext cx="3349823"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Adiel Yaakov</a:t>
            </a:r>
          </a:p>
        </p:txBody>
      </p:sp>
      <p:sp>
        <p:nvSpPr>
          <p:cNvPr name="TextBox 7" id="7"/>
          <p:cNvSpPr txBox="true"/>
          <p:nvPr/>
        </p:nvSpPr>
        <p:spPr>
          <a:xfrm rot="0">
            <a:off x="1028700" y="2394643"/>
            <a:ext cx="7428561" cy="976630"/>
          </a:xfrm>
          <a:prstGeom prst="rect">
            <a:avLst/>
          </a:prstGeom>
        </p:spPr>
        <p:txBody>
          <a:bodyPr anchor="t" rtlCol="false" tIns="0" lIns="0" bIns="0" rIns="0">
            <a:spAutoFit/>
          </a:bodyPr>
          <a:lstStyle/>
          <a:p>
            <a:pPr algn="l">
              <a:lnSpc>
                <a:spcPts val="3919"/>
              </a:lnSpc>
            </a:pPr>
            <a:r>
              <a:rPr lang="en-US" sz="2799" b="true">
                <a:solidFill>
                  <a:srgbClr val="5885D8"/>
                </a:solidFill>
                <a:latin typeface="Inter Bold"/>
                <a:ea typeface="Inter Bold"/>
                <a:cs typeface="Inter Bold"/>
                <a:sym typeface="Inter Bold"/>
              </a:rPr>
              <a:t>A seasoned crypto veteran</a:t>
            </a:r>
            <a:r>
              <a:rPr lang="en-US" sz="2799" b="true">
                <a:solidFill>
                  <a:srgbClr val="000000"/>
                </a:solidFill>
                <a:latin typeface="Inter Bold"/>
                <a:ea typeface="Inter Bold"/>
                <a:cs typeface="Inter Bold"/>
                <a:sym typeface="Inter Bold"/>
              </a:rPr>
              <a:t> with a decade of liquid crypto market experience.</a:t>
            </a:r>
          </a:p>
        </p:txBody>
      </p:sp>
      <p:sp>
        <p:nvSpPr>
          <p:cNvPr name="TextBox 8" id="8"/>
          <p:cNvSpPr txBox="true"/>
          <p:nvPr/>
        </p:nvSpPr>
        <p:spPr>
          <a:xfrm rot="0">
            <a:off x="1028700" y="3780849"/>
            <a:ext cx="7980838" cy="4969509"/>
          </a:xfrm>
          <a:prstGeom prst="rect">
            <a:avLst/>
          </a:prstGeom>
        </p:spPr>
        <p:txBody>
          <a:bodyPr anchor="t" rtlCol="false" tIns="0" lIns="0" bIns="0" rIns="0">
            <a:spAutoFit/>
          </a:bodyPr>
          <a:lstStyle/>
          <a:p>
            <a:pPr algn="l">
              <a:lnSpc>
                <a:spcPts val="2240"/>
              </a:lnSpc>
            </a:pPr>
            <a:r>
              <a:rPr lang="en-US" sz="1600">
                <a:solidFill>
                  <a:srgbClr val="000000"/>
                </a:solidFill>
                <a:latin typeface="Inter"/>
                <a:ea typeface="Inter"/>
                <a:cs typeface="Inter"/>
                <a:sym typeface="Inter"/>
              </a:rPr>
              <a:t>Before joining Collider, Adiel worked as a lead analyst for various crypto companies, developing his data-driven, fundamental approach to market analysis. Adiel</a:t>
            </a:r>
            <a:r>
              <a:rPr lang="en-US" sz="1600">
                <a:solidFill>
                  <a:srgbClr val="000000"/>
                </a:solidFill>
                <a:latin typeface="Inter"/>
                <a:ea typeface="Inter"/>
                <a:cs typeface="Inter"/>
                <a:sym typeface="Inter"/>
              </a:rPr>
              <a:t> joined Collider in 2021 as Head of Research before running the firm's DeFi liquid fund for three years with exceptional returns. </a:t>
            </a:r>
          </a:p>
          <a:p>
            <a:pPr algn="l">
              <a:lnSpc>
                <a:spcPts val="2240"/>
              </a:lnSpc>
            </a:pPr>
          </a:p>
          <a:p>
            <a:pPr algn="l">
              <a:lnSpc>
                <a:spcPts val="2240"/>
              </a:lnSpc>
            </a:pPr>
            <a:r>
              <a:rPr lang="en-US" sz="1600">
                <a:solidFill>
                  <a:srgbClr val="000000"/>
                </a:solidFill>
                <a:latin typeface="Inter"/>
                <a:ea typeface="Inter"/>
                <a:cs typeface="Inter"/>
                <a:sym typeface="Inter"/>
              </a:rPr>
              <a:t>Throughout Adiel’s crypto career, he has successfully captured multiple 100-1000x opportunities while maintaining rigorous due diligence standards, demonstrated when he uncovered a critical GMX vulnerability, earning a $1.1M bounty for responsible disclosure. </a:t>
            </a:r>
          </a:p>
          <a:p>
            <a:pPr algn="l">
              <a:lnSpc>
                <a:spcPts val="2240"/>
              </a:lnSpc>
            </a:pPr>
          </a:p>
          <a:p>
            <a:pPr algn="l">
              <a:lnSpc>
                <a:spcPts val="2240"/>
              </a:lnSpc>
            </a:pPr>
            <a:r>
              <a:rPr lang="en-US" sz="1600">
                <a:solidFill>
                  <a:srgbClr val="000000"/>
                </a:solidFill>
                <a:latin typeface="Inter"/>
                <a:ea typeface="Inter"/>
                <a:cs typeface="Inter"/>
                <a:sym typeface="Inter"/>
              </a:rPr>
              <a:t>A</a:t>
            </a:r>
            <a:r>
              <a:rPr lang="en-US" sz="1600">
                <a:solidFill>
                  <a:srgbClr val="000000"/>
                </a:solidFill>
                <a:latin typeface="Inter"/>
                <a:ea typeface="Inter"/>
                <a:cs typeface="Inter"/>
                <a:sym typeface="Inter"/>
              </a:rPr>
              <a:t>s a partner in Collider's venture team, Adiel manages the funds’ investments as well as the firm's liquid nostro generating triple-digit returns, serves as a recognized master of incentive design and tokenomics for portfolio companies, and maintains extensive relationships with the most influential people across the crypto ecosystem—from high-profile builders to market makers, fund managers, and influential market participants—ensuring access to high-quality intelligence crucial for identifying and timing both opportunistic plays and fundamental value opportunities. Adiel’s academic background is in neuroscience (magna cum laude).</a:t>
            </a:r>
          </a:p>
        </p:txBody>
      </p:sp>
      <p:grpSp>
        <p:nvGrpSpPr>
          <p:cNvPr name="Group 9" id="9"/>
          <p:cNvGrpSpPr/>
          <p:nvPr/>
        </p:nvGrpSpPr>
        <p:grpSpPr>
          <a:xfrm rot="0">
            <a:off x="10847355" y="8640615"/>
            <a:ext cx="2939812" cy="617685"/>
            <a:chOff x="0" y="0"/>
            <a:chExt cx="3919749" cy="823579"/>
          </a:xfrm>
        </p:grpSpPr>
        <p:sp>
          <p:nvSpPr>
            <p:cNvPr name="TextBox 10" id="10"/>
            <p:cNvSpPr txBox="true"/>
            <p:nvPr/>
          </p:nvSpPr>
          <p:spPr>
            <a:xfrm rot="0">
              <a:off x="0" y="-38100"/>
              <a:ext cx="3919749" cy="449457"/>
            </a:xfrm>
            <a:prstGeom prst="rect">
              <a:avLst/>
            </a:prstGeom>
          </p:spPr>
          <p:txBody>
            <a:bodyPr anchor="t" rtlCol="false" tIns="0" lIns="0" bIns="0" rIns="0">
              <a:spAutoFit/>
            </a:bodyPr>
            <a:lstStyle/>
            <a:p>
              <a:pPr algn="l">
                <a:lnSpc>
                  <a:spcPts val="2933"/>
                </a:lnSpc>
              </a:pPr>
              <a:r>
                <a:rPr lang="en-US" sz="2095" b="true">
                  <a:solidFill>
                    <a:srgbClr val="000000"/>
                  </a:solidFill>
                  <a:latin typeface="Inter Bold"/>
                  <a:ea typeface="Inter Bold"/>
                  <a:cs typeface="Inter Bold"/>
                  <a:sym typeface="Inter Bold"/>
                </a:rPr>
                <a:t>Adiel Yaakov</a:t>
              </a:r>
            </a:p>
          </p:txBody>
        </p:sp>
        <p:sp>
          <p:nvSpPr>
            <p:cNvPr name="TextBox 11" id="11"/>
            <p:cNvSpPr txBox="true"/>
            <p:nvPr/>
          </p:nvSpPr>
          <p:spPr>
            <a:xfrm rot="0">
              <a:off x="0" y="472804"/>
              <a:ext cx="3919749" cy="350775"/>
            </a:xfrm>
            <a:prstGeom prst="rect">
              <a:avLst/>
            </a:prstGeom>
          </p:spPr>
          <p:txBody>
            <a:bodyPr anchor="t" rtlCol="false" tIns="0" lIns="0" bIns="0" rIns="0">
              <a:spAutoFit/>
            </a:bodyPr>
            <a:lstStyle/>
            <a:p>
              <a:pPr algn="l">
                <a:lnSpc>
                  <a:spcPts val="2200"/>
                </a:lnSpc>
              </a:pPr>
              <a:r>
                <a:rPr lang="en-US" sz="1571">
                  <a:solidFill>
                    <a:srgbClr val="000000"/>
                  </a:solidFill>
                  <a:latin typeface="Inter"/>
                  <a:ea typeface="Inter"/>
                  <a:cs typeface="Inter"/>
                  <a:sym typeface="Inter"/>
                </a:rPr>
                <a:t>Fund manager &amp; Partner</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grpSp>
        <p:nvGrpSpPr>
          <p:cNvPr name="Group 2" id="2"/>
          <p:cNvGrpSpPr/>
          <p:nvPr/>
        </p:nvGrpSpPr>
        <p:grpSpPr>
          <a:xfrm rot="0">
            <a:off x="1019510" y="7280583"/>
            <a:ext cx="7140074" cy="1552400"/>
            <a:chOff x="0" y="0"/>
            <a:chExt cx="2382871" cy="518086"/>
          </a:xfrm>
        </p:grpSpPr>
        <p:sp>
          <p:nvSpPr>
            <p:cNvPr name="Freeform 3" id="3"/>
            <p:cNvSpPr/>
            <p:nvPr/>
          </p:nvSpPr>
          <p:spPr>
            <a:xfrm flipH="false" flipV="false" rot="0">
              <a:off x="0" y="0"/>
              <a:ext cx="2382871" cy="518086"/>
            </a:xfrm>
            <a:custGeom>
              <a:avLst/>
              <a:gdLst/>
              <a:ahLst/>
              <a:cxnLst/>
              <a:rect r="r" b="b" t="t" l="l"/>
              <a:pathLst>
                <a:path h="518086" w="2382871">
                  <a:moveTo>
                    <a:pt x="0" y="0"/>
                  </a:moveTo>
                  <a:lnTo>
                    <a:pt x="2382871" y="0"/>
                  </a:lnTo>
                  <a:lnTo>
                    <a:pt x="2382871" y="518086"/>
                  </a:lnTo>
                  <a:lnTo>
                    <a:pt x="0" y="518086"/>
                  </a:lnTo>
                  <a:close/>
                </a:path>
              </a:pathLst>
            </a:custGeom>
            <a:solidFill>
              <a:srgbClr val="FFFFFF"/>
            </a:solidFill>
          </p:spPr>
        </p:sp>
        <p:sp>
          <p:nvSpPr>
            <p:cNvPr name="TextBox 4" id="4"/>
            <p:cNvSpPr txBox="true"/>
            <p:nvPr/>
          </p:nvSpPr>
          <p:spPr>
            <a:xfrm>
              <a:off x="0" y="-38100"/>
              <a:ext cx="2382871" cy="55618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19510" y="5259769"/>
            <a:ext cx="7140074" cy="1836002"/>
            <a:chOff x="0" y="0"/>
            <a:chExt cx="2382871" cy="612733"/>
          </a:xfrm>
        </p:grpSpPr>
        <p:sp>
          <p:nvSpPr>
            <p:cNvPr name="Freeform 6" id="6"/>
            <p:cNvSpPr/>
            <p:nvPr/>
          </p:nvSpPr>
          <p:spPr>
            <a:xfrm flipH="false" flipV="false" rot="0">
              <a:off x="0" y="0"/>
              <a:ext cx="2382871" cy="612733"/>
            </a:xfrm>
            <a:custGeom>
              <a:avLst/>
              <a:gdLst/>
              <a:ahLst/>
              <a:cxnLst/>
              <a:rect r="r" b="b" t="t" l="l"/>
              <a:pathLst>
                <a:path h="612733" w="2382871">
                  <a:moveTo>
                    <a:pt x="0" y="0"/>
                  </a:moveTo>
                  <a:lnTo>
                    <a:pt x="2382871" y="0"/>
                  </a:lnTo>
                  <a:lnTo>
                    <a:pt x="2382871" y="612733"/>
                  </a:lnTo>
                  <a:lnTo>
                    <a:pt x="0" y="612733"/>
                  </a:lnTo>
                  <a:close/>
                </a:path>
              </a:pathLst>
            </a:custGeom>
            <a:solidFill>
              <a:srgbClr val="FFFFFF"/>
            </a:solidFill>
          </p:spPr>
        </p:sp>
        <p:sp>
          <p:nvSpPr>
            <p:cNvPr name="TextBox 7" id="7"/>
            <p:cNvSpPr txBox="true"/>
            <p:nvPr/>
          </p:nvSpPr>
          <p:spPr>
            <a:xfrm>
              <a:off x="0" y="-38100"/>
              <a:ext cx="2382871" cy="6508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19510" y="3375261"/>
            <a:ext cx="7140074" cy="1686738"/>
            <a:chOff x="0" y="0"/>
            <a:chExt cx="2382871" cy="562918"/>
          </a:xfrm>
        </p:grpSpPr>
        <p:sp>
          <p:nvSpPr>
            <p:cNvPr name="Freeform 9" id="9"/>
            <p:cNvSpPr/>
            <p:nvPr/>
          </p:nvSpPr>
          <p:spPr>
            <a:xfrm flipH="false" flipV="false" rot="0">
              <a:off x="0" y="0"/>
              <a:ext cx="2382871" cy="562918"/>
            </a:xfrm>
            <a:custGeom>
              <a:avLst/>
              <a:gdLst/>
              <a:ahLst/>
              <a:cxnLst/>
              <a:rect r="r" b="b" t="t" l="l"/>
              <a:pathLst>
                <a:path h="562918" w="2382871">
                  <a:moveTo>
                    <a:pt x="0" y="0"/>
                  </a:moveTo>
                  <a:lnTo>
                    <a:pt x="2382871" y="0"/>
                  </a:lnTo>
                  <a:lnTo>
                    <a:pt x="2382871" y="562918"/>
                  </a:lnTo>
                  <a:lnTo>
                    <a:pt x="0" y="562918"/>
                  </a:lnTo>
                  <a:close/>
                </a:path>
              </a:pathLst>
            </a:custGeom>
            <a:solidFill>
              <a:srgbClr val="FFFFFF"/>
            </a:solidFill>
          </p:spPr>
        </p:sp>
        <p:sp>
          <p:nvSpPr>
            <p:cNvPr name="TextBox 10" id="10"/>
            <p:cNvSpPr txBox="true"/>
            <p:nvPr/>
          </p:nvSpPr>
          <p:spPr>
            <a:xfrm>
              <a:off x="0" y="-38100"/>
              <a:ext cx="2382871" cy="60101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8543999" y="3375261"/>
            <a:ext cx="8715301" cy="5894783"/>
          </a:xfrm>
          <a:custGeom>
            <a:avLst/>
            <a:gdLst/>
            <a:ahLst/>
            <a:cxnLst/>
            <a:rect r="r" b="b" t="t" l="l"/>
            <a:pathLst>
              <a:path h="5894783" w="8715301">
                <a:moveTo>
                  <a:pt x="0" y="0"/>
                </a:moveTo>
                <a:lnTo>
                  <a:pt x="8715301" y="0"/>
                </a:lnTo>
                <a:lnTo>
                  <a:pt x="8715301" y="5894783"/>
                </a:lnTo>
                <a:lnTo>
                  <a:pt x="0" y="5894783"/>
                </a:lnTo>
                <a:lnTo>
                  <a:pt x="0" y="0"/>
                </a:lnTo>
                <a:close/>
              </a:path>
            </a:pathLst>
          </a:custGeom>
          <a:blipFill>
            <a:blip r:embed="rId4"/>
            <a:stretch>
              <a:fillRect l="-1510" t="0" r="-1164" b="0"/>
            </a:stretch>
          </a:blipFill>
        </p:spPr>
      </p:sp>
      <p:sp>
        <p:nvSpPr>
          <p:cNvPr name="TextBox 13" id="13"/>
          <p:cNvSpPr txBox="true"/>
          <p:nvPr/>
        </p:nvSpPr>
        <p:spPr>
          <a:xfrm rot="0">
            <a:off x="1019510" y="2183366"/>
            <a:ext cx="7524489" cy="763270"/>
          </a:xfrm>
          <a:prstGeom prst="rect">
            <a:avLst/>
          </a:prstGeom>
        </p:spPr>
        <p:txBody>
          <a:bodyPr anchor="t" rtlCol="false" tIns="0" lIns="0" bIns="0" rIns="0">
            <a:spAutoFit/>
          </a:bodyPr>
          <a:lstStyle/>
          <a:p>
            <a:pPr algn="l">
              <a:lnSpc>
                <a:spcPts val="3080"/>
              </a:lnSpc>
            </a:pPr>
            <a:r>
              <a:rPr lang="en-US" sz="2200" b="true">
                <a:solidFill>
                  <a:srgbClr val="0B081D"/>
                </a:solidFill>
                <a:latin typeface="Inter Bold"/>
                <a:ea typeface="Inter Bold"/>
                <a:cs typeface="Inter Bold"/>
                <a:sym typeface="Inter Bold"/>
              </a:rPr>
              <a:t>W</a:t>
            </a:r>
            <a:r>
              <a:rPr lang="en-US" b="true" sz="2200">
                <a:solidFill>
                  <a:srgbClr val="0B081D"/>
                </a:solidFill>
                <a:latin typeface="Inter Bold"/>
                <a:ea typeface="Inter Bold"/>
                <a:cs typeface="Inter Bold"/>
                <a:sym typeface="Inter Bold"/>
              </a:rPr>
              <a:t>e took a sizeable position very early on in $TRUMP. </a:t>
            </a:r>
            <a:r>
              <a:rPr lang="en-US" sz="2200" b="true">
                <a:solidFill>
                  <a:srgbClr val="5885D8"/>
                </a:solidFill>
                <a:latin typeface="Inter Bold"/>
                <a:ea typeface="Inter Bold"/>
                <a:cs typeface="Inter Bold"/>
                <a:sym typeface="Inter Bold"/>
              </a:rPr>
              <a:t>We sold it a day later for more than 10x.</a:t>
            </a:r>
          </a:p>
        </p:txBody>
      </p:sp>
      <p:sp>
        <p:nvSpPr>
          <p:cNvPr name="TextBox 14" id="14"/>
          <p:cNvSpPr txBox="true"/>
          <p:nvPr/>
        </p:nvSpPr>
        <p:spPr>
          <a:xfrm rot="0">
            <a:off x="1302368" y="7661095"/>
            <a:ext cx="6446841" cy="701675"/>
          </a:xfrm>
          <a:prstGeom prst="rect">
            <a:avLst/>
          </a:prstGeom>
        </p:spPr>
        <p:txBody>
          <a:bodyPr anchor="t" rtlCol="false" tIns="0" lIns="0" bIns="0" rIns="0">
            <a:spAutoFit/>
          </a:bodyPr>
          <a:lstStyle/>
          <a:p>
            <a:pPr algn="l">
              <a:lnSpc>
                <a:spcPts val="2799"/>
              </a:lnSpc>
            </a:pPr>
            <a:r>
              <a:rPr lang="en-US" sz="1999" b="true">
                <a:solidFill>
                  <a:srgbClr val="0B081D"/>
                </a:solidFill>
                <a:latin typeface="Cabinet Grotesk Bold"/>
                <a:ea typeface="Cabinet Grotesk Bold"/>
                <a:cs typeface="Cabinet Grotesk Bold"/>
                <a:sym typeface="Cabinet Grotesk Bold"/>
              </a:rPr>
              <a:t>That g</a:t>
            </a:r>
            <a:r>
              <a:rPr lang="en-US" sz="1999" b="true">
                <a:solidFill>
                  <a:srgbClr val="0B081D"/>
                </a:solidFill>
                <a:latin typeface="Cabinet Grotesk Bold"/>
                <a:ea typeface="Cabinet Grotesk Bold"/>
                <a:cs typeface="Cabinet Grotesk Bold"/>
                <a:sym typeface="Cabinet Grotesk Bold"/>
              </a:rPr>
              <a:t>ave us the edge </a:t>
            </a:r>
            <a:r>
              <a:rPr lang="en-US" sz="1999">
                <a:solidFill>
                  <a:srgbClr val="0B081D"/>
                </a:solidFill>
                <a:latin typeface="Cabinet Grotesk"/>
                <a:ea typeface="Cabinet Grotesk"/>
                <a:cs typeface="Cabinet Grotesk"/>
                <a:sym typeface="Cabinet Grotesk"/>
              </a:rPr>
              <a:t>to long way ahead of the official Trump family public confirmation.</a:t>
            </a:r>
          </a:p>
        </p:txBody>
      </p:sp>
      <p:sp>
        <p:nvSpPr>
          <p:cNvPr name="TextBox 15" id="15"/>
          <p:cNvSpPr txBox="true"/>
          <p:nvPr/>
        </p:nvSpPr>
        <p:spPr>
          <a:xfrm rot="0">
            <a:off x="1302368" y="5620428"/>
            <a:ext cx="6574359" cy="1054100"/>
          </a:xfrm>
          <a:prstGeom prst="rect">
            <a:avLst/>
          </a:prstGeom>
        </p:spPr>
        <p:txBody>
          <a:bodyPr anchor="t" rtlCol="false" tIns="0" lIns="0" bIns="0" rIns="0">
            <a:spAutoFit/>
          </a:bodyPr>
          <a:lstStyle/>
          <a:p>
            <a:pPr algn="l">
              <a:lnSpc>
                <a:spcPts val="2799"/>
              </a:lnSpc>
            </a:pPr>
            <a:r>
              <a:rPr lang="en-US" sz="1999" b="true">
                <a:solidFill>
                  <a:srgbClr val="0B081D"/>
                </a:solidFill>
                <a:latin typeface="Cabinet Grotesk Bold"/>
                <a:ea typeface="Cabinet Grotesk Bold"/>
                <a:cs typeface="Cabinet Grotesk Bold"/>
                <a:sym typeface="Cabinet Grotesk Bold"/>
              </a:rPr>
              <a:t>We </a:t>
            </a:r>
            <a:r>
              <a:rPr lang="en-US" sz="1999" b="true">
                <a:solidFill>
                  <a:srgbClr val="0B081D"/>
                </a:solidFill>
                <a:latin typeface="Cabinet Grotesk Bold"/>
                <a:ea typeface="Cabinet Grotesk Bold"/>
                <a:cs typeface="Cabinet Grotesk Bold"/>
                <a:sym typeface="Cabinet Grotesk Bold"/>
              </a:rPr>
              <a:t>had minutes to conduct thorough and meticulous research.</a:t>
            </a:r>
            <a:r>
              <a:rPr lang="en-US" sz="1999">
                <a:solidFill>
                  <a:srgbClr val="0B081D"/>
                </a:solidFill>
                <a:latin typeface="Cabinet Grotesk"/>
                <a:ea typeface="Cabinet Grotesk"/>
                <a:cs typeface="Cabinet Grotesk"/>
                <a:sym typeface="Cabinet Grotesk"/>
              </a:rPr>
              <a:t> We found out the $TRUMP token website used the same Cloudflare servers as his Trumpcard NFTs website.</a:t>
            </a:r>
          </a:p>
        </p:txBody>
      </p:sp>
      <p:sp>
        <p:nvSpPr>
          <p:cNvPr name="TextBox 16" id="16"/>
          <p:cNvSpPr txBox="true"/>
          <p:nvPr/>
        </p:nvSpPr>
        <p:spPr>
          <a:xfrm rot="0">
            <a:off x="1302368" y="3843980"/>
            <a:ext cx="6574359" cy="701675"/>
          </a:xfrm>
          <a:prstGeom prst="rect">
            <a:avLst/>
          </a:prstGeom>
        </p:spPr>
        <p:txBody>
          <a:bodyPr anchor="t" rtlCol="false" tIns="0" lIns="0" bIns="0" rIns="0">
            <a:spAutoFit/>
          </a:bodyPr>
          <a:lstStyle/>
          <a:p>
            <a:pPr algn="l">
              <a:lnSpc>
                <a:spcPts val="2799"/>
              </a:lnSpc>
            </a:pPr>
            <a:r>
              <a:rPr lang="en-US" sz="1999" b="true">
                <a:solidFill>
                  <a:srgbClr val="0B081D"/>
                </a:solidFill>
                <a:latin typeface="Cabinet Grotesk Bold"/>
                <a:ea typeface="Cabinet Grotesk Bold"/>
                <a:cs typeface="Cabinet Grotesk Bold"/>
                <a:sym typeface="Cabinet Grotesk Bold"/>
              </a:rPr>
              <a:t>POTUS l</a:t>
            </a:r>
            <a:r>
              <a:rPr lang="en-US" sz="1999" b="true">
                <a:solidFill>
                  <a:srgbClr val="0B081D"/>
                </a:solidFill>
                <a:latin typeface="Cabinet Grotesk Bold"/>
                <a:ea typeface="Cabinet Grotesk Bold"/>
                <a:cs typeface="Cabinet Grotesk Bold"/>
                <a:sym typeface="Cabinet Grotesk Bold"/>
              </a:rPr>
              <a:t>aunched his own memecoin.</a:t>
            </a:r>
            <a:r>
              <a:rPr lang="en-US" sz="1999">
                <a:solidFill>
                  <a:srgbClr val="0B081D"/>
                </a:solidFill>
                <a:latin typeface="Cabinet Grotesk"/>
                <a:ea typeface="Cabinet Grotesk"/>
                <a:cs typeface="Cabinet Grotesk"/>
                <a:sym typeface="Cabinet Grotesk"/>
              </a:rPr>
              <a:t> It was very risky to long in size as there was no official confirmation, just rumors.</a:t>
            </a:r>
          </a:p>
        </p:txBody>
      </p:sp>
      <p:sp>
        <p:nvSpPr>
          <p:cNvPr name="TextBox 17" id="17"/>
          <p:cNvSpPr txBox="true"/>
          <p:nvPr/>
        </p:nvSpPr>
        <p:spPr>
          <a:xfrm rot="0">
            <a:off x="1028700" y="895350"/>
            <a:ext cx="15154052"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Trade Example B: Opportunistic / Event Based ($TRUMP)</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grpSp>
        <p:nvGrpSpPr>
          <p:cNvPr name="Group 2" id="2"/>
          <p:cNvGrpSpPr/>
          <p:nvPr/>
        </p:nvGrpSpPr>
        <p:grpSpPr>
          <a:xfrm rot="0">
            <a:off x="1019510" y="4358732"/>
            <a:ext cx="7140074" cy="1104608"/>
            <a:chOff x="0" y="0"/>
            <a:chExt cx="2382871" cy="368643"/>
          </a:xfrm>
        </p:grpSpPr>
        <p:sp>
          <p:nvSpPr>
            <p:cNvPr name="Freeform 3" id="3"/>
            <p:cNvSpPr/>
            <p:nvPr/>
          </p:nvSpPr>
          <p:spPr>
            <a:xfrm flipH="false" flipV="false" rot="0">
              <a:off x="0" y="0"/>
              <a:ext cx="2382871" cy="368643"/>
            </a:xfrm>
            <a:custGeom>
              <a:avLst/>
              <a:gdLst/>
              <a:ahLst/>
              <a:cxnLst/>
              <a:rect r="r" b="b" t="t" l="l"/>
              <a:pathLst>
                <a:path h="368643" w="2382871">
                  <a:moveTo>
                    <a:pt x="0" y="0"/>
                  </a:moveTo>
                  <a:lnTo>
                    <a:pt x="2382871" y="0"/>
                  </a:lnTo>
                  <a:lnTo>
                    <a:pt x="2382871" y="368643"/>
                  </a:lnTo>
                  <a:lnTo>
                    <a:pt x="0" y="368643"/>
                  </a:lnTo>
                  <a:close/>
                </a:path>
              </a:pathLst>
            </a:custGeom>
            <a:solidFill>
              <a:srgbClr val="FFFFFF"/>
            </a:solidFill>
          </p:spPr>
        </p:sp>
        <p:sp>
          <p:nvSpPr>
            <p:cNvPr name="TextBox 4" id="4"/>
            <p:cNvSpPr txBox="true"/>
            <p:nvPr/>
          </p:nvSpPr>
          <p:spPr>
            <a:xfrm>
              <a:off x="0" y="-38100"/>
              <a:ext cx="2382871" cy="40674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19510" y="5510964"/>
            <a:ext cx="7140074" cy="1104608"/>
            <a:chOff x="0" y="0"/>
            <a:chExt cx="2382871" cy="368643"/>
          </a:xfrm>
        </p:grpSpPr>
        <p:sp>
          <p:nvSpPr>
            <p:cNvPr name="Freeform 6" id="6"/>
            <p:cNvSpPr/>
            <p:nvPr/>
          </p:nvSpPr>
          <p:spPr>
            <a:xfrm flipH="false" flipV="false" rot="0">
              <a:off x="0" y="0"/>
              <a:ext cx="2382871" cy="368643"/>
            </a:xfrm>
            <a:custGeom>
              <a:avLst/>
              <a:gdLst/>
              <a:ahLst/>
              <a:cxnLst/>
              <a:rect r="r" b="b" t="t" l="l"/>
              <a:pathLst>
                <a:path h="368643" w="2382871">
                  <a:moveTo>
                    <a:pt x="0" y="0"/>
                  </a:moveTo>
                  <a:lnTo>
                    <a:pt x="2382871" y="0"/>
                  </a:lnTo>
                  <a:lnTo>
                    <a:pt x="2382871" y="368643"/>
                  </a:lnTo>
                  <a:lnTo>
                    <a:pt x="0" y="368643"/>
                  </a:lnTo>
                  <a:close/>
                </a:path>
              </a:pathLst>
            </a:custGeom>
            <a:solidFill>
              <a:srgbClr val="FFFFFF"/>
            </a:solidFill>
          </p:spPr>
        </p:sp>
        <p:sp>
          <p:nvSpPr>
            <p:cNvPr name="TextBox 7" id="7"/>
            <p:cNvSpPr txBox="true"/>
            <p:nvPr/>
          </p:nvSpPr>
          <p:spPr>
            <a:xfrm>
              <a:off x="0" y="-38100"/>
              <a:ext cx="2382871" cy="40674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19510" y="6653672"/>
            <a:ext cx="7140074" cy="1104608"/>
            <a:chOff x="0" y="0"/>
            <a:chExt cx="2382871" cy="368643"/>
          </a:xfrm>
        </p:grpSpPr>
        <p:sp>
          <p:nvSpPr>
            <p:cNvPr name="Freeform 9" id="9"/>
            <p:cNvSpPr/>
            <p:nvPr/>
          </p:nvSpPr>
          <p:spPr>
            <a:xfrm flipH="false" flipV="false" rot="0">
              <a:off x="0" y="0"/>
              <a:ext cx="2382871" cy="368643"/>
            </a:xfrm>
            <a:custGeom>
              <a:avLst/>
              <a:gdLst/>
              <a:ahLst/>
              <a:cxnLst/>
              <a:rect r="r" b="b" t="t" l="l"/>
              <a:pathLst>
                <a:path h="368643" w="2382871">
                  <a:moveTo>
                    <a:pt x="0" y="0"/>
                  </a:moveTo>
                  <a:lnTo>
                    <a:pt x="2382871" y="0"/>
                  </a:lnTo>
                  <a:lnTo>
                    <a:pt x="2382871" y="368643"/>
                  </a:lnTo>
                  <a:lnTo>
                    <a:pt x="0" y="368643"/>
                  </a:lnTo>
                  <a:close/>
                </a:path>
              </a:pathLst>
            </a:custGeom>
            <a:solidFill>
              <a:srgbClr val="FFFFFF"/>
            </a:solidFill>
          </p:spPr>
        </p:sp>
        <p:sp>
          <p:nvSpPr>
            <p:cNvPr name="TextBox 10" id="10"/>
            <p:cNvSpPr txBox="true"/>
            <p:nvPr/>
          </p:nvSpPr>
          <p:spPr>
            <a:xfrm>
              <a:off x="0" y="-38100"/>
              <a:ext cx="2382871" cy="40674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19510" y="7848900"/>
            <a:ext cx="7140074" cy="1104608"/>
            <a:chOff x="0" y="0"/>
            <a:chExt cx="2382871" cy="368643"/>
          </a:xfrm>
        </p:grpSpPr>
        <p:sp>
          <p:nvSpPr>
            <p:cNvPr name="Freeform 12" id="12"/>
            <p:cNvSpPr/>
            <p:nvPr/>
          </p:nvSpPr>
          <p:spPr>
            <a:xfrm flipH="false" flipV="false" rot="0">
              <a:off x="0" y="0"/>
              <a:ext cx="2382871" cy="368643"/>
            </a:xfrm>
            <a:custGeom>
              <a:avLst/>
              <a:gdLst/>
              <a:ahLst/>
              <a:cxnLst/>
              <a:rect r="r" b="b" t="t" l="l"/>
              <a:pathLst>
                <a:path h="368643" w="2382871">
                  <a:moveTo>
                    <a:pt x="0" y="0"/>
                  </a:moveTo>
                  <a:lnTo>
                    <a:pt x="2382871" y="0"/>
                  </a:lnTo>
                  <a:lnTo>
                    <a:pt x="2382871" y="368643"/>
                  </a:lnTo>
                  <a:lnTo>
                    <a:pt x="0" y="368643"/>
                  </a:lnTo>
                  <a:close/>
                </a:path>
              </a:pathLst>
            </a:custGeom>
            <a:solidFill>
              <a:srgbClr val="FFFFFF"/>
            </a:solidFill>
          </p:spPr>
        </p:sp>
        <p:sp>
          <p:nvSpPr>
            <p:cNvPr name="TextBox 13" id="13"/>
            <p:cNvSpPr txBox="true"/>
            <p:nvPr/>
          </p:nvSpPr>
          <p:spPr>
            <a:xfrm>
              <a:off x="0" y="-38100"/>
              <a:ext cx="2382871" cy="40674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19510" y="2880682"/>
            <a:ext cx="7140074" cy="696142"/>
            <a:chOff x="0" y="0"/>
            <a:chExt cx="2382871" cy="232325"/>
          </a:xfrm>
        </p:grpSpPr>
        <p:sp>
          <p:nvSpPr>
            <p:cNvPr name="Freeform 15" id="15"/>
            <p:cNvSpPr/>
            <p:nvPr/>
          </p:nvSpPr>
          <p:spPr>
            <a:xfrm flipH="false" flipV="false" rot="0">
              <a:off x="0" y="0"/>
              <a:ext cx="2382871" cy="232325"/>
            </a:xfrm>
            <a:custGeom>
              <a:avLst/>
              <a:gdLst/>
              <a:ahLst/>
              <a:cxnLst/>
              <a:rect r="r" b="b" t="t" l="l"/>
              <a:pathLst>
                <a:path h="232325" w="2382871">
                  <a:moveTo>
                    <a:pt x="0" y="0"/>
                  </a:moveTo>
                  <a:lnTo>
                    <a:pt x="2382871" y="0"/>
                  </a:lnTo>
                  <a:lnTo>
                    <a:pt x="2382871" y="232325"/>
                  </a:lnTo>
                  <a:lnTo>
                    <a:pt x="0" y="232325"/>
                  </a:lnTo>
                  <a:close/>
                </a:path>
              </a:pathLst>
            </a:custGeom>
            <a:solidFill>
              <a:srgbClr val="FFFFFF"/>
            </a:solidFill>
          </p:spPr>
        </p:sp>
        <p:sp>
          <p:nvSpPr>
            <p:cNvPr name="TextBox 16" id="16"/>
            <p:cNvSpPr txBox="true"/>
            <p:nvPr/>
          </p:nvSpPr>
          <p:spPr>
            <a:xfrm>
              <a:off x="0" y="-38100"/>
              <a:ext cx="2382871" cy="27042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19510" y="3622600"/>
            <a:ext cx="7140074" cy="696142"/>
            <a:chOff x="0" y="0"/>
            <a:chExt cx="2382871" cy="232325"/>
          </a:xfrm>
        </p:grpSpPr>
        <p:sp>
          <p:nvSpPr>
            <p:cNvPr name="Freeform 18" id="18"/>
            <p:cNvSpPr/>
            <p:nvPr/>
          </p:nvSpPr>
          <p:spPr>
            <a:xfrm flipH="false" flipV="false" rot="0">
              <a:off x="0" y="0"/>
              <a:ext cx="2382871" cy="232325"/>
            </a:xfrm>
            <a:custGeom>
              <a:avLst/>
              <a:gdLst/>
              <a:ahLst/>
              <a:cxnLst/>
              <a:rect r="r" b="b" t="t" l="l"/>
              <a:pathLst>
                <a:path h="232325" w="2382871">
                  <a:moveTo>
                    <a:pt x="0" y="0"/>
                  </a:moveTo>
                  <a:lnTo>
                    <a:pt x="2382871" y="0"/>
                  </a:lnTo>
                  <a:lnTo>
                    <a:pt x="2382871" y="232325"/>
                  </a:lnTo>
                  <a:lnTo>
                    <a:pt x="0" y="232325"/>
                  </a:lnTo>
                  <a:close/>
                </a:path>
              </a:pathLst>
            </a:custGeom>
            <a:solidFill>
              <a:srgbClr val="FFFFFF"/>
            </a:solidFill>
          </p:spPr>
        </p:sp>
        <p:sp>
          <p:nvSpPr>
            <p:cNvPr name="TextBox 19" id="19"/>
            <p:cNvSpPr txBox="true"/>
            <p:nvPr/>
          </p:nvSpPr>
          <p:spPr>
            <a:xfrm>
              <a:off x="0" y="-38100"/>
              <a:ext cx="2382871" cy="270425"/>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8362070" y="3769288"/>
            <a:ext cx="8897230" cy="5184220"/>
          </a:xfrm>
          <a:custGeom>
            <a:avLst/>
            <a:gdLst/>
            <a:ahLst/>
            <a:cxnLst/>
            <a:rect r="r" b="b" t="t" l="l"/>
            <a:pathLst>
              <a:path h="5184220" w="8897230">
                <a:moveTo>
                  <a:pt x="0" y="0"/>
                </a:moveTo>
                <a:lnTo>
                  <a:pt x="8897230" y="0"/>
                </a:lnTo>
                <a:lnTo>
                  <a:pt x="8897230" y="5184220"/>
                </a:lnTo>
                <a:lnTo>
                  <a:pt x="0" y="5184220"/>
                </a:lnTo>
                <a:lnTo>
                  <a:pt x="0" y="0"/>
                </a:lnTo>
                <a:close/>
              </a:path>
            </a:pathLst>
          </a:custGeom>
          <a:blipFill>
            <a:blip r:embed="rId4"/>
            <a:stretch>
              <a:fillRect l="0" t="0" r="-589" b="-774"/>
            </a:stretch>
          </a:blipFill>
        </p:spPr>
      </p:sp>
      <p:sp>
        <p:nvSpPr>
          <p:cNvPr name="TextBox 22" id="22"/>
          <p:cNvSpPr txBox="true"/>
          <p:nvPr/>
        </p:nvSpPr>
        <p:spPr>
          <a:xfrm rot="0">
            <a:off x="1019510" y="2183366"/>
            <a:ext cx="7524489" cy="372745"/>
          </a:xfrm>
          <a:prstGeom prst="rect">
            <a:avLst/>
          </a:prstGeom>
        </p:spPr>
        <p:txBody>
          <a:bodyPr anchor="t" rtlCol="false" tIns="0" lIns="0" bIns="0" rIns="0">
            <a:spAutoFit/>
          </a:bodyPr>
          <a:lstStyle/>
          <a:p>
            <a:pPr algn="l">
              <a:lnSpc>
                <a:spcPts val="3080"/>
              </a:lnSpc>
            </a:pPr>
            <a:r>
              <a:rPr lang="en-US" b="true" sz="2200">
                <a:solidFill>
                  <a:srgbClr val="5885D8"/>
                </a:solidFill>
                <a:latin typeface="Inter Bold"/>
                <a:ea typeface="Inter Bold"/>
                <a:cs typeface="Inter Bold"/>
                <a:sym typeface="Inter Bold"/>
              </a:rPr>
              <a:t>Our $ASTER entry: $0.156</a:t>
            </a:r>
          </a:p>
        </p:txBody>
      </p:sp>
      <p:sp>
        <p:nvSpPr>
          <p:cNvPr name="TextBox 23" id="23"/>
          <p:cNvSpPr txBox="true"/>
          <p:nvPr/>
        </p:nvSpPr>
        <p:spPr>
          <a:xfrm rot="0">
            <a:off x="1302368" y="4567266"/>
            <a:ext cx="6574359" cy="701675"/>
          </a:xfrm>
          <a:prstGeom prst="rect">
            <a:avLst/>
          </a:prstGeom>
        </p:spPr>
        <p:txBody>
          <a:bodyPr anchor="t" rtlCol="false" tIns="0" lIns="0" bIns="0" rIns="0">
            <a:spAutoFit/>
          </a:bodyPr>
          <a:lstStyle/>
          <a:p>
            <a:pPr algn="l">
              <a:lnSpc>
                <a:spcPts val="2799"/>
              </a:lnSpc>
            </a:pPr>
            <a:r>
              <a:rPr lang="en-US" sz="1999" b="true">
                <a:solidFill>
                  <a:srgbClr val="0B081D"/>
                </a:solidFill>
                <a:latin typeface="Cabinet Grotesk Bold"/>
                <a:ea typeface="Cabinet Grotesk Bold"/>
                <a:cs typeface="Cabinet Grotesk Bold"/>
                <a:sym typeface="Cabinet Grotesk Bold"/>
              </a:rPr>
              <a:t>C</a:t>
            </a:r>
            <a:r>
              <a:rPr lang="en-US" sz="1999" b="true">
                <a:solidFill>
                  <a:srgbClr val="0B081D"/>
                </a:solidFill>
                <a:latin typeface="Cabinet Grotesk Bold"/>
                <a:ea typeface="Cabinet Grotesk Bold"/>
                <a:cs typeface="Cabinet Grotesk Bold"/>
                <a:sym typeface="Cabinet Grotesk Bold"/>
              </a:rPr>
              <a:t>ross-referenced with tastemaker </a:t>
            </a:r>
            <a:r>
              <a:rPr lang="en-US" sz="1999">
                <a:solidFill>
                  <a:srgbClr val="0B081D"/>
                </a:solidFill>
                <a:latin typeface="Cabinet Grotesk"/>
                <a:ea typeface="Cabinet Grotesk"/>
                <a:cs typeface="Cabinet Grotesk"/>
                <a:sym typeface="Cabinet Grotesk"/>
              </a:rPr>
              <a:t>‘anon’ influencers &amp; traders.</a:t>
            </a:r>
          </a:p>
        </p:txBody>
      </p:sp>
      <p:sp>
        <p:nvSpPr>
          <p:cNvPr name="TextBox 24" id="24"/>
          <p:cNvSpPr txBox="true"/>
          <p:nvPr/>
        </p:nvSpPr>
        <p:spPr>
          <a:xfrm rot="0">
            <a:off x="1302368" y="5719498"/>
            <a:ext cx="6574359" cy="701675"/>
          </a:xfrm>
          <a:prstGeom prst="rect">
            <a:avLst/>
          </a:prstGeom>
        </p:spPr>
        <p:txBody>
          <a:bodyPr anchor="t" rtlCol="false" tIns="0" lIns="0" bIns="0" rIns="0">
            <a:spAutoFit/>
          </a:bodyPr>
          <a:lstStyle/>
          <a:p>
            <a:pPr algn="l">
              <a:lnSpc>
                <a:spcPts val="2799"/>
              </a:lnSpc>
            </a:pPr>
            <a:r>
              <a:rPr lang="en-US" sz="1999" b="true">
                <a:solidFill>
                  <a:srgbClr val="0B081D"/>
                </a:solidFill>
                <a:latin typeface="Cabinet Grotesk Bold"/>
                <a:ea typeface="Cabinet Grotesk Bold"/>
                <a:cs typeface="Cabinet Grotesk Bold"/>
                <a:sym typeface="Cabinet Grotesk Bold"/>
              </a:rPr>
              <a:t>C</a:t>
            </a:r>
            <a:r>
              <a:rPr lang="en-US" sz="1999" b="true">
                <a:solidFill>
                  <a:srgbClr val="0B081D"/>
                </a:solidFill>
                <a:latin typeface="Cabinet Grotesk Bold"/>
                <a:ea typeface="Cabinet Grotesk Bold"/>
                <a:cs typeface="Cabinet Grotesk Bold"/>
                <a:sym typeface="Cabinet Grotesk Bold"/>
              </a:rPr>
              <a:t>onfirmed the real-time formation </a:t>
            </a:r>
            <a:r>
              <a:rPr lang="en-US" sz="1999">
                <a:solidFill>
                  <a:srgbClr val="0B081D"/>
                </a:solidFill>
                <a:latin typeface="Cabinet Grotesk"/>
                <a:ea typeface="Cabinet Grotesk"/>
                <a:cs typeface="Cabinet Grotesk"/>
                <a:sym typeface="Cabinet Grotesk"/>
              </a:rPr>
              <a:t>of the “Binance’s bet on a Hyperliquid competitor” narrative</a:t>
            </a:r>
          </a:p>
        </p:txBody>
      </p:sp>
      <p:sp>
        <p:nvSpPr>
          <p:cNvPr name="TextBox 25" id="25"/>
          <p:cNvSpPr txBox="true"/>
          <p:nvPr/>
        </p:nvSpPr>
        <p:spPr>
          <a:xfrm rot="0">
            <a:off x="1302368" y="6862206"/>
            <a:ext cx="6574359" cy="701675"/>
          </a:xfrm>
          <a:prstGeom prst="rect">
            <a:avLst/>
          </a:prstGeom>
        </p:spPr>
        <p:txBody>
          <a:bodyPr anchor="t" rtlCol="false" tIns="0" lIns="0" bIns="0" rIns="0">
            <a:spAutoFit/>
          </a:bodyPr>
          <a:lstStyle/>
          <a:p>
            <a:pPr algn="l">
              <a:lnSpc>
                <a:spcPts val="2799"/>
              </a:lnSpc>
            </a:pPr>
            <a:r>
              <a:rPr lang="en-US" sz="1999" b="true">
                <a:solidFill>
                  <a:srgbClr val="0B081D"/>
                </a:solidFill>
                <a:latin typeface="Cabinet Grotesk Bold"/>
                <a:ea typeface="Cabinet Grotesk Bold"/>
                <a:cs typeface="Cabinet Grotesk Bold"/>
                <a:sym typeface="Cabinet Grotesk Bold"/>
              </a:rPr>
              <a:t>Veri</a:t>
            </a:r>
            <a:r>
              <a:rPr lang="en-US" sz="1999" b="true">
                <a:solidFill>
                  <a:srgbClr val="0B081D"/>
                </a:solidFill>
                <a:latin typeface="Cabinet Grotesk Bold"/>
                <a:ea typeface="Cabinet Grotesk Bold"/>
                <a:cs typeface="Cabinet Grotesk Bold"/>
                <a:sym typeface="Cabinet Grotesk Bold"/>
              </a:rPr>
              <a:t>fied the ongoing ‘FUD’ </a:t>
            </a:r>
            <a:r>
              <a:rPr lang="en-US" sz="1999">
                <a:solidFill>
                  <a:srgbClr val="0B081D"/>
                </a:solidFill>
                <a:latin typeface="Cabinet Grotesk"/>
                <a:ea typeface="Cabinet Grotesk"/>
                <a:cs typeface="Cabinet Grotesk"/>
                <a:sym typeface="Cabinet Grotesk"/>
              </a:rPr>
              <a:t>around withdrawal hiccups amidst social media and Discord is not a risk.</a:t>
            </a:r>
          </a:p>
        </p:txBody>
      </p:sp>
      <p:sp>
        <p:nvSpPr>
          <p:cNvPr name="TextBox 26" id="26"/>
          <p:cNvSpPr txBox="true"/>
          <p:nvPr/>
        </p:nvSpPr>
        <p:spPr>
          <a:xfrm rot="0">
            <a:off x="1302368" y="8057434"/>
            <a:ext cx="6574359" cy="701675"/>
          </a:xfrm>
          <a:prstGeom prst="rect">
            <a:avLst/>
          </a:prstGeom>
        </p:spPr>
        <p:txBody>
          <a:bodyPr anchor="t" rtlCol="false" tIns="0" lIns="0" bIns="0" rIns="0">
            <a:spAutoFit/>
          </a:bodyPr>
          <a:lstStyle/>
          <a:p>
            <a:pPr algn="l">
              <a:lnSpc>
                <a:spcPts val="2799"/>
              </a:lnSpc>
            </a:pPr>
            <a:r>
              <a:rPr lang="en-US" sz="1999" b="true">
                <a:solidFill>
                  <a:srgbClr val="0B081D"/>
                </a:solidFill>
                <a:latin typeface="Cabinet Grotesk Bold"/>
                <a:ea typeface="Cabinet Grotesk Bold"/>
                <a:cs typeface="Cabinet Grotesk Bold"/>
                <a:sym typeface="Cabinet Grotesk Bold"/>
              </a:rPr>
              <a:t>Siz</a:t>
            </a:r>
            <a:r>
              <a:rPr lang="en-US" sz="1999" b="true">
                <a:solidFill>
                  <a:srgbClr val="0B081D"/>
                </a:solidFill>
                <a:latin typeface="Cabinet Grotesk Bold"/>
                <a:ea typeface="Cabinet Grotesk Bold"/>
                <a:cs typeface="Cabinet Grotesk Bold"/>
                <a:sym typeface="Cabinet Grotesk Bold"/>
              </a:rPr>
              <a:t>ed-in as we realized: “</a:t>
            </a:r>
            <a:r>
              <a:rPr lang="en-US" sz="1999">
                <a:solidFill>
                  <a:srgbClr val="0B081D"/>
                </a:solidFill>
                <a:latin typeface="Cabinet Grotesk"/>
                <a:ea typeface="Cabinet Grotesk"/>
                <a:cs typeface="Cabinet Grotesk"/>
                <a:sym typeface="Cabinet Grotesk"/>
              </a:rPr>
              <a:t>This is about to be big, and everyone is sidelined.”</a:t>
            </a:r>
          </a:p>
        </p:txBody>
      </p:sp>
      <p:sp>
        <p:nvSpPr>
          <p:cNvPr name="TextBox 27" id="27"/>
          <p:cNvSpPr txBox="true"/>
          <p:nvPr/>
        </p:nvSpPr>
        <p:spPr>
          <a:xfrm rot="0">
            <a:off x="1302368" y="3030315"/>
            <a:ext cx="6574359" cy="349250"/>
          </a:xfrm>
          <a:prstGeom prst="rect">
            <a:avLst/>
          </a:prstGeom>
        </p:spPr>
        <p:txBody>
          <a:bodyPr anchor="t" rtlCol="false" tIns="0" lIns="0" bIns="0" rIns="0">
            <a:spAutoFit/>
          </a:bodyPr>
          <a:lstStyle/>
          <a:p>
            <a:pPr algn="l">
              <a:lnSpc>
                <a:spcPts val="2799"/>
              </a:lnSpc>
            </a:pPr>
            <a:r>
              <a:rPr lang="en-US" sz="1999" b="true">
                <a:solidFill>
                  <a:srgbClr val="0B081D"/>
                </a:solidFill>
                <a:latin typeface="Cabinet Grotesk Bold"/>
                <a:ea typeface="Cabinet Grotesk Bold"/>
                <a:cs typeface="Cabinet Grotesk Bold"/>
                <a:sym typeface="Cabinet Grotesk Bold"/>
              </a:rPr>
              <a:t>Noti</a:t>
            </a:r>
            <a:r>
              <a:rPr lang="en-US" sz="1999" b="true">
                <a:solidFill>
                  <a:srgbClr val="0B081D"/>
                </a:solidFill>
                <a:latin typeface="Cabinet Grotesk Bold"/>
                <a:ea typeface="Cabinet Grotesk Bold"/>
                <a:cs typeface="Cabinet Grotesk Bold"/>
                <a:sym typeface="Cabinet Grotesk Bold"/>
              </a:rPr>
              <a:t>ced increase flows into BSC.</a:t>
            </a:r>
          </a:p>
        </p:txBody>
      </p:sp>
      <p:sp>
        <p:nvSpPr>
          <p:cNvPr name="TextBox 28" id="28"/>
          <p:cNvSpPr txBox="true"/>
          <p:nvPr/>
        </p:nvSpPr>
        <p:spPr>
          <a:xfrm rot="0">
            <a:off x="1302368" y="3757799"/>
            <a:ext cx="6574359" cy="349250"/>
          </a:xfrm>
          <a:prstGeom prst="rect">
            <a:avLst/>
          </a:prstGeom>
        </p:spPr>
        <p:txBody>
          <a:bodyPr anchor="t" rtlCol="false" tIns="0" lIns="0" bIns="0" rIns="0">
            <a:spAutoFit/>
          </a:bodyPr>
          <a:lstStyle/>
          <a:p>
            <a:pPr algn="l">
              <a:lnSpc>
                <a:spcPts val="2799"/>
              </a:lnSpc>
            </a:pPr>
            <a:r>
              <a:rPr lang="en-US" sz="1999">
                <a:solidFill>
                  <a:srgbClr val="0B081D"/>
                </a:solidFill>
                <a:latin typeface="Cabinet Grotesk"/>
                <a:ea typeface="Cabinet Grotesk"/>
                <a:cs typeface="Cabinet Grotesk"/>
                <a:sym typeface="Cabinet Grotesk"/>
              </a:rPr>
              <a:t>Cross-referen</a:t>
            </a:r>
            <a:r>
              <a:rPr lang="en-US" sz="1999">
                <a:solidFill>
                  <a:srgbClr val="0B081D"/>
                </a:solidFill>
                <a:latin typeface="Cabinet Grotesk"/>
                <a:ea typeface="Cabinet Grotesk"/>
                <a:cs typeface="Cabinet Grotesk"/>
                <a:sym typeface="Cabinet Grotesk"/>
              </a:rPr>
              <a:t>ced with other astute liquid fund managers.</a:t>
            </a:r>
          </a:p>
        </p:txBody>
      </p:sp>
      <p:sp>
        <p:nvSpPr>
          <p:cNvPr name="TextBox 29" id="29"/>
          <p:cNvSpPr txBox="true"/>
          <p:nvPr/>
        </p:nvSpPr>
        <p:spPr>
          <a:xfrm rot="0">
            <a:off x="1028700" y="895350"/>
            <a:ext cx="16478101"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Trade Example B: Opportunistic / Momentum Based ($ASTER)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9F4F0"/>
        </a:solidFill>
      </p:bgPr>
    </p:bg>
    <p:spTree>
      <p:nvGrpSpPr>
        <p:cNvPr id="1" name=""/>
        <p:cNvGrpSpPr/>
        <p:nvPr/>
      </p:nvGrpSpPr>
      <p:grpSpPr>
        <a:xfrm>
          <a:off x="0" y="0"/>
          <a:ext cx="0" cy="0"/>
          <a:chOff x="0" y="0"/>
          <a:chExt cx="0" cy="0"/>
        </a:xfrm>
      </p:grpSpPr>
      <p:grpSp>
        <p:nvGrpSpPr>
          <p:cNvPr name="Group 2" id="2"/>
          <p:cNvGrpSpPr/>
          <p:nvPr/>
        </p:nvGrpSpPr>
        <p:grpSpPr>
          <a:xfrm rot="0">
            <a:off x="1019510" y="2699288"/>
            <a:ext cx="7989220" cy="2982002"/>
            <a:chOff x="0" y="0"/>
            <a:chExt cx="2666258" cy="995189"/>
          </a:xfrm>
        </p:grpSpPr>
        <p:sp>
          <p:nvSpPr>
            <p:cNvPr name="Freeform 3" id="3"/>
            <p:cNvSpPr/>
            <p:nvPr/>
          </p:nvSpPr>
          <p:spPr>
            <a:xfrm flipH="false" flipV="false" rot="0">
              <a:off x="0" y="0"/>
              <a:ext cx="2666258" cy="995189"/>
            </a:xfrm>
            <a:custGeom>
              <a:avLst/>
              <a:gdLst/>
              <a:ahLst/>
              <a:cxnLst/>
              <a:rect r="r" b="b" t="t" l="l"/>
              <a:pathLst>
                <a:path h="995189" w="2666258">
                  <a:moveTo>
                    <a:pt x="0" y="0"/>
                  </a:moveTo>
                  <a:lnTo>
                    <a:pt x="2666258" y="0"/>
                  </a:lnTo>
                  <a:lnTo>
                    <a:pt x="2666258" y="995189"/>
                  </a:lnTo>
                  <a:lnTo>
                    <a:pt x="0" y="995189"/>
                  </a:lnTo>
                  <a:close/>
                </a:path>
              </a:pathLst>
            </a:custGeom>
            <a:solidFill>
              <a:srgbClr val="FFFFFF"/>
            </a:solidFill>
          </p:spPr>
        </p:sp>
        <p:sp>
          <p:nvSpPr>
            <p:cNvPr name="TextBox 4" id="4"/>
            <p:cNvSpPr txBox="true"/>
            <p:nvPr/>
          </p:nvSpPr>
          <p:spPr>
            <a:xfrm>
              <a:off x="0" y="-38100"/>
              <a:ext cx="2666258" cy="103328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19510" y="5881947"/>
            <a:ext cx="7989220" cy="2982002"/>
            <a:chOff x="0" y="0"/>
            <a:chExt cx="2666258" cy="995189"/>
          </a:xfrm>
        </p:grpSpPr>
        <p:sp>
          <p:nvSpPr>
            <p:cNvPr name="Freeform 6" id="6"/>
            <p:cNvSpPr/>
            <p:nvPr/>
          </p:nvSpPr>
          <p:spPr>
            <a:xfrm flipH="false" flipV="false" rot="0">
              <a:off x="0" y="0"/>
              <a:ext cx="2666258" cy="995189"/>
            </a:xfrm>
            <a:custGeom>
              <a:avLst/>
              <a:gdLst/>
              <a:ahLst/>
              <a:cxnLst/>
              <a:rect r="r" b="b" t="t" l="l"/>
              <a:pathLst>
                <a:path h="995189" w="2666258">
                  <a:moveTo>
                    <a:pt x="0" y="0"/>
                  </a:moveTo>
                  <a:lnTo>
                    <a:pt x="2666258" y="0"/>
                  </a:lnTo>
                  <a:lnTo>
                    <a:pt x="2666258" y="995189"/>
                  </a:lnTo>
                  <a:lnTo>
                    <a:pt x="0" y="995189"/>
                  </a:lnTo>
                  <a:close/>
                </a:path>
              </a:pathLst>
            </a:custGeom>
            <a:solidFill>
              <a:srgbClr val="FFFFFF"/>
            </a:solidFill>
          </p:spPr>
        </p:sp>
        <p:sp>
          <p:nvSpPr>
            <p:cNvPr name="TextBox 7" id="7"/>
            <p:cNvSpPr txBox="true"/>
            <p:nvPr/>
          </p:nvSpPr>
          <p:spPr>
            <a:xfrm>
              <a:off x="0" y="-38100"/>
              <a:ext cx="2666258" cy="103328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270080" y="2699288"/>
            <a:ext cx="7989220" cy="2982002"/>
            <a:chOff x="0" y="0"/>
            <a:chExt cx="2666258" cy="995189"/>
          </a:xfrm>
        </p:grpSpPr>
        <p:sp>
          <p:nvSpPr>
            <p:cNvPr name="Freeform 9" id="9"/>
            <p:cNvSpPr/>
            <p:nvPr/>
          </p:nvSpPr>
          <p:spPr>
            <a:xfrm flipH="false" flipV="false" rot="0">
              <a:off x="0" y="0"/>
              <a:ext cx="2666258" cy="995189"/>
            </a:xfrm>
            <a:custGeom>
              <a:avLst/>
              <a:gdLst/>
              <a:ahLst/>
              <a:cxnLst/>
              <a:rect r="r" b="b" t="t" l="l"/>
              <a:pathLst>
                <a:path h="995189" w="2666258">
                  <a:moveTo>
                    <a:pt x="0" y="0"/>
                  </a:moveTo>
                  <a:lnTo>
                    <a:pt x="2666258" y="0"/>
                  </a:lnTo>
                  <a:lnTo>
                    <a:pt x="2666258" y="995189"/>
                  </a:lnTo>
                  <a:lnTo>
                    <a:pt x="0" y="995189"/>
                  </a:lnTo>
                  <a:close/>
                </a:path>
              </a:pathLst>
            </a:custGeom>
            <a:solidFill>
              <a:srgbClr val="FFFFFF"/>
            </a:solidFill>
          </p:spPr>
        </p:sp>
        <p:sp>
          <p:nvSpPr>
            <p:cNvPr name="TextBox 10" id="10"/>
            <p:cNvSpPr txBox="true"/>
            <p:nvPr/>
          </p:nvSpPr>
          <p:spPr>
            <a:xfrm>
              <a:off x="0" y="-38100"/>
              <a:ext cx="2666258" cy="103328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9270080" y="5881947"/>
            <a:ext cx="7989220" cy="2982002"/>
            <a:chOff x="0" y="0"/>
            <a:chExt cx="2666258" cy="995189"/>
          </a:xfrm>
        </p:grpSpPr>
        <p:sp>
          <p:nvSpPr>
            <p:cNvPr name="Freeform 12" id="12"/>
            <p:cNvSpPr/>
            <p:nvPr/>
          </p:nvSpPr>
          <p:spPr>
            <a:xfrm flipH="false" flipV="false" rot="0">
              <a:off x="0" y="0"/>
              <a:ext cx="2666258" cy="995189"/>
            </a:xfrm>
            <a:custGeom>
              <a:avLst/>
              <a:gdLst/>
              <a:ahLst/>
              <a:cxnLst/>
              <a:rect r="r" b="b" t="t" l="l"/>
              <a:pathLst>
                <a:path h="995189" w="2666258">
                  <a:moveTo>
                    <a:pt x="0" y="0"/>
                  </a:moveTo>
                  <a:lnTo>
                    <a:pt x="2666258" y="0"/>
                  </a:lnTo>
                  <a:lnTo>
                    <a:pt x="2666258" y="995189"/>
                  </a:lnTo>
                  <a:lnTo>
                    <a:pt x="0" y="995189"/>
                  </a:lnTo>
                  <a:close/>
                </a:path>
              </a:pathLst>
            </a:custGeom>
            <a:solidFill>
              <a:srgbClr val="FFFFFF"/>
            </a:solidFill>
          </p:spPr>
        </p:sp>
        <p:sp>
          <p:nvSpPr>
            <p:cNvPr name="TextBox 13" id="13"/>
            <p:cNvSpPr txBox="true"/>
            <p:nvPr/>
          </p:nvSpPr>
          <p:spPr>
            <a:xfrm>
              <a:off x="0" y="-38100"/>
              <a:ext cx="2666258" cy="1033289"/>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028700" y="9258300"/>
            <a:ext cx="1318905" cy="342915"/>
          </a:xfrm>
          <a:custGeom>
            <a:avLst/>
            <a:gdLst/>
            <a:ahLst/>
            <a:cxnLst/>
            <a:rect r="r" b="b" t="t" l="l"/>
            <a:pathLst>
              <a:path h="342915" w="1318905">
                <a:moveTo>
                  <a:pt x="0" y="0"/>
                </a:moveTo>
                <a:lnTo>
                  <a:pt x="1318905" y="0"/>
                </a:lnTo>
                <a:lnTo>
                  <a:pt x="1318905" y="342915"/>
                </a:lnTo>
                <a:lnTo>
                  <a:pt x="0" y="342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688152" y="3112669"/>
            <a:ext cx="6574359" cy="424815"/>
          </a:xfrm>
          <a:prstGeom prst="rect">
            <a:avLst/>
          </a:prstGeom>
        </p:spPr>
        <p:txBody>
          <a:bodyPr anchor="t" rtlCol="false" tIns="0" lIns="0" bIns="0" rIns="0">
            <a:spAutoFit/>
          </a:bodyPr>
          <a:lstStyle/>
          <a:p>
            <a:pPr algn="l">
              <a:lnSpc>
                <a:spcPts val="3359"/>
              </a:lnSpc>
            </a:pPr>
            <a:r>
              <a:rPr lang="en-US" sz="2399" b="true">
                <a:solidFill>
                  <a:srgbClr val="7F77B3"/>
                </a:solidFill>
                <a:latin typeface="Cabinet Grotesk Bold"/>
                <a:ea typeface="Cabinet Grotesk Bold"/>
                <a:cs typeface="Cabinet Grotesk Bold"/>
                <a:sym typeface="Cabinet Grotesk Bold"/>
              </a:rPr>
              <a:t>Co</a:t>
            </a:r>
            <a:r>
              <a:rPr lang="en-US" b="true" sz="2399">
                <a:solidFill>
                  <a:srgbClr val="7F77B3"/>
                </a:solidFill>
                <a:latin typeface="Cabinet Grotesk Bold"/>
                <a:ea typeface="Cabinet Grotesk Bold"/>
                <a:cs typeface="Cabinet Grotesk Bold"/>
                <a:sym typeface="Cabinet Grotesk Bold"/>
              </a:rPr>
              <a:t>ntrarian Conviction</a:t>
            </a:r>
          </a:p>
        </p:txBody>
      </p:sp>
      <p:sp>
        <p:nvSpPr>
          <p:cNvPr name="TextBox 16" id="16"/>
          <p:cNvSpPr txBox="true"/>
          <p:nvPr/>
        </p:nvSpPr>
        <p:spPr>
          <a:xfrm rot="0">
            <a:off x="1688152" y="6246794"/>
            <a:ext cx="6574359" cy="424815"/>
          </a:xfrm>
          <a:prstGeom prst="rect">
            <a:avLst/>
          </a:prstGeom>
        </p:spPr>
        <p:txBody>
          <a:bodyPr anchor="t" rtlCol="false" tIns="0" lIns="0" bIns="0" rIns="0">
            <a:spAutoFit/>
          </a:bodyPr>
          <a:lstStyle/>
          <a:p>
            <a:pPr algn="l">
              <a:lnSpc>
                <a:spcPts val="3359"/>
              </a:lnSpc>
            </a:pPr>
            <a:r>
              <a:rPr lang="en-US" sz="2399" b="true">
                <a:solidFill>
                  <a:srgbClr val="7F77B3"/>
                </a:solidFill>
                <a:latin typeface="Cabinet Grotesk Bold"/>
                <a:ea typeface="Cabinet Grotesk Bold"/>
                <a:cs typeface="Cabinet Grotesk Bold"/>
                <a:sym typeface="Cabinet Grotesk Bold"/>
              </a:rPr>
              <a:t>Execu</a:t>
            </a:r>
            <a:r>
              <a:rPr lang="en-US" b="true" sz="2399">
                <a:solidFill>
                  <a:srgbClr val="7F77B3"/>
                </a:solidFill>
                <a:latin typeface="Cabinet Grotesk Bold"/>
                <a:ea typeface="Cabinet Grotesk Bold"/>
                <a:cs typeface="Cabinet Grotesk Bold"/>
                <a:sym typeface="Cabinet Grotesk Bold"/>
              </a:rPr>
              <a:t>tion Advantage</a:t>
            </a:r>
          </a:p>
        </p:txBody>
      </p:sp>
      <p:sp>
        <p:nvSpPr>
          <p:cNvPr name="TextBox 17" id="17"/>
          <p:cNvSpPr txBox="true"/>
          <p:nvPr/>
        </p:nvSpPr>
        <p:spPr>
          <a:xfrm rot="0">
            <a:off x="9977511" y="3112669"/>
            <a:ext cx="6574359" cy="424815"/>
          </a:xfrm>
          <a:prstGeom prst="rect">
            <a:avLst/>
          </a:prstGeom>
        </p:spPr>
        <p:txBody>
          <a:bodyPr anchor="t" rtlCol="false" tIns="0" lIns="0" bIns="0" rIns="0">
            <a:spAutoFit/>
          </a:bodyPr>
          <a:lstStyle/>
          <a:p>
            <a:pPr algn="l">
              <a:lnSpc>
                <a:spcPts val="3359"/>
              </a:lnSpc>
            </a:pPr>
            <a:r>
              <a:rPr lang="en-US" sz="2399" b="true">
                <a:solidFill>
                  <a:srgbClr val="7F77B3"/>
                </a:solidFill>
                <a:latin typeface="Cabinet Grotesk Bold"/>
                <a:ea typeface="Cabinet Grotesk Bold"/>
                <a:cs typeface="Cabinet Grotesk Bold"/>
                <a:sym typeface="Cabinet Grotesk Bold"/>
              </a:rPr>
              <a:t>Due</a:t>
            </a:r>
            <a:r>
              <a:rPr lang="en-US" b="true" sz="2399">
                <a:solidFill>
                  <a:srgbClr val="7F77B3"/>
                </a:solidFill>
                <a:latin typeface="Cabinet Grotesk Bold"/>
                <a:ea typeface="Cabinet Grotesk Bold"/>
                <a:cs typeface="Cabinet Grotesk Bold"/>
                <a:sym typeface="Cabinet Grotesk Bold"/>
              </a:rPr>
              <a:t> Diligence Edge</a:t>
            </a:r>
          </a:p>
        </p:txBody>
      </p:sp>
      <p:sp>
        <p:nvSpPr>
          <p:cNvPr name="TextBox 18" id="18"/>
          <p:cNvSpPr txBox="true"/>
          <p:nvPr/>
        </p:nvSpPr>
        <p:spPr>
          <a:xfrm rot="0">
            <a:off x="9977511" y="6246794"/>
            <a:ext cx="6574359" cy="424815"/>
          </a:xfrm>
          <a:prstGeom prst="rect">
            <a:avLst/>
          </a:prstGeom>
        </p:spPr>
        <p:txBody>
          <a:bodyPr anchor="t" rtlCol="false" tIns="0" lIns="0" bIns="0" rIns="0">
            <a:spAutoFit/>
          </a:bodyPr>
          <a:lstStyle/>
          <a:p>
            <a:pPr algn="l">
              <a:lnSpc>
                <a:spcPts val="3359"/>
              </a:lnSpc>
            </a:pPr>
            <a:r>
              <a:rPr lang="en-US" sz="2399" b="true">
                <a:solidFill>
                  <a:srgbClr val="7F77B3"/>
                </a:solidFill>
                <a:latin typeface="Cabinet Grotesk Bold"/>
                <a:ea typeface="Cabinet Grotesk Bold"/>
                <a:cs typeface="Cabinet Grotesk Bold"/>
                <a:sym typeface="Cabinet Grotesk Bold"/>
              </a:rPr>
              <a:t>Risk</a:t>
            </a:r>
            <a:r>
              <a:rPr lang="en-US" b="true" sz="2399">
                <a:solidFill>
                  <a:srgbClr val="7F77B3"/>
                </a:solidFill>
                <a:latin typeface="Cabinet Grotesk Bold"/>
                <a:ea typeface="Cabinet Grotesk Bold"/>
                <a:cs typeface="Cabinet Grotesk Bold"/>
                <a:sym typeface="Cabinet Grotesk Bold"/>
              </a:rPr>
              <a:t> Management</a:t>
            </a:r>
          </a:p>
        </p:txBody>
      </p:sp>
      <p:sp>
        <p:nvSpPr>
          <p:cNvPr name="TextBox 19" id="19"/>
          <p:cNvSpPr txBox="true"/>
          <p:nvPr/>
        </p:nvSpPr>
        <p:spPr>
          <a:xfrm rot="0">
            <a:off x="1497652" y="3724772"/>
            <a:ext cx="6574359" cy="1573530"/>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Market co</a:t>
            </a:r>
            <a:r>
              <a:rPr lang="en-US" sz="1800">
                <a:solidFill>
                  <a:srgbClr val="0B081D"/>
                </a:solidFill>
                <a:latin typeface="Cabinet Grotesk"/>
                <a:ea typeface="Cabinet Grotesk"/>
                <a:cs typeface="Cabinet Grotesk"/>
                <a:sym typeface="Cabinet Grotesk"/>
              </a:rPr>
              <a:t>nsensus: "Just another meme launchpad", “team’s trying to extract maximum value”, “this goes to $0”</a:t>
            </a:r>
          </a:p>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Our thesis: Category-defining revenue machine generating $700M+ in 16 months outearning most other protocol</a:t>
            </a:r>
          </a:p>
          <a:p>
            <a:pPr algn="l">
              <a:lnSpc>
                <a:spcPts val="2520"/>
              </a:lnSpc>
            </a:pPr>
          </a:p>
        </p:txBody>
      </p:sp>
      <p:sp>
        <p:nvSpPr>
          <p:cNvPr name="TextBox 20" id="20"/>
          <p:cNvSpPr txBox="true"/>
          <p:nvPr/>
        </p:nvSpPr>
        <p:spPr>
          <a:xfrm rot="0">
            <a:off x="1497652" y="6858897"/>
            <a:ext cx="6574359" cy="1573530"/>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Secured allocatio</a:t>
            </a:r>
            <a:r>
              <a:rPr lang="en-US" sz="1800">
                <a:solidFill>
                  <a:srgbClr val="0B081D"/>
                </a:solidFill>
                <a:latin typeface="Cabinet Grotesk"/>
                <a:ea typeface="Cabinet Grotesk"/>
                <a:cs typeface="Cabinet Grotesk"/>
                <a:sym typeface="Cabinet Grotesk"/>
              </a:rPr>
              <a:t>n in oversubscribed private sale through network relationships</a:t>
            </a:r>
          </a:p>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Close collaboration with founding team provided early visibility into token structure and vesting schedules</a:t>
            </a:r>
          </a:p>
          <a:p>
            <a:pPr algn="l">
              <a:lnSpc>
                <a:spcPts val="2520"/>
              </a:lnSpc>
            </a:pPr>
          </a:p>
        </p:txBody>
      </p:sp>
      <p:sp>
        <p:nvSpPr>
          <p:cNvPr name="TextBox 21" id="21"/>
          <p:cNvSpPr txBox="true"/>
          <p:nvPr/>
        </p:nvSpPr>
        <p:spPr>
          <a:xfrm rot="0">
            <a:off x="9787011" y="3724772"/>
            <a:ext cx="6574359" cy="1573530"/>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Deep toke</a:t>
            </a:r>
            <a:r>
              <a:rPr lang="en-US" sz="1800">
                <a:solidFill>
                  <a:srgbClr val="0B081D"/>
                </a:solidFill>
                <a:latin typeface="Cabinet Grotesk"/>
                <a:ea typeface="Cabinet Grotesk"/>
                <a:cs typeface="Cabinet Grotesk"/>
                <a:sym typeface="Cabinet Grotesk"/>
              </a:rPr>
              <a:t>nomics analysis: 97% revenue → direct buybacks</a:t>
            </a:r>
          </a:p>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P/E analysis: $4B FDV vs $78M monthly revenue = compelling valuation that also drives forward a narrative</a:t>
            </a:r>
          </a:p>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Identified structural supply squeeze at TGE with minimal sell pressure by design</a:t>
            </a:r>
          </a:p>
        </p:txBody>
      </p:sp>
      <p:sp>
        <p:nvSpPr>
          <p:cNvPr name="TextBox 22" id="22"/>
          <p:cNvSpPr txBox="true"/>
          <p:nvPr/>
        </p:nvSpPr>
        <p:spPr>
          <a:xfrm rot="0">
            <a:off x="9787011" y="6858897"/>
            <a:ext cx="7052004" cy="1887855"/>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Pr</a:t>
            </a:r>
            <a:r>
              <a:rPr lang="en-US" sz="1800">
                <a:solidFill>
                  <a:srgbClr val="0B081D"/>
                </a:solidFill>
                <a:latin typeface="Cabinet Grotesk"/>
                <a:ea typeface="Cabinet Grotesk"/>
                <a:cs typeface="Cabinet Grotesk"/>
                <a:sym typeface="Cabinet Grotesk"/>
              </a:rPr>
              <a:t>obability weighted key risks (regulatory, competitive, demand overhang, market sentiment, narrative)</a:t>
            </a:r>
          </a:p>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S</a:t>
            </a:r>
            <a:r>
              <a:rPr lang="en-US" sz="1800">
                <a:solidFill>
                  <a:srgbClr val="0B081D"/>
                </a:solidFill>
                <a:latin typeface="Cabinet Grotesk"/>
                <a:ea typeface="Cabinet Grotesk"/>
                <a:cs typeface="Cabinet Grotesk"/>
                <a:sym typeface="Cabinet Grotesk"/>
              </a:rPr>
              <a:t>ized position according to asymmetric risk/reward within portfolio context</a:t>
            </a:r>
          </a:p>
          <a:p>
            <a:pPr algn="l" marL="388620" indent="-194310" lvl="1">
              <a:lnSpc>
                <a:spcPts val="2520"/>
              </a:lnSpc>
              <a:buFont typeface="Arial"/>
              <a:buChar char="•"/>
            </a:pPr>
            <a:r>
              <a:rPr lang="en-US" sz="1800">
                <a:solidFill>
                  <a:srgbClr val="0B081D"/>
                </a:solidFill>
                <a:latin typeface="Cabinet Grotesk"/>
                <a:ea typeface="Cabinet Grotesk"/>
                <a:cs typeface="Cabinet Grotesk"/>
                <a:sym typeface="Cabinet Grotesk"/>
              </a:rPr>
              <a:t>Entry at $4B FDV vs comparables trading at 8-15x higher valuations</a:t>
            </a:r>
          </a:p>
          <a:p>
            <a:pPr algn="l">
              <a:lnSpc>
                <a:spcPts val="2520"/>
              </a:lnSpc>
            </a:pPr>
          </a:p>
        </p:txBody>
      </p:sp>
      <p:sp>
        <p:nvSpPr>
          <p:cNvPr name="TextBox 23" id="23"/>
          <p:cNvSpPr txBox="true"/>
          <p:nvPr/>
        </p:nvSpPr>
        <p:spPr>
          <a:xfrm rot="0">
            <a:off x="1028700" y="895350"/>
            <a:ext cx="13054012" cy="859155"/>
          </a:xfrm>
          <a:prstGeom prst="rect">
            <a:avLst/>
          </a:prstGeom>
        </p:spPr>
        <p:txBody>
          <a:bodyPr anchor="t" rtlCol="false" tIns="0" lIns="0" bIns="0" rIns="0">
            <a:spAutoFit/>
          </a:bodyPr>
          <a:lstStyle/>
          <a:p>
            <a:pPr algn="l">
              <a:lnSpc>
                <a:spcPts val="6719"/>
              </a:lnSpc>
            </a:pPr>
            <a:r>
              <a:rPr lang="en-US" sz="4800" b="true">
                <a:solidFill>
                  <a:srgbClr val="000000"/>
                </a:solidFill>
                <a:latin typeface="Cabinet Grotesk Bold"/>
                <a:ea typeface="Cabinet Grotesk Bold"/>
                <a:cs typeface="Cabinet Grotesk Bold"/>
                <a:sym typeface="Cabinet Grotesk Bold"/>
              </a:rPr>
              <a:t>Trade Example A: Fundamentally driven ($PUMP)</a:t>
            </a:r>
          </a:p>
        </p:txBody>
      </p:sp>
      <p:sp>
        <p:nvSpPr>
          <p:cNvPr name="TextBox 24" id="24"/>
          <p:cNvSpPr txBox="true"/>
          <p:nvPr/>
        </p:nvSpPr>
        <p:spPr>
          <a:xfrm rot="0">
            <a:off x="1019510" y="1944903"/>
            <a:ext cx="15679468" cy="843915"/>
          </a:xfrm>
          <a:prstGeom prst="rect">
            <a:avLst/>
          </a:prstGeom>
        </p:spPr>
        <p:txBody>
          <a:bodyPr anchor="t" rtlCol="false" tIns="0" lIns="0" bIns="0" rIns="0">
            <a:spAutoFit/>
          </a:bodyPr>
          <a:lstStyle/>
          <a:p>
            <a:pPr algn="l">
              <a:lnSpc>
                <a:spcPts val="3359"/>
              </a:lnSpc>
            </a:pPr>
            <a:r>
              <a:rPr lang="en-US" sz="2399" b="true">
                <a:solidFill>
                  <a:srgbClr val="5885D8"/>
                </a:solidFill>
                <a:latin typeface="Cabinet Grotesk Bold"/>
                <a:ea typeface="Cabinet Grotesk Bold"/>
                <a:cs typeface="Cabinet Grotesk Bold"/>
                <a:sym typeface="Cabinet Grotesk Bold"/>
              </a:rPr>
              <a:t>Result:</a:t>
            </a:r>
            <a:r>
              <a:rPr lang="en-US" sz="2399" b="true">
                <a:solidFill>
                  <a:srgbClr val="0B081D"/>
                </a:solidFill>
                <a:latin typeface="Cabinet Grotesk Bold"/>
                <a:ea typeface="Cabinet Grotesk Bold"/>
                <a:cs typeface="Cabinet Grotesk Bold"/>
                <a:sym typeface="Cabinet Grotesk Bold"/>
              </a:rPr>
              <a:t> Ge</a:t>
            </a:r>
            <a:r>
              <a:rPr lang="en-US" sz="2399" b="true">
                <a:solidFill>
                  <a:srgbClr val="0B081D"/>
                </a:solidFill>
                <a:latin typeface="Cabinet Grotesk Bold"/>
                <a:ea typeface="Cabinet Grotesk Bold"/>
                <a:cs typeface="Cabinet Grotesk Bold"/>
                <a:sym typeface="Cabinet Grotesk Bold"/>
              </a:rPr>
              <a:t>nerated ~250% unrealized returns by in 8 weeks identifying fundamental value before market recognition</a:t>
            </a:r>
          </a:p>
          <a:p>
            <a:pPr algn="l">
              <a:lnSpc>
                <a:spcPts val="33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DAG-y8ooIKs</dc:identifier>
  <dcterms:modified xsi:type="dcterms:W3CDTF">2011-08-01T06:04:30Z</dcterms:modified>
  <cp:revision>1</cp:revision>
  <dc:title>Collider Kesef - 2026 Deck</dc:title>
</cp:coreProperties>
</file>